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671f7c5-7efe-4050-3def-534cdd0e7324}">
          <p14:sldIdLst>
            <p14:sldId id="256"/>
            <p14:sldId id="257"/>
          </p14:sldIdLst>
        </p14:section>
        <p14:section name="Le jeu" id="{c72332a5-4d66-5ec2-ff93-66eecaa4c366}">
          <p14:sldIdLst>
            <p14:sldId id="258"/>
            <p14:sldId id="259"/>
            <p14:sldId id="260"/>
          </p14:sldIdLst>
        </p14:section>
        <p14:section name="Le solveur" id="{dbede7fa-1a4c-8870-9a4a-6bb0c879fe94}">
          <p14:sldIdLst>
            <p14:sldId id="261"/>
            <p14:sldId id="262"/>
            <p14:sldId id="263"/>
            <p14:sldId id="264"/>
            <p14:sldId id="265"/>
          </p14:sldIdLst>
        </p14:section>
        <p14:section name="Comparaison" id="{f694d57c-31d8-9bad-eb5f-e9fa057fcbaa}">
          <p14:sldIdLst>
            <p14:sldId id="266"/>
            <p14:sldId id="267"/>
            <p14:sldId id="268"/>
            <p14:sldId id="269"/>
          </p14:sldIdLst>
        </p14:section>
        <p14:section name="Conclusion" id="{34130ef7-8c47-1aac-a133-ad96accd981b}">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C0B44"/>
                </a:solidFill>
                <a:latin typeface="+mn-lt"/>
              </a:defRPr>
            </a:pPr>
            <a:r>
              <a:rPr sz="1500" b="0" i="0" u="none" strike="noStrike">
                <a:solidFill>
                  <a:srgbClr val="2C0B44"/>
                </a:solidFill>
                <a:latin typeface="+mn-lt"/>
              </a:rPr>
              <a:t>Mouvements de la solution (échelle log)</a:t>
            </a:r>
          </a:p>
        </c:rich>
      </c:tx>
      <c:layout/>
      <c:overlay val="0"/>
    </c:title>
    <c:autoTitleDeleted val="0"/>
    <c:plotArea>
      <c:layout/>
      <c:barChart>
        <c:barDir val="col"/>
        <c:grouping val="clustered"/>
        <c:varyColors val="0"/>
        <c:ser>
          <c:idx val="0"/>
          <c:order val="0"/>
          <c:tx>
            <c:strRef>
              <c:f>Sheet1!$B$1</c:f>
              <c:strCache>
                <c:ptCount val="1"/>
                <c:pt idx="0">
                  <c:v>DFS</c:v>
                </c:pt>
              </c:strCache>
            </c:strRef>
          </c:tx>
          <c:spPr>
            <a:solidFill>
              <a:srgbClr val="36A9E1"/>
            </a:solidFill>
            <a:effectLst/>
          </c:spPr>
          <c:invertIfNegative val="0"/>
          <c:dLbls>
            <c:numFmt formatCode="#,##0" sourceLinked="0"/>
            <c:txPr>
              <a:bodyPr/>
              <a:lstStyle/>
              <a:p>
                <a:pPr>
                  <a:defRPr b="0" i="0" strike="noStrike" sz="1100" u="none">
                    <a:solidFill>
                      <a:srgbClr val="2C0B44"/>
                    </a:solidFill>
                    <a:latin typeface="+mn-lt"/>
                  </a:defRPr>
                </a:pPr>
              </a:p>
            </c:txPr>
            <c:showLegendKey val="0"/>
            <c:showVal val="1"/>
            <c:showCatName val="0"/>
            <c:showSerName val="0"/>
            <c:showPercent val="0"/>
            <c:showBubbleSize val="0"/>
            <c:showLeaderLines val="0"/>
          </c:dLbls>
          <c:cat>
            <c:multiLvlStrRef>
              <c:f>Sheet1!$A$2:$A$4</c:f>
              <c:multiLvlStrCache>
                <c:ptCount val="3"/>
                <c:lvl>
                  <c:pt idx="0">
                    <c:v>Niveau 2</c:v>
                  </c:pt>
                  <c:pt idx="1">
                    <c:v>Niveau 3</c:v>
                  </c:pt>
                  <c:pt idx="2">
                    <c:v>Niveau 4</c:v>
                  </c:pt>
                </c:lvl>
              </c:multiLvlStrCache>
            </c:multiLvlStrRef>
          </c:cat>
          <c:val>
            <c:numRef>
              <c:f>Sheet1!$B$2:$B$4</c:f>
              <c:numCache>
                <c:formatCode>General</c:formatCode>
                <c:ptCount val="3"/>
                <c:pt idx="0">
                  <c:v>84</c:v>
                </c:pt>
                <c:pt idx="1">
                  <c:v>2791</c:v>
                </c:pt>
                <c:pt idx="2">
                  <c:v>291</c:v>
                </c:pt>
              </c:numCache>
            </c:numRef>
          </c:val>
        </c:ser>
        <c:ser>
          <c:idx val="1"/>
          <c:order val="1"/>
          <c:tx>
            <c:strRef>
              <c:f>Sheet1!$C$1</c:f>
              <c:strCache>
                <c:ptCount val="1"/>
                <c:pt idx="0">
                  <c:v>BFS</c:v>
                </c:pt>
              </c:strCache>
            </c:strRef>
          </c:tx>
          <c:spPr>
            <a:solidFill>
              <a:srgbClr val="6715B8"/>
            </a:solidFill>
            <a:effectLst/>
          </c:spPr>
          <c:invertIfNegative val="0"/>
          <c:dLbls>
            <c:numFmt formatCode="#,##0" sourceLinked="0"/>
            <c:txPr>
              <a:bodyPr/>
              <a:lstStyle/>
              <a:p>
                <a:pPr>
                  <a:defRPr b="0" i="0" strike="noStrike" sz="1100" u="none">
                    <a:solidFill>
                      <a:srgbClr val="2C0B44"/>
                    </a:solidFill>
                    <a:latin typeface="+mn-lt"/>
                  </a:defRPr>
                </a:pPr>
              </a:p>
            </c:txPr>
            <c:showLegendKey val="0"/>
            <c:showVal val="1"/>
            <c:showCatName val="0"/>
            <c:showSerName val="0"/>
            <c:showPercent val="0"/>
            <c:showBubbleSize val="0"/>
            <c:showLeaderLines val="0"/>
          </c:dLbls>
          <c:cat>
            <c:multiLvlStrRef>
              <c:f>Sheet1!$A$2:$A$4</c:f>
              <c:multiLvlStrCache>
                <c:ptCount val="3"/>
                <c:lvl>
                  <c:pt idx="0">
                    <c:v>Niveau 2</c:v>
                  </c:pt>
                  <c:pt idx="1">
                    <c:v>Niveau 3</c:v>
                  </c:pt>
                  <c:pt idx="2">
                    <c:v>Niveau 4</c:v>
                  </c:pt>
                </c:lvl>
              </c:multiLvlStrCache>
            </c:multiLvlStrRef>
          </c:cat>
          <c:val>
            <c:numRef>
              <c:f>Sheet1!$C$2:$C$4</c:f>
              <c:numCache>
                <c:formatCode>General</c:formatCode>
                <c:ptCount val="3"/>
                <c:pt idx="0">
                  <c:v>14</c:v>
                </c:pt>
                <c:pt idx="1">
                  <c:v>25</c:v>
                </c:pt>
                <c:pt idx="2">
                  <c:v>45</c:v>
                </c:pt>
              </c:numCache>
            </c:numRef>
          </c:val>
        </c:ser>
        <c:dLbls>
          <c:numFmt formatCode="#,##0" sourceLinked="0"/>
          <c:txPr>
            <a:bodyPr/>
            <a:lstStyle/>
            <a:p>
              <a:pPr>
                <a:defRPr b="0" i="0" strike="noStrike" sz="1100" u="none">
                  <a:solidFill>
                    <a:srgbClr val="2C0B4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3507C"/>
                </a:solidFill>
                <a:latin typeface="+mn-lt"/>
              </a:defRPr>
            </a:pPr>
            <a:endParaRPr lang="en-US"/>
          </a:p>
        </c:txPr>
        <c:crossAx val="2094734552"/>
        <c:crosses val="autoZero"/>
        <c:auto val="1"/>
        <c:lblAlgn val="ctr"/>
        <c:noMultiLvlLbl val="1"/>
      </c:catAx>
      <c:valAx>
        <c:axId val="2094734552"/>
        <c:scaling>
          <c:logBase val="10"/>
          <c:orientation val="minMax"/>
          <c:min val="1"/>
        </c:scaling>
        <c:delete val="0"/>
        <c:axPos val="l"/>
        <c:majorGridlines>
          <c:spPr>
            <a:ln w="9525" cap="flat">
              <a:solidFill>
                <a:srgbClr val="D9C9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3507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C0B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C0B44"/>
                </a:solidFill>
                <a:latin typeface="+mn-lt"/>
              </a:defRPr>
            </a:pPr>
            <a:r>
              <a:rPr sz="1500" b="0" i="0" u="none" strike="noStrike">
                <a:solidFill>
                  <a:srgbClr val="2C0B44"/>
                </a:solidFill>
                <a:latin typeface="+mn-lt"/>
              </a:rPr>
              <a:t>États explorés (échelle log)</a:t>
            </a:r>
          </a:p>
        </c:rich>
      </c:tx>
      <c:layout/>
      <c:overlay val="0"/>
    </c:title>
    <c:autoTitleDeleted val="0"/>
    <c:plotArea>
      <c:layout/>
      <c:barChart>
        <c:barDir val="col"/>
        <c:grouping val="clustered"/>
        <c:varyColors val="0"/>
        <c:ser>
          <c:idx val="0"/>
          <c:order val="0"/>
          <c:tx>
            <c:strRef>
              <c:f>Sheet1!$B$1</c:f>
              <c:strCache>
                <c:ptCount val="1"/>
                <c:pt idx="0">
                  <c:v>DFS</c:v>
                </c:pt>
              </c:strCache>
            </c:strRef>
          </c:tx>
          <c:spPr>
            <a:solidFill>
              <a:srgbClr val="36A9E1"/>
            </a:solidFill>
            <a:effectLst/>
          </c:spPr>
          <c:invertIfNegative val="0"/>
          <c:dLbls>
            <c:numFmt formatCode="#,##0" sourceLinked="0"/>
            <c:txPr>
              <a:bodyPr/>
              <a:lstStyle/>
              <a:p>
                <a:pPr>
                  <a:defRPr b="0" i="0" strike="noStrike" sz="1100" u="none">
                    <a:solidFill>
                      <a:srgbClr val="2C0B44"/>
                    </a:solidFill>
                    <a:latin typeface="+mn-lt"/>
                  </a:defRPr>
                </a:pPr>
              </a:p>
            </c:txPr>
            <c:showLegendKey val="0"/>
            <c:showVal val="1"/>
            <c:showCatName val="0"/>
            <c:showSerName val="0"/>
            <c:showPercent val="0"/>
            <c:showBubbleSize val="0"/>
            <c:showLeaderLines val="0"/>
          </c:dLbls>
          <c:cat>
            <c:multiLvlStrRef>
              <c:f>Sheet1!$A$2:$A$4</c:f>
              <c:multiLvlStrCache>
                <c:ptCount val="3"/>
                <c:lvl>
                  <c:pt idx="0">
                    <c:v>Niveau 2</c:v>
                  </c:pt>
                  <c:pt idx="1">
                    <c:v>Niveau 3</c:v>
                  </c:pt>
                  <c:pt idx="2">
                    <c:v>Niveau 4</c:v>
                  </c:pt>
                </c:lvl>
              </c:multiLvlStrCache>
            </c:multiLvlStrRef>
          </c:cat>
          <c:val>
            <c:numRef>
              <c:f>Sheet1!$B$2:$B$4</c:f>
              <c:numCache>
                <c:formatCode>General</c:formatCode>
                <c:ptCount val="3"/>
                <c:pt idx="0">
                  <c:v>1808</c:v>
                </c:pt>
                <c:pt idx="1">
                  <c:v>139960</c:v>
                </c:pt>
                <c:pt idx="2">
                  <c:v>1056</c:v>
                </c:pt>
              </c:numCache>
            </c:numRef>
          </c:val>
        </c:ser>
        <c:ser>
          <c:idx val="1"/>
          <c:order val="1"/>
          <c:tx>
            <c:strRef>
              <c:f>Sheet1!$C$1</c:f>
              <c:strCache>
                <c:ptCount val="1"/>
                <c:pt idx="0">
                  <c:v>BFS</c:v>
                </c:pt>
              </c:strCache>
            </c:strRef>
          </c:tx>
          <c:spPr>
            <a:solidFill>
              <a:srgbClr val="6715B8"/>
            </a:solidFill>
            <a:effectLst/>
          </c:spPr>
          <c:invertIfNegative val="0"/>
          <c:dLbls>
            <c:numFmt formatCode="#,##0" sourceLinked="0"/>
            <c:txPr>
              <a:bodyPr/>
              <a:lstStyle/>
              <a:p>
                <a:pPr>
                  <a:defRPr b="0" i="0" strike="noStrike" sz="1100" u="none">
                    <a:solidFill>
                      <a:srgbClr val="2C0B44"/>
                    </a:solidFill>
                    <a:latin typeface="+mn-lt"/>
                  </a:defRPr>
                </a:pPr>
              </a:p>
            </c:txPr>
            <c:showLegendKey val="0"/>
            <c:showVal val="1"/>
            <c:showCatName val="0"/>
            <c:showSerName val="0"/>
            <c:showPercent val="0"/>
            <c:showBubbleSize val="0"/>
            <c:showLeaderLines val="0"/>
          </c:dLbls>
          <c:cat>
            <c:multiLvlStrRef>
              <c:f>Sheet1!$A$2:$A$4</c:f>
              <c:multiLvlStrCache>
                <c:ptCount val="3"/>
                <c:lvl>
                  <c:pt idx="0">
                    <c:v>Niveau 2</c:v>
                  </c:pt>
                  <c:pt idx="1">
                    <c:v>Niveau 3</c:v>
                  </c:pt>
                  <c:pt idx="2">
                    <c:v>Niveau 4</c:v>
                  </c:pt>
                </c:lvl>
              </c:multiLvlStrCache>
            </c:multiLvlStrRef>
          </c:cat>
          <c:val>
            <c:numRef>
              <c:f>Sheet1!$C$2:$C$4</c:f>
              <c:numCache>
                <c:formatCode>General</c:formatCode>
                <c:ptCount val="3"/>
                <c:pt idx="0">
                  <c:v>1943</c:v>
                </c:pt>
                <c:pt idx="1">
                  <c:v>36144</c:v>
                </c:pt>
                <c:pt idx="2">
                  <c:v>26265</c:v>
                </c:pt>
              </c:numCache>
            </c:numRef>
          </c:val>
        </c:ser>
        <c:dLbls>
          <c:numFmt formatCode="#,##0" sourceLinked="0"/>
          <c:txPr>
            <a:bodyPr/>
            <a:lstStyle/>
            <a:p>
              <a:pPr>
                <a:defRPr b="0" i="0" strike="noStrike" sz="1100" u="none">
                  <a:solidFill>
                    <a:srgbClr val="2C0B4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3507C"/>
                </a:solidFill>
                <a:latin typeface="+mn-lt"/>
              </a:defRPr>
            </a:pPr>
            <a:endParaRPr lang="en-US"/>
          </a:p>
        </c:txPr>
        <c:crossAx val="2094734552"/>
        <c:crosses val="autoZero"/>
        <c:auto val="1"/>
        <c:lblAlgn val="ctr"/>
        <c:noMultiLvlLbl val="1"/>
      </c:catAx>
      <c:valAx>
        <c:axId val="2094734552"/>
        <c:scaling>
          <c:logBase val="10"/>
          <c:orientation val="minMax"/>
          <c:min val="100"/>
        </c:scaling>
        <c:delete val="0"/>
        <c:axPos val="l"/>
        <c:majorGridlines>
          <c:spPr>
            <a:ln w="9525" cap="flat">
              <a:solidFill>
                <a:srgbClr val="D9C9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3507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C0B4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C0B44"/>
                </a:solidFill>
                <a:latin typeface="+mn-lt"/>
              </a:defRPr>
            </a:pPr>
            <a:r>
              <a:rPr sz="1500" b="0" i="0" u="none" strike="noStrike">
                <a:solidFill>
                  <a:srgbClr val="2C0B44"/>
                </a:solidFill>
                <a:latin typeface="+mn-lt"/>
              </a:rPr>
              <a:t>États explorés par BFS</a:t>
            </a:r>
          </a:p>
        </c:rich>
      </c:tx>
      <c:layout/>
      <c:overlay val="0"/>
    </c:title>
    <c:autoTitleDeleted val="0"/>
    <c:plotArea>
      <c:layout/>
      <c:barChart>
        <c:barDir val="col"/>
        <c:grouping val="clustered"/>
        <c:varyColors val="0"/>
        <c:ser>
          <c:idx val="0"/>
          <c:order val="0"/>
          <c:tx>
            <c:strRef>
              <c:f>Sheet1!$B$1</c:f>
              <c:strCache>
                <c:ptCount val="1"/>
                <c:pt idx="0">
                  <c:v>Sans élagage</c:v>
                </c:pt>
              </c:strCache>
            </c:strRef>
          </c:tx>
          <c:spPr>
            <a:solidFill>
              <a:srgbClr val="D9C9EC"/>
            </a:solidFill>
            <a:effectLst/>
          </c:spPr>
          <c:invertIfNegative val="0"/>
          <c:dLbls>
            <c:numFmt formatCode="#,##0" sourceLinked="0"/>
            <c:txPr>
              <a:bodyPr/>
              <a:lstStyle/>
              <a:p>
                <a:pPr>
                  <a:defRPr b="0" i="0" strike="noStrike" sz="1100" u="none">
                    <a:solidFill>
                      <a:srgbClr val="2C0B44"/>
                    </a:solidFill>
                    <a:latin typeface="+mn-lt"/>
                  </a:defRPr>
                </a:pPr>
              </a:p>
            </c:txPr>
            <c:showLegendKey val="0"/>
            <c:showVal val="1"/>
            <c:showCatName val="0"/>
            <c:showSerName val="0"/>
            <c:showPercent val="0"/>
            <c:showBubbleSize val="0"/>
            <c:showLeaderLines val="0"/>
          </c:dLbls>
          <c:cat>
            <c:multiLvlStrRef>
              <c:f>Sheet1!$A$2:$A$4</c:f>
              <c:multiLvlStrCache>
                <c:ptCount val="3"/>
                <c:lvl>
                  <c:pt idx="0">
                    <c:v>Niveau 2</c:v>
                  </c:pt>
                  <c:pt idx="1">
                    <c:v>Niveau 3</c:v>
                  </c:pt>
                  <c:pt idx="2">
                    <c:v>Niveau 4</c:v>
                  </c:pt>
                </c:lvl>
              </c:multiLvlStrCache>
            </c:multiLvlStrRef>
          </c:cat>
          <c:val>
            <c:numRef>
              <c:f>Sheet1!$B$2:$B$4</c:f>
              <c:numCache>
                <c:formatCode>General</c:formatCode>
                <c:ptCount val="3"/>
                <c:pt idx="0">
                  <c:v>2635</c:v>
                </c:pt>
                <c:pt idx="1">
                  <c:v>52525</c:v>
                </c:pt>
                <c:pt idx="2">
                  <c:v>51346</c:v>
                </c:pt>
              </c:numCache>
            </c:numRef>
          </c:val>
        </c:ser>
        <c:ser>
          <c:idx val="1"/>
          <c:order val="1"/>
          <c:tx>
            <c:strRef>
              <c:f>Sheet1!$C$1</c:f>
              <c:strCache>
                <c:ptCount val="1"/>
                <c:pt idx="0">
                  <c:v>Avec élagage</c:v>
                </c:pt>
              </c:strCache>
            </c:strRef>
          </c:tx>
          <c:spPr>
            <a:solidFill>
              <a:srgbClr val="6715B8"/>
            </a:solidFill>
            <a:effectLst/>
          </c:spPr>
          <c:invertIfNegative val="0"/>
          <c:dLbls>
            <c:numFmt formatCode="#,##0" sourceLinked="0"/>
            <c:txPr>
              <a:bodyPr/>
              <a:lstStyle/>
              <a:p>
                <a:pPr>
                  <a:defRPr b="0" i="0" strike="noStrike" sz="1100" u="none">
                    <a:solidFill>
                      <a:srgbClr val="2C0B44"/>
                    </a:solidFill>
                    <a:latin typeface="+mn-lt"/>
                  </a:defRPr>
                </a:pPr>
              </a:p>
            </c:txPr>
            <c:showLegendKey val="0"/>
            <c:showVal val="1"/>
            <c:showCatName val="0"/>
            <c:showSerName val="0"/>
            <c:showPercent val="0"/>
            <c:showBubbleSize val="0"/>
            <c:showLeaderLines val="0"/>
          </c:dLbls>
          <c:cat>
            <c:multiLvlStrRef>
              <c:f>Sheet1!$A$2:$A$4</c:f>
              <c:multiLvlStrCache>
                <c:ptCount val="3"/>
                <c:lvl>
                  <c:pt idx="0">
                    <c:v>Niveau 2</c:v>
                  </c:pt>
                  <c:pt idx="1">
                    <c:v>Niveau 3</c:v>
                  </c:pt>
                  <c:pt idx="2">
                    <c:v>Niveau 4</c:v>
                  </c:pt>
                </c:lvl>
              </c:multiLvlStrCache>
            </c:multiLvlStrRef>
          </c:cat>
          <c:val>
            <c:numRef>
              <c:f>Sheet1!$C$2:$C$4</c:f>
              <c:numCache>
                <c:formatCode>General</c:formatCode>
                <c:ptCount val="3"/>
                <c:pt idx="0">
                  <c:v>1943</c:v>
                </c:pt>
                <c:pt idx="1">
                  <c:v>36144</c:v>
                </c:pt>
                <c:pt idx="2">
                  <c:v>26265</c:v>
                </c:pt>
              </c:numCache>
            </c:numRef>
          </c:val>
        </c:ser>
        <c:dLbls>
          <c:numFmt formatCode="#,##0" sourceLinked="0"/>
          <c:txPr>
            <a:bodyPr/>
            <a:lstStyle/>
            <a:p>
              <a:pPr>
                <a:defRPr b="0" i="0" strike="noStrike" sz="1100" u="none">
                  <a:solidFill>
                    <a:srgbClr val="2C0B44"/>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3507C"/>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9C9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3507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C0B4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du projet Sokoban realise par kudasai. Elle couvre le jeu console (parties A a C), le solveur (parties D a F) et la comparaison DFS/BFS.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sujet se decoupe en trois blocs. Le niveau standard couvre le jeu, le niveau avance ajoute le solveur et la comparaison. Toutes les contraintes techniques de la section 10 sont respectees.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seule classe Sokoban, uniquement des methodes statiques : c'est le format attendu en premiere annee. Chaque methode a une seule responsabilite. Les structures de donnees du solveur sont ecrites avec des tableaux.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2 affiche a gauche. Separer les objectifs du contenu simplifie toutes les regles de deplacement : il n'y a que quatre symboles possibles dans grille.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methode a un role precis. Les mouvements refuses ne changent ni la grille ni le compteur. Le bonus d'annulation stocke chaque coup dans un tableau d'entiers gere comme une pile.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Partie D. Deux etats identiques donnent la meme chaine : on peut les comparer avec equals et les hacher. Comme chaque etat correspond a un pas, le nombre de coups de la solution est directement le nombre de mouvements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sujet interdit HashMap ou une structure equivalente a la place du travail algorithmique. On ecrit donc une table de hachage a adressage ouvert et sondage lineaire, avec la meme formule que String.hashCode, mais codee a la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Partie E. Les deux cas de base : etat deja visite, et victoire. Le cas recursif essaie les quatre directions dans l'ordre z, s, q, d. L'arret est garanti car il y a un nombre fini d'etats et chacun n'est traite qu'une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grand thread est la seule astuce technique : la pile par defaut de Java (environ 1 Mo) ne suffit pas pour une recursion de plusieurs milliers d'appels. Un StackOverflowError eventuel est quand meme intercepte.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Partie F. La file est un tableau avec deux indices. Les etats deja traites ne sont pas effaces : on en a besoin pour reconstruire la solution en remontant les parents. C'est pour cela que BFS consomme plus de memoire.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Valeurs mesurees avec l'option 4 du menu (temps sur la machine de test : de quelques ms a 0,7 s pour DFS au niveau 3). Les graphiques sont en echelle logarithmique car l'ecart va de 25 a 2791.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parcourent le meme graphe d'etats, mais dans un ordre different. L'ordre z, s, q, d determine quelle solution DFS trouve. BFS garantit l'optimalite en nombre de mouvements, ce qui couvre le bonus de la solution minimale.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Bonus d'optimisation. Une telle poussee ne mene jamais a une victoire : l'elagage ne fait perdre aucune solution et les longueurs BFS restent identiques. La meme fonction estCoinMort sert en jeu pour avertir le joueur qu'il est bloque.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Sans la table des visites, DFS pourrait boucler indefiniment et BFS traiterait le meme etat de tres nombreuses fois. Avec elle, chaque etat ne coute qu'une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tests se lancent avec ./run-tests.sh. Les limites sont assumees : elles gardent le code simple a expliquer pour un projet de premiere annee.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Demonstration possible : lancer le jeu, jouer le niveau 1, puis l'option 4 sur le niveau 3 pour montrer l'ecart entre DFS et BFS.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_SOMB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03504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640080" y="3017520"/>
            <a:ext cx="6035040" cy="100584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42416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pic>
        <p:nvPicPr>
          <p:cNvPr id="3" name="Image 0" descr="Illustration">    </p:cNvPr>
          <p:cNvPicPr>
            <a:picLocks noChangeAspect="1"/>
          </p:cNvPicPr>
          <p:nvPr/>
        </p:nvPicPr>
        <p:blipFill>
          <a:blip r:embed="rId1"/>
          <a:stretch>
            <a:fillRect/>
          </a:stretch>
        </p:blipFill>
        <p:spPr>
          <a:xfrm>
            <a:off x="11201400" y="384048"/>
            <a:ext cx="548640" cy="548640"/>
          </a:xfrm>
          <a:prstGeom prst="rect">
            <a:avLst/>
          </a:prstGeom>
        </p:spPr>
      </p:pic>
      <p:sp>
        <p:nvSpPr>
          <p:cNvPr id="4"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Sokoban  ·  Projet Java ESIEA  ·  PASS Java 2026-2027</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035040" cy="1188720"/>
          </a:xfrm>
          <a:prstGeom prst="rect">
            <a:avLst/>
          </a:prstGeom>
          <a:noFill/>
          <a:ln/>
        </p:spPr>
        <p:txBody>
          <a:bodyPr wrap="square" lIns="0" tIns="0" rIns="0" bIns="0" rtlCol="0" anchor="b"/>
          <a:lstStyle/>
          <a:p>
            <a:pPr algn="l" indent="0" marL="0">
              <a:buNone/>
            </a:pPr>
            <a:r>
              <a:rPr lang="en-US" sz="5400" b="1" dirty="0">
                <a:solidFill>
                  <a:schemeClr val="bg1"/>
                </a:solidFill>
              </a:rPr>
              <a:t>Sokoban</a:t>
            </a:r>
            <a:endParaRPr lang="en-US" sz="5400" dirty="0"/>
          </a:p>
        </p:txBody>
      </p:sp>
      <p:sp>
        <p:nvSpPr>
          <p:cNvPr id="3" name="Text 0"/>
          <p:cNvSpPr/>
          <p:nvPr>
            <p:ph idx="101" type="body" hasCustomPrompt="1"/>
          </p:nvPr>
        </p:nvSpPr>
        <p:spPr>
          <a:xfrm>
            <a:off x="640080" y="3017520"/>
            <a:ext cx="6035040" cy="1005840"/>
          </a:xfrm>
          <a:prstGeom prst="rect">
            <a:avLst/>
          </a:prstGeom>
          <a:noFill/>
          <a:ln/>
        </p:spPr>
        <p:txBody>
          <a:bodyPr wrap="square" lIns="0" tIns="0" rIns="0" bIns="0" rtlCol="0" anchor="t"/>
          <a:lstStyle/>
          <a:p>
            <a:pPr algn="l" indent="0" marL="0">
              <a:buNone/>
            </a:pPr>
            <a:r>
              <a:rPr lang="en-US" sz="2200" dirty="0">
                <a:solidFill>
                  <a:schemeClr val="accent6"/>
                </a:solidFill>
              </a:rPr>
              <a:t>Jeu console et résolution automatique par DFS et BFS</a:t>
            </a:r>
            <a:endParaRPr lang="en-US" sz="2200" dirty="0"/>
          </a:p>
        </p:txBody>
      </p:sp>
      <p:sp>
        <p:nvSpPr>
          <p:cNvPr id="4" name="Text 2"/>
          <p:cNvSpPr txBox="1"/>
          <p:nvPr/>
        </p:nvSpPr>
        <p:spPr>
          <a:xfrm>
            <a:off x="640080" y="4069080"/>
            <a:ext cx="6035040" cy="365760"/>
          </a:xfrm>
          <a:prstGeom prst="rect">
            <a:avLst/>
          </a:prstGeom>
          <a:noFill/>
          <a:ln/>
        </p:spPr>
        <p:txBody>
          <a:bodyPr wrap="square" lIns="0" tIns="0" rIns="0" bIns="0" rtlCol="0" anchor="t"/>
          <a:lstStyle/>
          <a:p>
            <a:pPr indent="0" marL="0">
              <a:buNone/>
            </a:pPr>
            <a:r>
              <a:rPr lang="en-US" sz="1600" b="1" dirty="0">
                <a:solidFill>
                  <a:schemeClr val="accent4"/>
                </a:solidFill>
              </a:rPr>
              <a:t>Projet Java  ·  PASS Java 2026-2027  ·  ESIEA</a:t>
            </a:r>
            <a:endParaRPr lang="en-US" sz="1600" dirty="0"/>
          </a:p>
        </p:txBody>
      </p:sp>
      <p:sp>
        <p:nvSpPr>
          <p:cNvPr id="5" name="Text 3"/>
          <p:cNvSpPr txBox="1"/>
          <p:nvPr/>
        </p:nvSpPr>
        <p:spPr>
          <a:xfrm>
            <a:off x="640080" y="4480560"/>
            <a:ext cx="6035040" cy="365760"/>
          </a:xfrm>
          <a:prstGeom prst="rect">
            <a:avLst/>
          </a:prstGeom>
          <a:noFill/>
          <a:ln/>
        </p:spPr>
        <p:txBody>
          <a:bodyPr wrap="square" lIns="0" tIns="0" rIns="0" bIns="0" rtlCol="0" anchor="t"/>
          <a:lstStyle/>
          <a:p>
            <a:pPr indent="0" marL="0">
              <a:buNone/>
            </a:pPr>
            <a:r>
              <a:rPr lang="en-US" sz="1300" i="1" dirty="0">
                <a:solidFill>
                  <a:schemeClr val="accent6"/>
                </a:solidFill>
              </a:rPr>
              <a:t>Projet réalisé par kudasai</a:t>
            </a:r>
            <a:endParaRPr lang="en-US" sz="1300" dirty="0"/>
          </a:p>
        </p:txBody>
      </p:sp>
      <p:sp>
        <p:nvSpPr>
          <p:cNvPr id="6" name="logos"/>
          <p:cNvSpPr/>
          <p:nvPr/>
        </p:nvSpPr>
        <p:spPr>
          <a:xfrm>
            <a:off x="640080" y="5349240"/>
            <a:ext cx="3291840" cy="868680"/>
          </a:xfrm>
          <a:prstGeom prst="roundRect">
            <a:avLst>
              <a:gd name="adj" fmla="val 12632"/>
            </a:avLst>
          </a:prstGeom>
          <a:solidFill>
            <a:schemeClr val="bg1"/>
          </a:solidFill>
          <a:ln w="12700">
            <a:solidFill>
              <a:schemeClr val="bg1"/>
            </a:solidFill>
            <a:prstDash val="solid"/>
          </a:ln>
        </p:spPr>
      </p:sp>
      <p:pic>
        <p:nvPicPr>
          <p:cNvPr id="7" name="Image 0" descr="Logo ESIEA">    </p:cNvPr>
          <p:cNvPicPr>
            <a:picLocks noChangeAspect="1"/>
          </p:cNvPicPr>
          <p:nvPr/>
        </p:nvPicPr>
        <p:blipFill>
          <a:blip r:embed="rId1"/>
          <a:stretch>
            <a:fillRect/>
          </a:stretch>
        </p:blipFill>
        <p:spPr>
          <a:xfrm>
            <a:off x="868680" y="5541264"/>
            <a:ext cx="1399032" cy="484632"/>
          </a:xfrm>
          <a:prstGeom prst="rect">
            <a:avLst/>
          </a:prstGeom>
        </p:spPr>
      </p:pic>
      <p:pic>
        <p:nvPicPr>
          <p:cNvPr id="8" name="Image 1" descr="Logo NACRE">    </p:cNvPr>
          <p:cNvPicPr>
            <a:picLocks noChangeAspect="1"/>
          </p:cNvPicPr>
          <p:nvPr/>
        </p:nvPicPr>
        <p:blipFill>
          <a:blip r:embed="rId2"/>
          <a:stretch>
            <a:fillRect/>
          </a:stretch>
        </p:blipFill>
        <p:spPr>
          <a:xfrm>
            <a:off x="3017520" y="5458968"/>
            <a:ext cx="658368" cy="658368"/>
          </a:xfrm>
          <a:prstGeom prst="rect">
            <a:avLst/>
          </a:prstGeom>
        </p:spPr>
      </p:pic>
      <p:sp>
        <p:nvSpPr>
          <p:cNvPr id="9" name="Shape 5"/>
          <p:cNvSpPr/>
          <p:nvPr/>
        </p:nvSpPr>
        <p:spPr>
          <a:xfrm>
            <a:off x="7269480" y="1143000"/>
            <a:ext cx="512064" cy="512064"/>
          </a:xfrm>
          <a:prstGeom prst="rect">
            <a:avLst/>
          </a:prstGeom>
          <a:solidFill>
            <a:schemeClr val="tx2"/>
          </a:solidFill>
          <a:ln w="9525">
            <a:solidFill>
              <a:schemeClr val="tx1"/>
            </a:solidFill>
            <a:prstDash val="solid"/>
          </a:ln>
        </p:spPr>
      </p:sp>
      <p:sp>
        <p:nvSpPr>
          <p:cNvPr id="10" name="Shape 6"/>
          <p:cNvSpPr/>
          <p:nvPr/>
        </p:nvSpPr>
        <p:spPr>
          <a:xfrm>
            <a:off x="7781544" y="1143000"/>
            <a:ext cx="512064" cy="512064"/>
          </a:xfrm>
          <a:prstGeom prst="rect">
            <a:avLst/>
          </a:prstGeom>
          <a:solidFill>
            <a:schemeClr val="tx2"/>
          </a:solidFill>
          <a:ln w="9525">
            <a:solidFill>
              <a:schemeClr val="tx1"/>
            </a:solidFill>
            <a:prstDash val="solid"/>
          </a:ln>
        </p:spPr>
      </p:sp>
      <p:sp>
        <p:nvSpPr>
          <p:cNvPr id="11" name="Shape 7"/>
          <p:cNvSpPr/>
          <p:nvPr/>
        </p:nvSpPr>
        <p:spPr>
          <a:xfrm>
            <a:off x="8293608" y="1143000"/>
            <a:ext cx="512064" cy="512064"/>
          </a:xfrm>
          <a:prstGeom prst="rect">
            <a:avLst/>
          </a:prstGeom>
          <a:solidFill>
            <a:schemeClr val="tx2"/>
          </a:solidFill>
          <a:ln w="9525">
            <a:solidFill>
              <a:schemeClr val="tx1"/>
            </a:solidFill>
            <a:prstDash val="solid"/>
          </a:ln>
        </p:spPr>
      </p:sp>
      <p:sp>
        <p:nvSpPr>
          <p:cNvPr id="12" name="Shape 8"/>
          <p:cNvSpPr/>
          <p:nvPr/>
        </p:nvSpPr>
        <p:spPr>
          <a:xfrm>
            <a:off x="8805672" y="1143000"/>
            <a:ext cx="512064" cy="512064"/>
          </a:xfrm>
          <a:prstGeom prst="rect">
            <a:avLst/>
          </a:prstGeom>
          <a:solidFill>
            <a:schemeClr val="tx2"/>
          </a:solidFill>
          <a:ln w="9525">
            <a:solidFill>
              <a:schemeClr val="tx1"/>
            </a:solidFill>
            <a:prstDash val="solid"/>
          </a:ln>
        </p:spPr>
      </p:sp>
      <p:sp>
        <p:nvSpPr>
          <p:cNvPr id="13" name="Shape 9"/>
          <p:cNvSpPr/>
          <p:nvPr/>
        </p:nvSpPr>
        <p:spPr>
          <a:xfrm>
            <a:off x="9317736" y="1143000"/>
            <a:ext cx="512064" cy="512064"/>
          </a:xfrm>
          <a:prstGeom prst="rect">
            <a:avLst/>
          </a:prstGeom>
          <a:solidFill>
            <a:schemeClr val="tx2"/>
          </a:solidFill>
          <a:ln w="9525">
            <a:solidFill>
              <a:schemeClr val="tx1"/>
            </a:solidFill>
            <a:prstDash val="solid"/>
          </a:ln>
        </p:spPr>
      </p:sp>
      <p:sp>
        <p:nvSpPr>
          <p:cNvPr id="14" name="Shape 10"/>
          <p:cNvSpPr/>
          <p:nvPr/>
        </p:nvSpPr>
        <p:spPr>
          <a:xfrm>
            <a:off x="9829800" y="1143000"/>
            <a:ext cx="512064" cy="512064"/>
          </a:xfrm>
          <a:prstGeom prst="rect">
            <a:avLst/>
          </a:prstGeom>
          <a:solidFill>
            <a:schemeClr val="tx2"/>
          </a:solidFill>
          <a:ln w="9525">
            <a:solidFill>
              <a:schemeClr val="tx1"/>
            </a:solidFill>
            <a:prstDash val="solid"/>
          </a:ln>
        </p:spPr>
      </p:sp>
      <p:sp>
        <p:nvSpPr>
          <p:cNvPr id="15" name="Shape 11"/>
          <p:cNvSpPr/>
          <p:nvPr/>
        </p:nvSpPr>
        <p:spPr>
          <a:xfrm>
            <a:off x="10341864" y="1143000"/>
            <a:ext cx="512064" cy="512064"/>
          </a:xfrm>
          <a:prstGeom prst="rect">
            <a:avLst/>
          </a:prstGeom>
          <a:solidFill>
            <a:schemeClr val="tx2"/>
          </a:solidFill>
          <a:ln w="9525">
            <a:solidFill>
              <a:schemeClr val="tx1"/>
            </a:solidFill>
            <a:prstDash val="solid"/>
          </a:ln>
        </p:spPr>
      </p:sp>
      <p:sp>
        <p:nvSpPr>
          <p:cNvPr id="16" name="Shape 12"/>
          <p:cNvSpPr/>
          <p:nvPr/>
        </p:nvSpPr>
        <p:spPr>
          <a:xfrm>
            <a:off x="10853928" y="1143000"/>
            <a:ext cx="512064" cy="512064"/>
          </a:xfrm>
          <a:prstGeom prst="rect">
            <a:avLst/>
          </a:prstGeom>
          <a:solidFill>
            <a:schemeClr val="tx2"/>
          </a:solidFill>
          <a:ln w="9525">
            <a:solidFill>
              <a:schemeClr val="tx1"/>
            </a:solidFill>
            <a:prstDash val="solid"/>
          </a:ln>
        </p:spPr>
      </p:sp>
      <p:sp>
        <p:nvSpPr>
          <p:cNvPr id="17" name="Shape 13"/>
          <p:cNvSpPr/>
          <p:nvPr/>
        </p:nvSpPr>
        <p:spPr>
          <a:xfrm>
            <a:off x="11365992" y="1143000"/>
            <a:ext cx="512064" cy="512064"/>
          </a:xfrm>
          <a:prstGeom prst="rect">
            <a:avLst/>
          </a:prstGeom>
          <a:solidFill>
            <a:schemeClr val="tx2"/>
          </a:solidFill>
          <a:ln w="9525">
            <a:solidFill>
              <a:schemeClr val="tx1"/>
            </a:solidFill>
            <a:prstDash val="solid"/>
          </a:ln>
        </p:spPr>
      </p:sp>
      <p:sp>
        <p:nvSpPr>
          <p:cNvPr id="18" name="Shape 14"/>
          <p:cNvSpPr/>
          <p:nvPr/>
        </p:nvSpPr>
        <p:spPr>
          <a:xfrm>
            <a:off x="7269480" y="1655064"/>
            <a:ext cx="512064" cy="512064"/>
          </a:xfrm>
          <a:prstGeom prst="rect">
            <a:avLst/>
          </a:prstGeom>
          <a:solidFill>
            <a:schemeClr val="tx2"/>
          </a:solidFill>
          <a:ln w="9525">
            <a:solidFill>
              <a:schemeClr val="tx1"/>
            </a:solidFill>
            <a:prstDash val="solid"/>
          </a:ln>
        </p:spPr>
      </p:sp>
      <p:sp>
        <p:nvSpPr>
          <p:cNvPr id="19" name="Shape 15"/>
          <p:cNvSpPr/>
          <p:nvPr/>
        </p:nvSpPr>
        <p:spPr>
          <a:xfrm>
            <a:off x="7781544" y="1655064"/>
            <a:ext cx="512064" cy="512064"/>
          </a:xfrm>
          <a:prstGeom prst="rect">
            <a:avLst/>
          </a:prstGeom>
          <a:solidFill>
            <a:schemeClr val="tx1"/>
          </a:solidFill>
          <a:ln w="12700">
            <a:solidFill>
              <a:schemeClr val="tx1"/>
            </a:solidFill>
            <a:prstDash val="solid"/>
          </a:ln>
        </p:spPr>
      </p:sp>
      <p:sp>
        <p:nvSpPr>
          <p:cNvPr id="20" name="Shape 16"/>
          <p:cNvSpPr/>
          <p:nvPr/>
        </p:nvSpPr>
        <p:spPr>
          <a:xfrm>
            <a:off x="8293608" y="1655064"/>
            <a:ext cx="512064" cy="512064"/>
          </a:xfrm>
          <a:prstGeom prst="rect">
            <a:avLst/>
          </a:prstGeom>
          <a:solidFill>
            <a:schemeClr val="tx1"/>
          </a:solidFill>
          <a:ln w="12700">
            <a:solidFill>
              <a:schemeClr val="tx1"/>
            </a:solidFill>
            <a:prstDash val="solid"/>
          </a:ln>
        </p:spPr>
      </p:sp>
      <p:sp>
        <p:nvSpPr>
          <p:cNvPr id="21" name="Shape 17"/>
          <p:cNvSpPr/>
          <p:nvPr/>
        </p:nvSpPr>
        <p:spPr>
          <a:xfrm>
            <a:off x="8805672" y="1655064"/>
            <a:ext cx="512064" cy="512064"/>
          </a:xfrm>
          <a:prstGeom prst="rect">
            <a:avLst/>
          </a:prstGeom>
          <a:solidFill>
            <a:schemeClr val="tx1"/>
          </a:solidFill>
          <a:ln w="12700">
            <a:solidFill>
              <a:schemeClr val="tx1"/>
            </a:solidFill>
            <a:prstDash val="solid"/>
          </a:ln>
        </p:spPr>
      </p:sp>
      <p:sp>
        <p:nvSpPr>
          <p:cNvPr id="22" name="Shape 18"/>
          <p:cNvSpPr/>
          <p:nvPr/>
        </p:nvSpPr>
        <p:spPr>
          <a:xfrm>
            <a:off x="9317736" y="1655064"/>
            <a:ext cx="512064" cy="512064"/>
          </a:xfrm>
          <a:prstGeom prst="rect">
            <a:avLst/>
          </a:prstGeom>
          <a:solidFill>
            <a:schemeClr val="tx2"/>
          </a:solidFill>
          <a:ln w="9525">
            <a:solidFill>
              <a:schemeClr val="tx1"/>
            </a:solidFill>
            <a:prstDash val="solid"/>
          </a:ln>
        </p:spPr>
      </p:sp>
      <p:sp>
        <p:nvSpPr>
          <p:cNvPr id="23" name="Shape 19"/>
          <p:cNvSpPr/>
          <p:nvPr/>
        </p:nvSpPr>
        <p:spPr>
          <a:xfrm>
            <a:off x="9829800" y="1655064"/>
            <a:ext cx="512064" cy="512064"/>
          </a:xfrm>
          <a:prstGeom prst="rect">
            <a:avLst/>
          </a:prstGeom>
          <a:solidFill>
            <a:schemeClr val="tx1"/>
          </a:solidFill>
          <a:ln w="12700">
            <a:solidFill>
              <a:schemeClr val="tx1"/>
            </a:solidFill>
            <a:prstDash val="solid"/>
          </a:ln>
        </p:spPr>
      </p:sp>
      <p:sp>
        <p:nvSpPr>
          <p:cNvPr id="24" name="Shape 20"/>
          <p:cNvSpPr/>
          <p:nvPr/>
        </p:nvSpPr>
        <p:spPr>
          <a:xfrm>
            <a:off x="10341864" y="1655064"/>
            <a:ext cx="512064" cy="512064"/>
          </a:xfrm>
          <a:prstGeom prst="rect">
            <a:avLst/>
          </a:prstGeom>
          <a:solidFill>
            <a:schemeClr val="tx1"/>
          </a:solidFill>
          <a:ln w="12700">
            <a:solidFill>
              <a:schemeClr val="tx1"/>
            </a:solidFill>
            <a:prstDash val="solid"/>
          </a:ln>
        </p:spPr>
      </p:sp>
      <p:sp>
        <p:nvSpPr>
          <p:cNvPr id="25" name="Shape 21"/>
          <p:cNvSpPr/>
          <p:nvPr/>
        </p:nvSpPr>
        <p:spPr>
          <a:xfrm>
            <a:off x="10853928" y="1655064"/>
            <a:ext cx="512064" cy="512064"/>
          </a:xfrm>
          <a:prstGeom prst="rect">
            <a:avLst/>
          </a:prstGeom>
          <a:solidFill>
            <a:schemeClr val="tx1"/>
          </a:solidFill>
          <a:ln w="12700">
            <a:solidFill>
              <a:schemeClr val="tx1"/>
            </a:solidFill>
            <a:prstDash val="solid"/>
          </a:ln>
        </p:spPr>
      </p:sp>
      <p:sp>
        <p:nvSpPr>
          <p:cNvPr id="26" name="Shape 22"/>
          <p:cNvSpPr/>
          <p:nvPr/>
        </p:nvSpPr>
        <p:spPr>
          <a:xfrm>
            <a:off x="11365992" y="1655064"/>
            <a:ext cx="512064" cy="512064"/>
          </a:xfrm>
          <a:prstGeom prst="rect">
            <a:avLst/>
          </a:prstGeom>
          <a:solidFill>
            <a:schemeClr val="tx2"/>
          </a:solidFill>
          <a:ln w="9525">
            <a:solidFill>
              <a:schemeClr val="tx1"/>
            </a:solidFill>
            <a:prstDash val="solid"/>
          </a:ln>
        </p:spPr>
      </p:sp>
      <p:sp>
        <p:nvSpPr>
          <p:cNvPr id="27" name="Shape 23"/>
          <p:cNvSpPr/>
          <p:nvPr/>
        </p:nvSpPr>
        <p:spPr>
          <a:xfrm>
            <a:off x="7269480" y="2167128"/>
            <a:ext cx="512064" cy="512064"/>
          </a:xfrm>
          <a:prstGeom prst="rect">
            <a:avLst/>
          </a:prstGeom>
          <a:solidFill>
            <a:schemeClr val="tx2"/>
          </a:solidFill>
          <a:ln w="9525">
            <a:solidFill>
              <a:schemeClr val="tx1"/>
            </a:solidFill>
            <a:prstDash val="solid"/>
          </a:ln>
        </p:spPr>
      </p:sp>
      <p:sp>
        <p:nvSpPr>
          <p:cNvPr id="28" name="Shape 24"/>
          <p:cNvSpPr/>
          <p:nvPr/>
        </p:nvSpPr>
        <p:spPr>
          <a:xfrm>
            <a:off x="7781544" y="2167128"/>
            <a:ext cx="512064" cy="512064"/>
          </a:xfrm>
          <a:prstGeom prst="rect">
            <a:avLst/>
          </a:prstGeom>
          <a:solidFill>
            <a:schemeClr val="tx1"/>
          </a:solidFill>
          <a:ln w="12700">
            <a:solidFill>
              <a:schemeClr val="tx1"/>
            </a:solidFill>
            <a:prstDash val="solid"/>
          </a:ln>
        </p:spPr>
      </p:sp>
      <p:sp>
        <p:nvSpPr>
          <p:cNvPr id="29" name="Shape 25"/>
          <p:cNvSpPr/>
          <p:nvPr/>
        </p:nvSpPr>
        <p:spPr>
          <a:xfrm>
            <a:off x="8293608" y="2167128"/>
            <a:ext cx="512064" cy="512064"/>
          </a:xfrm>
          <a:prstGeom prst="rect">
            <a:avLst/>
          </a:prstGeom>
          <a:solidFill>
            <a:schemeClr val="tx1"/>
          </a:solidFill>
          <a:ln w="12700">
            <a:solidFill>
              <a:schemeClr val="tx1"/>
            </a:solidFill>
            <a:prstDash val="solid"/>
          </a:ln>
        </p:spPr>
      </p:sp>
      <p:sp>
        <p:nvSpPr>
          <p:cNvPr id="30" name="Shape 26"/>
          <p:cNvSpPr/>
          <p:nvPr/>
        </p:nvSpPr>
        <p:spPr>
          <a:xfrm>
            <a:off x="8360176" y="2233696"/>
            <a:ext cx="378927" cy="378927"/>
          </a:xfrm>
          <a:prstGeom prst="roundRect">
            <a:avLst>
              <a:gd name="adj" fmla="val 18000"/>
            </a:avLst>
          </a:prstGeom>
          <a:solidFill>
            <a:schemeClr val="accent2"/>
          </a:solidFill>
          <a:ln w="12700">
            <a:solidFill>
              <a:schemeClr val="accent2"/>
            </a:solidFill>
            <a:prstDash val="solid"/>
          </a:ln>
        </p:spPr>
      </p:sp>
      <p:sp>
        <p:nvSpPr>
          <p:cNvPr id="31" name="Shape 27"/>
          <p:cNvSpPr/>
          <p:nvPr/>
        </p:nvSpPr>
        <p:spPr>
          <a:xfrm>
            <a:off x="8805672" y="2167128"/>
            <a:ext cx="512064" cy="512064"/>
          </a:xfrm>
          <a:prstGeom prst="rect">
            <a:avLst/>
          </a:prstGeom>
          <a:solidFill>
            <a:schemeClr val="tx1"/>
          </a:solidFill>
          <a:ln w="12700">
            <a:solidFill>
              <a:schemeClr val="tx1"/>
            </a:solidFill>
            <a:prstDash val="solid"/>
          </a:ln>
        </p:spPr>
      </p:sp>
      <p:sp>
        <p:nvSpPr>
          <p:cNvPr id="32" name="Shape 28"/>
          <p:cNvSpPr/>
          <p:nvPr/>
        </p:nvSpPr>
        <p:spPr>
          <a:xfrm>
            <a:off x="9317736" y="2167128"/>
            <a:ext cx="512064" cy="512064"/>
          </a:xfrm>
          <a:prstGeom prst="rect">
            <a:avLst/>
          </a:prstGeom>
          <a:solidFill>
            <a:schemeClr val="tx1"/>
          </a:solidFill>
          <a:ln w="12700">
            <a:solidFill>
              <a:schemeClr val="tx1"/>
            </a:solidFill>
            <a:prstDash val="solid"/>
          </a:ln>
        </p:spPr>
      </p:sp>
      <p:sp>
        <p:nvSpPr>
          <p:cNvPr id="33" name="Shape 29"/>
          <p:cNvSpPr/>
          <p:nvPr/>
        </p:nvSpPr>
        <p:spPr>
          <a:xfrm>
            <a:off x="9829800" y="2167128"/>
            <a:ext cx="512064" cy="512064"/>
          </a:xfrm>
          <a:prstGeom prst="rect">
            <a:avLst/>
          </a:prstGeom>
          <a:solidFill>
            <a:schemeClr val="tx1"/>
          </a:solidFill>
          <a:ln w="12700">
            <a:solidFill>
              <a:schemeClr val="tx1"/>
            </a:solidFill>
            <a:prstDash val="solid"/>
          </a:ln>
        </p:spPr>
      </p:sp>
      <p:sp>
        <p:nvSpPr>
          <p:cNvPr id="34" name="Shape 30"/>
          <p:cNvSpPr/>
          <p:nvPr/>
        </p:nvSpPr>
        <p:spPr>
          <a:xfrm>
            <a:off x="10341864" y="2167128"/>
            <a:ext cx="512064" cy="512064"/>
          </a:xfrm>
          <a:prstGeom prst="rect">
            <a:avLst/>
          </a:prstGeom>
          <a:solidFill>
            <a:schemeClr val="tx1"/>
          </a:solidFill>
          <a:ln w="12700">
            <a:solidFill>
              <a:schemeClr val="tx1"/>
            </a:solidFill>
            <a:prstDash val="solid"/>
          </a:ln>
        </p:spPr>
      </p:sp>
      <p:sp>
        <p:nvSpPr>
          <p:cNvPr id="35" name="Shape 31"/>
          <p:cNvSpPr/>
          <p:nvPr/>
        </p:nvSpPr>
        <p:spPr>
          <a:xfrm>
            <a:off x="10408432" y="2233696"/>
            <a:ext cx="378927" cy="378927"/>
          </a:xfrm>
          <a:prstGeom prst="roundRect">
            <a:avLst>
              <a:gd name="adj" fmla="val 18000"/>
            </a:avLst>
          </a:prstGeom>
          <a:solidFill>
            <a:schemeClr val="accent2"/>
          </a:solidFill>
          <a:ln w="12700">
            <a:solidFill>
              <a:schemeClr val="accent2"/>
            </a:solidFill>
            <a:prstDash val="solid"/>
          </a:ln>
        </p:spPr>
      </p:sp>
      <p:sp>
        <p:nvSpPr>
          <p:cNvPr id="36" name="Shape 32"/>
          <p:cNvSpPr/>
          <p:nvPr/>
        </p:nvSpPr>
        <p:spPr>
          <a:xfrm>
            <a:off x="10853928" y="2167128"/>
            <a:ext cx="512064" cy="512064"/>
          </a:xfrm>
          <a:prstGeom prst="rect">
            <a:avLst/>
          </a:prstGeom>
          <a:solidFill>
            <a:schemeClr val="tx1"/>
          </a:solidFill>
          <a:ln w="12700">
            <a:solidFill>
              <a:schemeClr val="tx1"/>
            </a:solidFill>
            <a:prstDash val="solid"/>
          </a:ln>
        </p:spPr>
      </p:sp>
      <p:sp>
        <p:nvSpPr>
          <p:cNvPr id="37" name="Shape 33"/>
          <p:cNvSpPr/>
          <p:nvPr/>
        </p:nvSpPr>
        <p:spPr>
          <a:xfrm>
            <a:off x="11365992" y="2167128"/>
            <a:ext cx="512064" cy="512064"/>
          </a:xfrm>
          <a:prstGeom prst="rect">
            <a:avLst/>
          </a:prstGeom>
          <a:solidFill>
            <a:schemeClr val="tx2"/>
          </a:solidFill>
          <a:ln w="9525">
            <a:solidFill>
              <a:schemeClr val="tx1"/>
            </a:solidFill>
            <a:prstDash val="solid"/>
          </a:ln>
        </p:spPr>
      </p:sp>
      <p:sp>
        <p:nvSpPr>
          <p:cNvPr id="38" name="Shape 34"/>
          <p:cNvSpPr/>
          <p:nvPr/>
        </p:nvSpPr>
        <p:spPr>
          <a:xfrm>
            <a:off x="7269480" y="2679192"/>
            <a:ext cx="512064" cy="512064"/>
          </a:xfrm>
          <a:prstGeom prst="rect">
            <a:avLst/>
          </a:prstGeom>
          <a:solidFill>
            <a:schemeClr val="tx2"/>
          </a:solidFill>
          <a:ln w="9525">
            <a:solidFill>
              <a:schemeClr val="tx1"/>
            </a:solidFill>
            <a:prstDash val="solid"/>
          </a:ln>
        </p:spPr>
      </p:sp>
      <p:sp>
        <p:nvSpPr>
          <p:cNvPr id="39" name="Shape 35"/>
          <p:cNvSpPr/>
          <p:nvPr/>
        </p:nvSpPr>
        <p:spPr>
          <a:xfrm>
            <a:off x="7781544" y="2679192"/>
            <a:ext cx="512064" cy="512064"/>
          </a:xfrm>
          <a:prstGeom prst="rect">
            <a:avLst/>
          </a:prstGeom>
          <a:solidFill>
            <a:schemeClr val="tx1"/>
          </a:solidFill>
          <a:ln w="12700">
            <a:solidFill>
              <a:schemeClr val="tx1"/>
            </a:solidFill>
            <a:prstDash val="solid"/>
          </a:ln>
        </p:spPr>
      </p:sp>
      <p:sp>
        <p:nvSpPr>
          <p:cNvPr id="40" name="Shape 36"/>
          <p:cNvSpPr/>
          <p:nvPr/>
        </p:nvSpPr>
        <p:spPr>
          <a:xfrm>
            <a:off x="8293608" y="2679192"/>
            <a:ext cx="512064" cy="512064"/>
          </a:xfrm>
          <a:prstGeom prst="rect">
            <a:avLst/>
          </a:prstGeom>
          <a:solidFill>
            <a:schemeClr val="tx1"/>
          </a:solidFill>
          <a:ln w="12700">
            <a:solidFill>
              <a:schemeClr val="tx1"/>
            </a:solidFill>
            <a:prstDash val="solid"/>
          </a:ln>
        </p:spPr>
      </p:sp>
      <p:sp>
        <p:nvSpPr>
          <p:cNvPr id="41" name="Shape 37"/>
          <p:cNvSpPr/>
          <p:nvPr/>
        </p:nvSpPr>
        <p:spPr>
          <a:xfrm>
            <a:off x="8805672" y="2679192"/>
            <a:ext cx="512064" cy="512064"/>
          </a:xfrm>
          <a:prstGeom prst="rect">
            <a:avLst/>
          </a:prstGeom>
          <a:solidFill>
            <a:schemeClr val="tx2"/>
          </a:solidFill>
          <a:ln w="9525">
            <a:solidFill>
              <a:schemeClr val="tx1"/>
            </a:solidFill>
            <a:prstDash val="solid"/>
          </a:ln>
        </p:spPr>
      </p:sp>
      <p:sp>
        <p:nvSpPr>
          <p:cNvPr id="42" name="Shape 38"/>
          <p:cNvSpPr/>
          <p:nvPr/>
        </p:nvSpPr>
        <p:spPr>
          <a:xfrm>
            <a:off x="9317736" y="2679192"/>
            <a:ext cx="512064" cy="512064"/>
          </a:xfrm>
          <a:prstGeom prst="rect">
            <a:avLst/>
          </a:prstGeom>
          <a:solidFill>
            <a:schemeClr val="tx2"/>
          </a:solidFill>
          <a:ln w="9525">
            <a:solidFill>
              <a:schemeClr val="tx1"/>
            </a:solidFill>
            <a:prstDash val="solid"/>
          </a:ln>
        </p:spPr>
      </p:sp>
      <p:sp>
        <p:nvSpPr>
          <p:cNvPr id="43" name="Shape 39"/>
          <p:cNvSpPr/>
          <p:nvPr/>
        </p:nvSpPr>
        <p:spPr>
          <a:xfrm>
            <a:off x="9829800" y="2679192"/>
            <a:ext cx="512064" cy="512064"/>
          </a:xfrm>
          <a:prstGeom prst="rect">
            <a:avLst/>
          </a:prstGeom>
          <a:solidFill>
            <a:schemeClr val="tx1"/>
          </a:solidFill>
          <a:ln w="12700">
            <a:solidFill>
              <a:schemeClr val="tx1"/>
            </a:solidFill>
            <a:prstDash val="solid"/>
          </a:ln>
        </p:spPr>
      </p:sp>
      <p:sp>
        <p:nvSpPr>
          <p:cNvPr id="44" name="Shape 40"/>
          <p:cNvSpPr/>
          <p:nvPr/>
        </p:nvSpPr>
        <p:spPr>
          <a:xfrm>
            <a:off x="9978299" y="2827691"/>
            <a:ext cx="215067" cy="215067"/>
          </a:xfrm>
          <a:prstGeom prst="ellipse">
            <a:avLst/>
          </a:prstGeom>
          <a:solidFill>
            <a:schemeClr val="tx1"/>
          </a:solidFill>
          <a:ln w="25400">
            <a:solidFill>
              <a:schemeClr val="accent4"/>
            </a:solidFill>
            <a:prstDash val="solid"/>
          </a:ln>
        </p:spPr>
      </p:sp>
      <p:sp>
        <p:nvSpPr>
          <p:cNvPr id="45" name="Shape 41"/>
          <p:cNvSpPr/>
          <p:nvPr/>
        </p:nvSpPr>
        <p:spPr>
          <a:xfrm>
            <a:off x="10341864" y="2679192"/>
            <a:ext cx="512064" cy="512064"/>
          </a:xfrm>
          <a:prstGeom prst="rect">
            <a:avLst/>
          </a:prstGeom>
          <a:solidFill>
            <a:schemeClr val="tx1"/>
          </a:solidFill>
          <a:ln w="12700">
            <a:solidFill>
              <a:schemeClr val="tx1"/>
            </a:solidFill>
            <a:prstDash val="solid"/>
          </a:ln>
        </p:spPr>
      </p:sp>
      <p:sp>
        <p:nvSpPr>
          <p:cNvPr id="46" name="Shape 42"/>
          <p:cNvSpPr/>
          <p:nvPr/>
        </p:nvSpPr>
        <p:spPr>
          <a:xfrm>
            <a:off x="10853928" y="2679192"/>
            <a:ext cx="512064" cy="512064"/>
          </a:xfrm>
          <a:prstGeom prst="rect">
            <a:avLst/>
          </a:prstGeom>
          <a:solidFill>
            <a:schemeClr val="tx1"/>
          </a:solidFill>
          <a:ln w="12700">
            <a:solidFill>
              <a:schemeClr val="tx1"/>
            </a:solidFill>
            <a:prstDash val="solid"/>
          </a:ln>
        </p:spPr>
      </p:sp>
      <p:sp>
        <p:nvSpPr>
          <p:cNvPr id="47" name="Shape 43"/>
          <p:cNvSpPr/>
          <p:nvPr/>
        </p:nvSpPr>
        <p:spPr>
          <a:xfrm>
            <a:off x="11365992" y="2679192"/>
            <a:ext cx="512064" cy="512064"/>
          </a:xfrm>
          <a:prstGeom prst="rect">
            <a:avLst/>
          </a:prstGeom>
          <a:solidFill>
            <a:schemeClr val="tx2"/>
          </a:solidFill>
          <a:ln w="9525">
            <a:solidFill>
              <a:schemeClr val="tx1"/>
            </a:solidFill>
            <a:prstDash val="solid"/>
          </a:ln>
        </p:spPr>
      </p:sp>
      <p:sp>
        <p:nvSpPr>
          <p:cNvPr id="48" name="Shape 44"/>
          <p:cNvSpPr/>
          <p:nvPr/>
        </p:nvSpPr>
        <p:spPr>
          <a:xfrm>
            <a:off x="7269480" y="3191256"/>
            <a:ext cx="512064" cy="512064"/>
          </a:xfrm>
          <a:prstGeom prst="rect">
            <a:avLst/>
          </a:prstGeom>
          <a:solidFill>
            <a:schemeClr val="tx2"/>
          </a:solidFill>
          <a:ln w="9525">
            <a:solidFill>
              <a:schemeClr val="tx1"/>
            </a:solidFill>
            <a:prstDash val="solid"/>
          </a:ln>
        </p:spPr>
      </p:sp>
      <p:sp>
        <p:nvSpPr>
          <p:cNvPr id="49" name="Shape 45"/>
          <p:cNvSpPr/>
          <p:nvPr/>
        </p:nvSpPr>
        <p:spPr>
          <a:xfrm>
            <a:off x="7781544" y="3191256"/>
            <a:ext cx="512064" cy="512064"/>
          </a:xfrm>
          <a:prstGeom prst="rect">
            <a:avLst/>
          </a:prstGeom>
          <a:solidFill>
            <a:schemeClr val="tx1"/>
          </a:solidFill>
          <a:ln w="12700">
            <a:solidFill>
              <a:schemeClr val="tx1"/>
            </a:solidFill>
            <a:prstDash val="solid"/>
          </a:ln>
        </p:spPr>
      </p:sp>
      <p:sp>
        <p:nvSpPr>
          <p:cNvPr id="50" name="Shape 46"/>
          <p:cNvSpPr/>
          <p:nvPr/>
        </p:nvSpPr>
        <p:spPr>
          <a:xfrm>
            <a:off x="8293608" y="3191256"/>
            <a:ext cx="512064" cy="512064"/>
          </a:xfrm>
          <a:prstGeom prst="rect">
            <a:avLst/>
          </a:prstGeom>
          <a:solidFill>
            <a:schemeClr val="tx1"/>
          </a:solidFill>
          <a:ln w="12700">
            <a:solidFill>
              <a:schemeClr val="tx1"/>
            </a:solidFill>
            <a:prstDash val="solid"/>
          </a:ln>
        </p:spPr>
      </p:sp>
      <p:sp>
        <p:nvSpPr>
          <p:cNvPr id="51" name="Shape 47"/>
          <p:cNvSpPr/>
          <p:nvPr/>
        </p:nvSpPr>
        <p:spPr>
          <a:xfrm>
            <a:off x="8442107" y="3339755"/>
            <a:ext cx="215067" cy="215067"/>
          </a:xfrm>
          <a:prstGeom prst="ellipse">
            <a:avLst/>
          </a:prstGeom>
          <a:solidFill>
            <a:schemeClr val="tx1"/>
          </a:solidFill>
          <a:ln w="25400">
            <a:solidFill>
              <a:schemeClr val="accent4"/>
            </a:solidFill>
            <a:prstDash val="solid"/>
          </a:ln>
        </p:spPr>
      </p:sp>
      <p:sp>
        <p:nvSpPr>
          <p:cNvPr id="52" name="Shape 48"/>
          <p:cNvSpPr/>
          <p:nvPr/>
        </p:nvSpPr>
        <p:spPr>
          <a:xfrm>
            <a:off x="8805672" y="3191256"/>
            <a:ext cx="512064" cy="512064"/>
          </a:xfrm>
          <a:prstGeom prst="rect">
            <a:avLst/>
          </a:prstGeom>
          <a:solidFill>
            <a:schemeClr val="tx1"/>
          </a:solidFill>
          <a:ln w="12700">
            <a:solidFill>
              <a:schemeClr val="tx1"/>
            </a:solidFill>
            <a:prstDash val="solid"/>
          </a:ln>
        </p:spPr>
      </p:sp>
      <p:sp>
        <p:nvSpPr>
          <p:cNvPr id="53" name="Shape 49"/>
          <p:cNvSpPr/>
          <p:nvPr/>
        </p:nvSpPr>
        <p:spPr>
          <a:xfrm>
            <a:off x="9317736" y="3191256"/>
            <a:ext cx="512064" cy="512064"/>
          </a:xfrm>
          <a:prstGeom prst="rect">
            <a:avLst/>
          </a:prstGeom>
          <a:solidFill>
            <a:schemeClr val="tx1"/>
          </a:solidFill>
          <a:ln w="12700">
            <a:solidFill>
              <a:schemeClr val="tx1"/>
            </a:solidFill>
            <a:prstDash val="solid"/>
          </a:ln>
        </p:spPr>
      </p:sp>
      <p:sp>
        <p:nvSpPr>
          <p:cNvPr id="54" name="Shape 50"/>
          <p:cNvSpPr/>
          <p:nvPr/>
        </p:nvSpPr>
        <p:spPr>
          <a:xfrm>
            <a:off x="9420149" y="3293669"/>
            <a:ext cx="307238" cy="307238"/>
          </a:xfrm>
          <a:prstGeom prst="ellipse">
            <a:avLst/>
          </a:prstGeom>
          <a:solidFill>
            <a:schemeClr val="accent3"/>
          </a:solidFill>
          <a:ln w="12700">
            <a:solidFill>
              <a:schemeClr val="accent3"/>
            </a:solidFill>
            <a:prstDash val="solid"/>
          </a:ln>
        </p:spPr>
      </p:sp>
      <p:sp>
        <p:nvSpPr>
          <p:cNvPr id="55" name="Shape 51"/>
          <p:cNvSpPr/>
          <p:nvPr/>
        </p:nvSpPr>
        <p:spPr>
          <a:xfrm>
            <a:off x="9829800" y="3191256"/>
            <a:ext cx="512064" cy="512064"/>
          </a:xfrm>
          <a:prstGeom prst="rect">
            <a:avLst/>
          </a:prstGeom>
          <a:solidFill>
            <a:schemeClr val="tx1"/>
          </a:solidFill>
          <a:ln w="12700">
            <a:solidFill>
              <a:schemeClr val="tx1"/>
            </a:solidFill>
            <a:prstDash val="solid"/>
          </a:ln>
        </p:spPr>
      </p:sp>
      <p:sp>
        <p:nvSpPr>
          <p:cNvPr id="56" name="Shape 52"/>
          <p:cNvSpPr/>
          <p:nvPr/>
        </p:nvSpPr>
        <p:spPr>
          <a:xfrm>
            <a:off x="10341864" y="3191256"/>
            <a:ext cx="512064" cy="512064"/>
          </a:xfrm>
          <a:prstGeom prst="rect">
            <a:avLst/>
          </a:prstGeom>
          <a:solidFill>
            <a:schemeClr val="tx1"/>
          </a:solidFill>
          <a:ln w="12700">
            <a:solidFill>
              <a:schemeClr val="tx1"/>
            </a:solidFill>
            <a:prstDash val="solid"/>
          </a:ln>
        </p:spPr>
      </p:sp>
      <p:sp>
        <p:nvSpPr>
          <p:cNvPr id="57" name="Shape 53"/>
          <p:cNvSpPr/>
          <p:nvPr/>
        </p:nvSpPr>
        <p:spPr>
          <a:xfrm>
            <a:off x="10490363" y="3339755"/>
            <a:ext cx="215067" cy="215067"/>
          </a:xfrm>
          <a:prstGeom prst="ellipse">
            <a:avLst/>
          </a:prstGeom>
          <a:solidFill>
            <a:schemeClr val="tx1"/>
          </a:solidFill>
          <a:ln w="25400">
            <a:solidFill>
              <a:schemeClr val="accent4"/>
            </a:solidFill>
            <a:prstDash val="solid"/>
          </a:ln>
        </p:spPr>
      </p:sp>
      <p:sp>
        <p:nvSpPr>
          <p:cNvPr id="58" name="Shape 54"/>
          <p:cNvSpPr/>
          <p:nvPr/>
        </p:nvSpPr>
        <p:spPr>
          <a:xfrm>
            <a:off x="10853928" y="3191256"/>
            <a:ext cx="512064" cy="512064"/>
          </a:xfrm>
          <a:prstGeom prst="rect">
            <a:avLst/>
          </a:prstGeom>
          <a:solidFill>
            <a:schemeClr val="tx1"/>
          </a:solidFill>
          <a:ln w="12700">
            <a:solidFill>
              <a:schemeClr val="tx1"/>
            </a:solidFill>
            <a:prstDash val="solid"/>
          </a:ln>
        </p:spPr>
      </p:sp>
      <p:sp>
        <p:nvSpPr>
          <p:cNvPr id="59" name="Shape 55"/>
          <p:cNvSpPr/>
          <p:nvPr/>
        </p:nvSpPr>
        <p:spPr>
          <a:xfrm>
            <a:off x="11365992" y="3191256"/>
            <a:ext cx="512064" cy="512064"/>
          </a:xfrm>
          <a:prstGeom prst="rect">
            <a:avLst/>
          </a:prstGeom>
          <a:solidFill>
            <a:schemeClr val="tx2"/>
          </a:solidFill>
          <a:ln w="9525">
            <a:solidFill>
              <a:schemeClr val="tx1"/>
            </a:solidFill>
            <a:prstDash val="solid"/>
          </a:ln>
        </p:spPr>
      </p:sp>
      <p:sp>
        <p:nvSpPr>
          <p:cNvPr id="60" name="Shape 56"/>
          <p:cNvSpPr/>
          <p:nvPr/>
        </p:nvSpPr>
        <p:spPr>
          <a:xfrm>
            <a:off x="7269480" y="3703320"/>
            <a:ext cx="512064" cy="512064"/>
          </a:xfrm>
          <a:prstGeom prst="rect">
            <a:avLst/>
          </a:prstGeom>
          <a:solidFill>
            <a:schemeClr val="tx2"/>
          </a:solidFill>
          <a:ln w="9525">
            <a:solidFill>
              <a:schemeClr val="tx1"/>
            </a:solidFill>
            <a:prstDash val="solid"/>
          </a:ln>
        </p:spPr>
      </p:sp>
      <p:sp>
        <p:nvSpPr>
          <p:cNvPr id="61" name="Shape 57"/>
          <p:cNvSpPr/>
          <p:nvPr/>
        </p:nvSpPr>
        <p:spPr>
          <a:xfrm>
            <a:off x="7781544" y="3703320"/>
            <a:ext cx="512064" cy="512064"/>
          </a:xfrm>
          <a:prstGeom prst="rect">
            <a:avLst/>
          </a:prstGeom>
          <a:solidFill>
            <a:schemeClr val="tx1"/>
          </a:solidFill>
          <a:ln w="12700">
            <a:solidFill>
              <a:schemeClr val="tx1"/>
            </a:solidFill>
            <a:prstDash val="solid"/>
          </a:ln>
        </p:spPr>
      </p:sp>
      <p:sp>
        <p:nvSpPr>
          <p:cNvPr id="62" name="Shape 58"/>
          <p:cNvSpPr/>
          <p:nvPr/>
        </p:nvSpPr>
        <p:spPr>
          <a:xfrm>
            <a:off x="8293608" y="3703320"/>
            <a:ext cx="512064" cy="512064"/>
          </a:xfrm>
          <a:prstGeom prst="rect">
            <a:avLst/>
          </a:prstGeom>
          <a:solidFill>
            <a:schemeClr val="tx1"/>
          </a:solidFill>
          <a:ln w="12700">
            <a:solidFill>
              <a:schemeClr val="tx1"/>
            </a:solidFill>
            <a:prstDash val="solid"/>
          </a:ln>
        </p:spPr>
      </p:sp>
      <p:sp>
        <p:nvSpPr>
          <p:cNvPr id="63" name="Shape 59"/>
          <p:cNvSpPr/>
          <p:nvPr/>
        </p:nvSpPr>
        <p:spPr>
          <a:xfrm>
            <a:off x="8805672" y="3703320"/>
            <a:ext cx="512064" cy="512064"/>
          </a:xfrm>
          <a:prstGeom prst="rect">
            <a:avLst/>
          </a:prstGeom>
          <a:solidFill>
            <a:schemeClr val="tx1"/>
          </a:solidFill>
          <a:ln w="12700">
            <a:solidFill>
              <a:schemeClr val="tx1"/>
            </a:solidFill>
            <a:prstDash val="solid"/>
          </a:ln>
        </p:spPr>
      </p:sp>
      <p:sp>
        <p:nvSpPr>
          <p:cNvPr id="64" name="Shape 60"/>
          <p:cNvSpPr/>
          <p:nvPr/>
        </p:nvSpPr>
        <p:spPr>
          <a:xfrm>
            <a:off x="8872240" y="3769888"/>
            <a:ext cx="378927" cy="378927"/>
          </a:xfrm>
          <a:prstGeom prst="roundRect">
            <a:avLst>
              <a:gd name="adj" fmla="val 18000"/>
            </a:avLst>
          </a:prstGeom>
          <a:solidFill>
            <a:schemeClr val="accent2"/>
          </a:solidFill>
          <a:ln w="12700">
            <a:solidFill>
              <a:schemeClr val="accent2"/>
            </a:solidFill>
            <a:prstDash val="solid"/>
          </a:ln>
        </p:spPr>
      </p:sp>
      <p:sp>
        <p:nvSpPr>
          <p:cNvPr id="65" name="Shape 61"/>
          <p:cNvSpPr/>
          <p:nvPr/>
        </p:nvSpPr>
        <p:spPr>
          <a:xfrm>
            <a:off x="9317736" y="3703320"/>
            <a:ext cx="512064" cy="512064"/>
          </a:xfrm>
          <a:prstGeom prst="rect">
            <a:avLst/>
          </a:prstGeom>
          <a:solidFill>
            <a:schemeClr val="tx2"/>
          </a:solidFill>
          <a:ln w="9525">
            <a:solidFill>
              <a:schemeClr val="tx1"/>
            </a:solidFill>
            <a:prstDash val="solid"/>
          </a:ln>
        </p:spPr>
      </p:sp>
      <p:sp>
        <p:nvSpPr>
          <p:cNvPr id="66" name="Shape 62"/>
          <p:cNvSpPr/>
          <p:nvPr/>
        </p:nvSpPr>
        <p:spPr>
          <a:xfrm>
            <a:off x="9829800" y="3703320"/>
            <a:ext cx="512064" cy="512064"/>
          </a:xfrm>
          <a:prstGeom prst="rect">
            <a:avLst/>
          </a:prstGeom>
          <a:solidFill>
            <a:schemeClr val="tx2"/>
          </a:solidFill>
          <a:ln w="9525">
            <a:solidFill>
              <a:schemeClr val="tx1"/>
            </a:solidFill>
            <a:prstDash val="solid"/>
          </a:ln>
        </p:spPr>
      </p:sp>
      <p:sp>
        <p:nvSpPr>
          <p:cNvPr id="67" name="Shape 63"/>
          <p:cNvSpPr/>
          <p:nvPr/>
        </p:nvSpPr>
        <p:spPr>
          <a:xfrm>
            <a:off x="10341864" y="3703320"/>
            <a:ext cx="512064" cy="512064"/>
          </a:xfrm>
          <a:prstGeom prst="rect">
            <a:avLst/>
          </a:prstGeom>
          <a:solidFill>
            <a:schemeClr val="tx1"/>
          </a:solidFill>
          <a:ln w="12700">
            <a:solidFill>
              <a:schemeClr val="tx1"/>
            </a:solidFill>
            <a:prstDash val="solid"/>
          </a:ln>
        </p:spPr>
      </p:sp>
      <p:sp>
        <p:nvSpPr>
          <p:cNvPr id="68" name="Shape 64"/>
          <p:cNvSpPr/>
          <p:nvPr/>
        </p:nvSpPr>
        <p:spPr>
          <a:xfrm>
            <a:off x="10853928" y="3703320"/>
            <a:ext cx="512064" cy="512064"/>
          </a:xfrm>
          <a:prstGeom prst="rect">
            <a:avLst/>
          </a:prstGeom>
          <a:solidFill>
            <a:schemeClr val="tx1"/>
          </a:solidFill>
          <a:ln w="12700">
            <a:solidFill>
              <a:schemeClr val="tx1"/>
            </a:solidFill>
            <a:prstDash val="solid"/>
          </a:ln>
        </p:spPr>
      </p:sp>
      <p:sp>
        <p:nvSpPr>
          <p:cNvPr id="69" name="Shape 65"/>
          <p:cNvSpPr/>
          <p:nvPr/>
        </p:nvSpPr>
        <p:spPr>
          <a:xfrm>
            <a:off x="11365992" y="3703320"/>
            <a:ext cx="512064" cy="512064"/>
          </a:xfrm>
          <a:prstGeom prst="rect">
            <a:avLst/>
          </a:prstGeom>
          <a:solidFill>
            <a:schemeClr val="tx2"/>
          </a:solidFill>
          <a:ln w="9525">
            <a:solidFill>
              <a:schemeClr val="tx1"/>
            </a:solidFill>
            <a:prstDash val="solid"/>
          </a:ln>
        </p:spPr>
      </p:sp>
      <p:sp>
        <p:nvSpPr>
          <p:cNvPr id="70" name="Shape 66"/>
          <p:cNvSpPr/>
          <p:nvPr/>
        </p:nvSpPr>
        <p:spPr>
          <a:xfrm>
            <a:off x="7269480" y="4215384"/>
            <a:ext cx="512064" cy="512064"/>
          </a:xfrm>
          <a:prstGeom prst="rect">
            <a:avLst/>
          </a:prstGeom>
          <a:solidFill>
            <a:schemeClr val="tx2"/>
          </a:solidFill>
          <a:ln w="9525">
            <a:solidFill>
              <a:schemeClr val="tx1"/>
            </a:solidFill>
            <a:prstDash val="solid"/>
          </a:ln>
        </p:spPr>
      </p:sp>
      <p:sp>
        <p:nvSpPr>
          <p:cNvPr id="71" name="Shape 67"/>
          <p:cNvSpPr/>
          <p:nvPr/>
        </p:nvSpPr>
        <p:spPr>
          <a:xfrm>
            <a:off x="7781544" y="4215384"/>
            <a:ext cx="512064" cy="512064"/>
          </a:xfrm>
          <a:prstGeom prst="rect">
            <a:avLst/>
          </a:prstGeom>
          <a:solidFill>
            <a:schemeClr val="tx1"/>
          </a:solidFill>
          <a:ln w="12700">
            <a:solidFill>
              <a:schemeClr val="tx1"/>
            </a:solidFill>
            <a:prstDash val="solid"/>
          </a:ln>
        </p:spPr>
      </p:sp>
      <p:sp>
        <p:nvSpPr>
          <p:cNvPr id="72" name="Shape 68"/>
          <p:cNvSpPr/>
          <p:nvPr/>
        </p:nvSpPr>
        <p:spPr>
          <a:xfrm>
            <a:off x="8293608" y="4215384"/>
            <a:ext cx="512064" cy="512064"/>
          </a:xfrm>
          <a:prstGeom prst="rect">
            <a:avLst/>
          </a:prstGeom>
          <a:solidFill>
            <a:schemeClr val="tx1"/>
          </a:solidFill>
          <a:ln w="12700">
            <a:solidFill>
              <a:schemeClr val="tx1"/>
            </a:solidFill>
            <a:prstDash val="solid"/>
          </a:ln>
        </p:spPr>
      </p:sp>
      <p:sp>
        <p:nvSpPr>
          <p:cNvPr id="73" name="Shape 69"/>
          <p:cNvSpPr/>
          <p:nvPr/>
        </p:nvSpPr>
        <p:spPr>
          <a:xfrm>
            <a:off x="8805672" y="4215384"/>
            <a:ext cx="512064" cy="512064"/>
          </a:xfrm>
          <a:prstGeom prst="rect">
            <a:avLst/>
          </a:prstGeom>
          <a:solidFill>
            <a:schemeClr val="tx1"/>
          </a:solidFill>
          <a:ln w="12700">
            <a:solidFill>
              <a:schemeClr val="tx1"/>
            </a:solidFill>
            <a:prstDash val="solid"/>
          </a:ln>
        </p:spPr>
      </p:sp>
      <p:sp>
        <p:nvSpPr>
          <p:cNvPr id="74" name="Shape 70"/>
          <p:cNvSpPr/>
          <p:nvPr/>
        </p:nvSpPr>
        <p:spPr>
          <a:xfrm>
            <a:off x="9317736" y="4215384"/>
            <a:ext cx="512064" cy="512064"/>
          </a:xfrm>
          <a:prstGeom prst="rect">
            <a:avLst/>
          </a:prstGeom>
          <a:solidFill>
            <a:schemeClr val="tx1"/>
          </a:solidFill>
          <a:ln w="12700">
            <a:solidFill>
              <a:schemeClr val="tx1"/>
            </a:solidFill>
            <a:prstDash val="solid"/>
          </a:ln>
        </p:spPr>
      </p:sp>
      <p:sp>
        <p:nvSpPr>
          <p:cNvPr id="75" name="Shape 71"/>
          <p:cNvSpPr/>
          <p:nvPr/>
        </p:nvSpPr>
        <p:spPr>
          <a:xfrm>
            <a:off x="9829800" y="4215384"/>
            <a:ext cx="512064" cy="512064"/>
          </a:xfrm>
          <a:prstGeom prst="rect">
            <a:avLst/>
          </a:prstGeom>
          <a:solidFill>
            <a:schemeClr val="tx1"/>
          </a:solidFill>
          <a:ln w="12700">
            <a:solidFill>
              <a:schemeClr val="tx1"/>
            </a:solidFill>
            <a:prstDash val="solid"/>
          </a:ln>
        </p:spPr>
      </p:sp>
      <p:sp>
        <p:nvSpPr>
          <p:cNvPr id="76" name="Shape 72"/>
          <p:cNvSpPr/>
          <p:nvPr/>
        </p:nvSpPr>
        <p:spPr>
          <a:xfrm>
            <a:off x="10341864" y="4215384"/>
            <a:ext cx="512064" cy="512064"/>
          </a:xfrm>
          <a:prstGeom prst="rect">
            <a:avLst/>
          </a:prstGeom>
          <a:solidFill>
            <a:schemeClr val="tx1"/>
          </a:solidFill>
          <a:ln w="12700">
            <a:solidFill>
              <a:schemeClr val="tx1"/>
            </a:solidFill>
            <a:prstDash val="solid"/>
          </a:ln>
        </p:spPr>
      </p:sp>
      <p:sp>
        <p:nvSpPr>
          <p:cNvPr id="77" name="Shape 73"/>
          <p:cNvSpPr/>
          <p:nvPr/>
        </p:nvSpPr>
        <p:spPr>
          <a:xfrm>
            <a:off x="10853928" y="4215384"/>
            <a:ext cx="512064" cy="512064"/>
          </a:xfrm>
          <a:prstGeom prst="rect">
            <a:avLst/>
          </a:prstGeom>
          <a:solidFill>
            <a:schemeClr val="tx1"/>
          </a:solidFill>
          <a:ln w="12700">
            <a:solidFill>
              <a:schemeClr val="tx1"/>
            </a:solidFill>
            <a:prstDash val="solid"/>
          </a:ln>
        </p:spPr>
      </p:sp>
      <p:sp>
        <p:nvSpPr>
          <p:cNvPr id="78" name="Shape 74"/>
          <p:cNvSpPr/>
          <p:nvPr/>
        </p:nvSpPr>
        <p:spPr>
          <a:xfrm>
            <a:off x="11365992" y="4215384"/>
            <a:ext cx="512064" cy="512064"/>
          </a:xfrm>
          <a:prstGeom prst="rect">
            <a:avLst/>
          </a:prstGeom>
          <a:solidFill>
            <a:schemeClr val="tx2"/>
          </a:solidFill>
          <a:ln w="9525">
            <a:solidFill>
              <a:schemeClr val="tx1"/>
            </a:solidFill>
            <a:prstDash val="solid"/>
          </a:ln>
        </p:spPr>
      </p:sp>
      <p:sp>
        <p:nvSpPr>
          <p:cNvPr id="79" name="Shape 75"/>
          <p:cNvSpPr/>
          <p:nvPr/>
        </p:nvSpPr>
        <p:spPr>
          <a:xfrm>
            <a:off x="7269480" y="4727448"/>
            <a:ext cx="512064" cy="512064"/>
          </a:xfrm>
          <a:prstGeom prst="rect">
            <a:avLst/>
          </a:prstGeom>
          <a:solidFill>
            <a:schemeClr val="tx2"/>
          </a:solidFill>
          <a:ln w="9525">
            <a:solidFill>
              <a:schemeClr val="tx1"/>
            </a:solidFill>
            <a:prstDash val="solid"/>
          </a:ln>
        </p:spPr>
      </p:sp>
      <p:sp>
        <p:nvSpPr>
          <p:cNvPr id="80" name="Shape 76"/>
          <p:cNvSpPr/>
          <p:nvPr/>
        </p:nvSpPr>
        <p:spPr>
          <a:xfrm>
            <a:off x="7781544" y="4727448"/>
            <a:ext cx="512064" cy="512064"/>
          </a:xfrm>
          <a:prstGeom prst="rect">
            <a:avLst/>
          </a:prstGeom>
          <a:solidFill>
            <a:schemeClr val="tx2"/>
          </a:solidFill>
          <a:ln w="9525">
            <a:solidFill>
              <a:schemeClr val="tx1"/>
            </a:solidFill>
            <a:prstDash val="solid"/>
          </a:ln>
        </p:spPr>
      </p:sp>
      <p:sp>
        <p:nvSpPr>
          <p:cNvPr id="81" name="Shape 77"/>
          <p:cNvSpPr/>
          <p:nvPr/>
        </p:nvSpPr>
        <p:spPr>
          <a:xfrm>
            <a:off x="8293608" y="4727448"/>
            <a:ext cx="512064" cy="512064"/>
          </a:xfrm>
          <a:prstGeom prst="rect">
            <a:avLst/>
          </a:prstGeom>
          <a:solidFill>
            <a:schemeClr val="tx2"/>
          </a:solidFill>
          <a:ln w="9525">
            <a:solidFill>
              <a:schemeClr val="tx1"/>
            </a:solidFill>
            <a:prstDash val="solid"/>
          </a:ln>
        </p:spPr>
      </p:sp>
      <p:sp>
        <p:nvSpPr>
          <p:cNvPr id="82" name="Shape 78"/>
          <p:cNvSpPr/>
          <p:nvPr/>
        </p:nvSpPr>
        <p:spPr>
          <a:xfrm>
            <a:off x="8805672" y="4727448"/>
            <a:ext cx="512064" cy="512064"/>
          </a:xfrm>
          <a:prstGeom prst="rect">
            <a:avLst/>
          </a:prstGeom>
          <a:solidFill>
            <a:schemeClr val="tx2"/>
          </a:solidFill>
          <a:ln w="9525">
            <a:solidFill>
              <a:schemeClr val="tx1"/>
            </a:solidFill>
            <a:prstDash val="solid"/>
          </a:ln>
        </p:spPr>
      </p:sp>
      <p:sp>
        <p:nvSpPr>
          <p:cNvPr id="83" name="Shape 79"/>
          <p:cNvSpPr/>
          <p:nvPr/>
        </p:nvSpPr>
        <p:spPr>
          <a:xfrm>
            <a:off x="9317736" y="4727448"/>
            <a:ext cx="512064" cy="512064"/>
          </a:xfrm>
          <a:prstGeom prst="rect">
            <a:avLst/>
          </a:prstGeom>
          <a:solidFill>
            <a:schemeClr val="tx2"/>
          </a:solidFill>
          <a:ln w="9525">
            <a:solidFill>
              <a:schemeClr val="tx1"/>
            </a:solidFill>
            <a:prstDash val="solid"/>
          </a:ln>
        </p:spPr>
      </p:sp>
      <p:sp>
        <p:nvSpPr>
          <p:cNvPr id="84" name="Shape 80"/>
          <p:cNvSpPr/>
          <p:nvPr/>
        </p:nvSpPr>
        <p:spPr>
          <a:xfrm>
            <a:off x="9829800" y="4727448"/>
            <a:ext cx="512064" cy="512064"/>
          </a:xfrm>
          <a:prstGeom prst="rect">
            <a:avLst/>
          </a:prstGeom>
          <a:solidFill>
            <a:schemeClr val="tx2"/>
          </a:solidFill>
          <a:ln w="9525">
            <a:solidFill>
              <a:schemeClr val="tx1"/>
            </a:solidFill>
            <a:prstDash val="solid"/>
          </a:ln>
        </p:spPr>
      </p:sp>
      <p:sp>
        <p:nvSpPr>
          <p:cNvPr id="85" name="Shape 81"/>
          <p:cNvSpPr/>
          <p:nvPr/>
        </p:nvSpPr>
        <p:spPr>
          <a:xfrm>
            <a:off x="10341864" y="4727448"/>
            <a:ext cx="512064" cy="512064"/>
          </a:xfrm>
          <a:prstGeom prst="rect">
            <a:avLst/>
          </a:prstGeom>
          <a:solidFill>
            <a:schemeClr val="tx2"/>
          </a:solidFill>
          <a:ln w="9525">
            <a:solidFill>
              <a:schemeClr val="tx1"/>
            </a:solidFill>
            <a:prstDash val="solid"/>
          </a:ln>
        </p:spPr>
      </p:sp>
      <p:sp>
        <p:nvSpPr>
          <p:cNvPr id="86" name="Shape 82"/>
          <p:cNvSpPr/>
          <p:nvPr/>
        </p:nvSpPr>
        <p:spPr>
          <a:xfrm>
            <a:off x="10853928" y="4727448"/>
            <a:ext cx="512064" cy="512064"/>
          </a:xfrm>
          <a:prstGeom prst="rect">
            <a:avLst/>
          </a:prstGeom>
          <a:solidFill>
            <a:schemeClr val="tx2"/>
          </a:solidFill>
          <a:ln w="9525">
            <a:solidFill>
              <a:schemeClr val="tx1"/>
            </a:solidFill>
            <a:prstDash val="solid"/>
          </a:ln>
        </p:spPr>
      </p:sp>
      <p:sp>
        <p:nvSpPr>
          <p:cNvPr id="87" name="Shape 83"/>
          <p:cNvSpPr/>
          <p:nvPr/>
        </p:nvSpPr>
        <p:spPr>
          <a:xfrm>
            <a:off x="11365992" y="4727448"/>
            <a:ext cx="512064" cy="512064"/>
          </a:xfrm>
          <a:prstGeom prst="rect">
            <a:avLst/>
          </a:prstGeom>
          <a:solidFill>
            <a:schemeClr val="tx2"/>
          </a:solidFill>
          <a:ln w="9525">
            <a:solidFill>
              <a:schemeClr val="tx1"/>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424160" cy="777240"/>
          </a:xfrm>
          <a:prstGeom prst="rect">
            <a:avLst/>
          </a:prstGeom>
          <a:noFill/>
          <a:ln/>
        </p:spPr>
        <p:txBody>
          <a:bodyPr wrap="square" lIns="0" tIns="0" rIns="0" bIns="0" rtlCol="0" anchor="ctr"/>
          <a:lstStyle/>
          <a:p>
            <a:pPr algn="l" indent="0" marL="0">
              <a:buNone/>
            </a:pPr>
            <a:r>
              <a:rPr lang="en-US" sz="3200" b="1" dirty="0">
                <a:solidFill>
                  <a:schemeClr val="tx1"/>
                </a:solidFill>
              </a:rPr>
              <a:t>Trois objectifs, une seule classe Java</a:t>
            </a:r>
            <a:endParaRPr lang="en-US" sz="3200" dirty="0"/>
          </a:p>
        </p:txBody>
      </p:sp>
      <p:sp>
        <p:nvSpPr>
          <p:cNvPr id="3" name="carte-Jouer"/>
          <p:cNvSpPr/>
          <p:nvPr/>
        </p:nvSpPr>
        <p:spPr>
          <a:xfrm>
            <a:off x="548640" y="1371600"/>
            <a:ext cx="3474720" cy="3794760"/>
          </a:xfrm>
          <a:prstGeom prst="roundRect">
            <a:avLst>
              <a:gd name="adj" fmla="val 3158"/>
            </a:avLst>
          </a:prstGeom>
          <a:solidFill>
            <a:schemeClr val="bg2"/>
          </a:solidFill>
          <a:ln w="12700">
            <a:solidFill>
              <a:schemeClr val="bg2"/>
            </a:solidFill>
            <a:prstDash val="solid"/>
          </a:ln>
        </p:spPr>
      </p:sp>
      <p:sp>
        <p:nvSpPr>
          <p:cNvPr id="4" name="Text 2"/>
          <p:cNvSpPr/>
          <p:nvPr/>
        </p:nvSpPr>
        <p:spPr>
          <a:xfrm>
            <a:off x="868680" y="16459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554480" y="1627632"/>
            <a:ext cx="2286000" cy="365760"/>
          </a:xfrm>
          <a:prstGeom prst="rect">
            <a:avLst/>
          </a:prstGeom>
          <a:noFill/>
          <a:ln/>
        </p:spPr>
        <p:txBody>
          <a:bodyPr wrap="square" lIns="0" tIns="0" rIns="0" bIns="0" rtlCol="0" anchor="t"/>
          <a:lstStyle/>
          <a:p>
            <a:pPr indent="0" marL="0">
              <a:buNone/>
            </a:pPr>
            <a:r>
              <a:rPr lang="en-US" sz="2200" b="1" dirty="0">
                <a:solidFill>
                  <a:schemeClr val="tx1"/>
                </a:solidFill>
              </a:rPr>
              <a:t>Jouer</a:t>
            </a:r>
            <a:endParaRPr lang="en-US" sz="2200" dirty="0"/>
          </a:p>
        </p:txBody>
      </p:sp>
      <p:sp>
        <p:nvSpPr>
          <p:cNvPr id="6" name="Text 4"/>
          <p:cNvSpPr txBox="1"/>
          <p:nvPr/>
        </p:nvSpPr>
        <p:spPr>
          <a:xfrm>
            <a:off x="1554480" y="2011680"/>
            <a:ext cx="2286000" cy="274320"/>
          </a:xfrm>
          <a:prstGeom prst="rect">
            <a:avLst/>
          </a:prstGeom>
          <a:noFill/>
          <a:ln/>
        </p:spPr>
        <p:txBody>
          <a:bodyPr wrap="square" lIns="0" tIns="0" rIns="0" bIns="0" rtlCol="0" anchor="t"/>
          <a:lstStyle/>
          <a:p>
            <a:pPr indent="0" marL="0">
              <a:buNone/>
            </a:pPr>
            <a:r>
              <a:rPr lang="en-US" sz="1200" dirty="0">
                <a:solidFill>
                  <a:schemeClr val="accent5"/>
                </a:solidFill>
              </a:rPr>
              <a:t>Parties A, B, C</a:t>
            </a:r>
            <a:endParaRPr lang="en-US" sz="1200" dirty="0"/>
          </a:p>
        </p:txBody>
      </p:sp>
      <p:sp>
        <p:nvSpPr>
          <p:cNvPr id="7" name="Text 5"/>
          <p:cNvSpPr txBox="1"/>
          <p:nvPr/>
        </p:nvSpPr>
        <p:spPr>
          <a:xfrm>
            <a:off x="868680" y="2560320"/>
            <a:ext cx="292608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Grille affichée en console</a:t>
            </a:r>
            <a:endParaRPr lang="en-US" sz="1500" dirty="0"/>
          </a:p>
          <a:p>
            <a:pPr marL="342900" indent="-342900">
              <a:spcAft>
                <a:spcPts val="600"/>
              </a:spcAft>
              <a:buSzPct val="100000"/>
              <a:buChar char="•"/>
            </a:pPr>
            <a:r>
              <a:rPr lang="en-US" sz="1500" dirty="0">
                <a:solidFill>
                  <a:schemeClr val="tx1"/>
                </a:solidFill>
              </a:rPr>
              <a:t>z / q / s / d, x pour quitter</a:t>
            </a:r>
            <a:endParaRPr lang="en-US" sz="1500" dirty="0"/>
          </a:p>
          <a:p>
            <a:pPr marL="342900" indent="-342900">
              <a:spcAft>
                <a:spcPts val="600"/>
              </a:spcAft>
              <a:buSzPct val="100000"/>
              <a:buChar char="•"/>
            </a:pPr>
            <a:r>
              <a:rPr lang="en-US" sz="1500" dirty="0">
                <a:solidFill>
                  <a:schemeClr val="tx1"/>
                </a:solidFill>
              </a:rPr>
              <a:t>Murs, poussée de caisses</a:t>
            </a:r>
            <a:endParaRPr lang="en-US" sz="1500" dirty="0"/>
          </a:p>
          <a:p>
            <a:pPr marL="342900" indent="-342900">
              <a:spcAft>
                <a:spcPts val="600"/>
              </a:spcAft>
              <a:buSzPct val="100000"/>
              <a:buChar char="•"/>
            </a:pPr>
            <a:r>
              <a:rPr lang="en-US" sz="1500" dirty="0">
                <a:solidFill>
                  <a:schemeClr val="tx1"/>
                </a:solidFill>
              </a:rPr>
              <a:t>Victoire et compteur</a:t>
            </a:r>
            <a:endParaRPr lang="en-US" sz="1500" dirty="0"/>
          </a:p>
          <a:p>
            <a:pPr marL="342900" indent="-342900">
              <a:spcAft>
                <a:spcPts val="600"/>
              </a:spcAft>
              <a:buSzPct val="100000"/>
              <a:buChar char="•"/>
            </a:pPr>
            <a:r>
              <a:rPr lang="en-US" sz="1500" dirty="0">
                <a:solidFill>
                  <a:schemeClr val="tx1"/>
                </a:solidFill>
              </a:rPr>
              <a:t>4 niveaux au choix</a:t>
            </a:r>
            <a:endParaRPr lang="en-US" sz="1500" dirty="0"/>
          </a:p>
        </p:txBody>
      </p:sp>
      <p:sp>
        <p:nvSpPr>
          <p:cNvPr id="8" name="carte-Résoudre"/>
          <p:cNvSpPr/>
          <p:nvPr/>
        </p:nvSpPr>
        <p:spPr>
          <a:xfrm>
            <a:off x="4297680" y="1371600"/>
            <a:ext cx="3474720" cy="3794760"/>
          </a:xfrm>
          <a:prstGeom prst="roundRect">
            <a:avLst>
              <a:gd name="adj" fmla="val 3158"/>
            </a:avLst>
          </a:prstGeom>
          <a:solidFill>
            <a:schemeClr val="bg2"/>
          </a:solidFill>
          <a:ln w="12700">
            <a:solidFill>
              <a:schemeClr val="bg2"/>
            </a:solidFill>
            <a:prstDash val="solid"/>
          </a:ln>
        </p:spPr>
      </p:sp>
      <p:sp>
        <p:nvSpPr>
          <p:cNvPr id="9" name="Text 7"/>
          <p:cNvSpPr/>
          <p:nvPr/>
        </p:nvSpPr>
        <p:spPr>
          <a:xfrm>
            <a:off x="4617720" y="16459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5303520" y="1627632"/>
            <a:ext cx="2286000" cy="365760"/>
          </a:xfrm>
          <a:prstGeom prst="rect">
            <a:avLst/>
          </a:prstGeom>
          <a:noFill/>
          <a:ln/>
        </p:spPr>
        <p:txBody>
          <a:bodyPr wrap="square" lIns="0" tIns="0" rIns="0" bIns="0" rtlCol="0" anchor="t"/>
          <a:lstStyle/>
          <a:p>
            <a:pPr indent="0" marL="0">
              <a:buNone/>
            </a:pPr>
            <a:r>
              <a:rPr lang="en-US" sz="2200" b="1" dirty="0">
                <a:solidFill>
                  <a:schemeClr val="tx1"/>
                </a:solidFill>
              </a:rPr>
              <a:t>Résoudre</a:t>
            </a:r>
            <a:endParaRPr lang="en-US" sz="2200" dirty="0"/>
          </a:p>
        </p:txBody>
      </p:sp>
      <p:sp>
        <p:nvSpPr>
          <p:cNvPr id="11" name="Text 9"/>
          <p:cNvSpPr txBox="1"/>
          <p:nvPr/>
        </p:nvSpPr>
        <p:spPr>
          <a:xfrm>
            <a:off x="5303520" y="2011680"/>
            <a:ext cx="2286000" cy="274320"/>
          </a:xfrm>
          <a:prstGeom prst="rect">
            <a:avLst/>
          </a:prstGeom>
          <a:noFill/>
          <a:ln/>
        </p:spPr>
        <p:txBody>
          <a:bodyPr wrap="square" lIns="0" tIns="0" rIns="0" bIns="0" rtlCol="0" anchor="t"/>
          <a:lstStyle/>
          <a:p>
            <a:pPr indent="0" marL="0">
              <a:buNone/>
            </a:pPr>
            <a:r>
              <a:rPr lang="en-US" sz="1200" dirty="0">
                <a:solidFill>
                  <a:schemeClr val="accent5"/>
                </a:solidFill>
              </a:rPr>
              <a:t>Parties D, E, F</a:t>
            </a:r>
            <a:endParaRPr lang="en-US" sz="1200" dirty="0"/>
          </a:p>
        </p:txBody>
      </p:sp>
      <p:sp>
        <p:nvSpPr>
          <p:cNvPr id="12" name="Text 10"/>
          <p:cNvSpPr txBox="1"/>
          <p:nvPr/>
        </p:nvSpPr>
        <p:spPr>
          <a:xfrm>
            <a:off x="4617720" y="2560320"/>
            <a:ext cx="292608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État = joueur + caisses</a:t>
            </a:r>
            <a:endParaRPr lang="en-US" sz="1500" dirty="0"/>
          </a:p>
          <a:p>
            <a:pPr marL="342900" indent="-342900">
              <a:spcAft>
                <a:spcPts val="600"/>
              </a:spcAft>
              <a:buSzPct val="100000"/>
              <a:buChar char="•"/>
            </a:pPr>
            <a:r>
              <a:rPr lang="en-US" sz="1500" dirty="0">
                <a:solidFill>
                  <a:schemeClr val="tx1"/>
                </a:solidFill>
              </a:rPr>
              <a:t>DFS récursif</a:t>
            </a:r>
            <a:endParaRPr lang="en-US" sz="1500" dirty="0"/>
          </a:p>
          <a:p>
            <a:pPr marL="342900" indent="-342900">
              <a:spcAft>
                <a:spcPts val="600"/>
              </a:spcAft>
              <a:buSzPct val="100000"/>
              <a:buChar char="•"/>
            </a:pPr>
            <a:r>
              <a:rPr lang="en-US" sz="1500" dirty="0">
                <a:solidFill>
                  <a:schemeClr val="tx1"/>
                </a:solidFill>
              </a:rPr>
              <a:t>BFS avec une file</a:t>
            </a:r>
            <a:endParaRPr lang="en-US" sz="1500" dirty="0"/>
          </a:p>
          <a:p>
            <a:pPr marL="342900" indent="-342900">
              <a:spcAft>
                <a:spcPts val="600"/>
              </a:spcAft>
              <a:buSzPct val="100000"/>
              <a:buChar char="•"/>
            </a:pPr>
            <a:r>
              <a:rPr lang="en-US" sz="1500" dirty="0">
                <a:solidFill>
                  <a:schemeClr val="tx1"/>
                </a:solidFill>
              </a:rPr>
              <a:t>États visités mémorisés</a:t>
            </a:r>
            <a:endParaRPr lang="en-US" sz="1500" dirty="0"/>
          </a:p>
          <a:p>
            <a:pPr marL="342900" indent="-342900">
              <a:spcAft>
                <a:spcPts val="600"/>
              </a:spcAft>
              <a:buSzPct val="100000"/>
              <a:buChar char="•"/>
            </a:pPr>
            <a:r>
              <a:rPr lang="en-US" sz="1500" dirty="0">
                <a:solidFill>
                  <a:schemeClr val="tx1"/>
                </a:solidFill>
              </a:rPr>
              <a:t>Solution rejouée pas à pas</a:t>
            </a:r>
            <a:endParaRPr lang="en-US" sz="1500" dirty="0"/>
          </a:p>
        </p:txBody>
      </p:sp>
      <p:sp>
        <p:nvSpPr>
          <p:cNvPr id="13" name="carte-Comparer"/>
          <p:cNvSpPr/>
          <p:nvPr/>
        </p:nvSpPr>
        <p:spPr>
          <a:xfrm>
            <a:off x="8046720" y="1371600"/>
            <a:ext cx="3474720" cy="3794760"/>
          </a:xfrm>
          <a:prstGeom prst="roundRect">
            <a:avLst>
              <a:gd name="adj" fmla="val 3158"/>
            </a:avLst>
          </a:prstGeom>
          <a:solidFill>
            <a:schemeClr val="bg2"/>
          </a:solidFill>
          <a:ln w="12700">
            <a:solidFill>
              <a:schemeClr val="bg2"/>
            </a:solidFill>
            <a:prstDash val="solid"/>
          </a:ln>
        </p:spPr>
      </p:sp>
      <p:sp>
        <p:nvSpPr>
          <p:cNvPr id="14" name="Text 12"/>
          <p:cNvSpPr/>
          <p:nvPr/>
        </p:nvSpPr>
        <p:spPr>
          <a:xfrm>
            <a:off x="8366760" y="164592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Text 13"/>
          <p:cNvSpPr txBox="1"/>
          <p:nvPr/>
        </p:nvSpPr>
        <p:spPr>
          <a:xfrm>
            <a:off x="9052560" y="1627632"/>
            <a:ext cx="2286000" cy="365760"/>
          </a:xfrm>
          <a:prstGeom prst="rect">
            <a:avLst/>
          </a:prstGeom>
          <a:noFill/>
          <a:ln/>
        </p:spPr>
        <p:txBody>
          <a:bodyPr wrap="square" lIns="0" tIns="0" rIns="0" bIns="0" rtlCol="0" anchor="t"/>
          <a:lstStyle/>
          <a:p>
            <a:pPr indent="0" marL="0">
              <a:buNone/>
            </a:pPr>
            <a:r>
              <a:rPr lang="en-US" sz="2200" b="1" dirty="0">
                <a:solidFill>
                  <a:schemeClr val="tx1"/>
                </a:solidFill>
              </a:rPr>
              <a:t>Comparer</a:t>
            </a:r>
            <a:endParaRPr lang="en-US" sz="2200" dirty="0"/>
          </a:p>
        </p:txBody>
      </p:sp>
      <p:sp>
        <p:nvSpPr>
          <p:cNvPr id="16" name="Text 14"/>
          <p:cNvSpPr txBox="1"/>
          <p:nvPr/>
        </p:nvSpPr>
        <p:spPr>
          <a:xfrm>
            <a:off x="9052560" y="2011680"/>
            <a:ext cx="2286000" cy="274320"/>
          </a:xfrm>
          <a:prstGeom prst="rect">
            <a:avLst/>
          </a:prstGeom>
          <a:noFill/>
          <a:ln/>
        </p:spPr>
        <p:txBody>
          <a:bodyPr wrap="square" lIns="0" tIns="0" rIns="0" bIns="0" rtlCol="0" anchor="t"/>
          <a:lstStyle/>
          <a:p>
            <a:pPr indent="0" marL="0">
              <a:buNone/>
            </a:pPr>
            <a:r>
              <a:rPr lang="en-US" sz="1200" dirty="0">
                <a:solidFill>
                  <a:schemeClr val="accent5"/>
                </a:solidFill>
              </a:rPr>
              <a:t>Section 9</a:t>
            </a:r>
            <a:endParaRPr lang="en-US" sz="1200" dirty="0"/>
          </a:p>
        </p:txBody>
      </p:sp>
      <p:sp>
        <p:nvSpPr>
          <p:cNvPr id="17" name="Text 15"/>
          <p:cNvSpPr txBox="1"/>
          <p:nvPr/>
        </p:nvSpPr>
        <p:spPr>
          <a:xfrm>
            <a:off x="8366760" y="2560320"/>
            <a:ext cx="2926080" cy="23774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Solution trouvée ou non</a:t>
            </a:r>
            <a:endParaRPr lang="en-US" sz="1500" dirty="0"/>
          </a:p>
          <a:p>
            <a:pPr marL="342900" indent="-342900">
              <a:spcAft>
                <a:spcPts val="600"/>
              </a:spcAft>
              <a:buSzPct val="100000"/>
              <a:buChar char="•"/>
            </a:pPr>
            <a:r>
              <a:rPr lang="en-US" sz="1500" dirty="0">
                <a:solidFill>
                  <a:schemeClr val="tx1"/>
                </a:solidFill>
              </a:rPr>
              <a:t>Nombre de mouvements</a:t>
            </a:r>
            <a:endParaRPr lang="en-US" sz="1500" dirty="0"/>
          </a:p>
          <a:p>
            <a:pPr marL="342900" indent="-342900">
              <a:spcAft>
                <a:spcPts val="600"/>
              </a:spcAft>
              <a:buSzPct val="100000"/>
              <a:buChar char="•"/>
            </a:pPr>
            <a:r>
              <a:rPr lang="en-US" sz="1500" dirty="0">
                <a:solidFill>
                  <a:schemeClr val="tx1"/>
                </a:solidFill>
              </a:rPr>
              <a:t>États explorés</a:t>
            </a:r>
            <a:endParaRPr lang="en-US" sz="1500" dirty="0"/>
          </a:p>
          <a:p>
            <a:pPr marL="342900" indent="-342900">
              <a:spcAft>
                <a:spcPts val="600"/>
              </a:spcAft>
              <a:buSzPct val="100000"/>
              <a:buChar char="•"/>
            </a:pPr>
            <a:r>
              <a:rPr lang="en-US" sz="1500" dirty="0">
                <a:solidFill>
                  <a:schemeClr val="tx1"/>
                </a:solidFill>
              </a:rPr>
              <a:t>Temps d'exécution</a:t>
            </a:r>
            <a:endParaRPr lang="en-US" sz="1500" dirty="0"/>
          </a:p>
          <a:p>
            <a:pPr marL="342900" indent="-342900">
              <a:spcAft>
                <a:spcPts val="600"/>
              </a:spcAft>
              <a:buSzPct val="100000"/>
              <a:buChar char="•"/>
            </a:pPr>
            <a:r>
              <a:rPr lang="en-US" sz="1500" dirty="0">
                <a:solidFill>
                  <a:schemeClr val="tx1"/>
                </a:solidFill>
              </a:rPr>
              <a:t>Explication des écarts</a:t>
            </a:r>
            <a:endParaRPr lang="en-US" sz="1500" dirty="0"/>
          </a:p>
        </p:txBody>
      </p:sp>
      <p:sp>
        <p:nvSpPr>
          <p:cNvPr id="18" name="contraintes"/>
          <p:cNvSpPr/>
          <p:nvPr/>
        </p:nvSpPr>
        <p:spPr>
          <a:xfrm>
            <a:off x="548640" y="5440680"/>
            <a:ext cx="11064240" cy="685800"/>
          </a:xfrm>
          <a:prstGeom prst="roundRect">
            <a:avLst>
              <a:gd name="adj" fmla="val 16000"/>
            </a:avLst>
          </a:prstGeom>
          <a:solidFill>
            <a:schemeClr val="tx1"/>
          </a:solidFill>
          <a:ln w="12700">
            <a:solidFill>
              <a:schemeClr val="tx1"/>
            </a:solidFill>
            <a:prstDash val="solid"/>
          </a:ln>
        </p:spPr>
      </p:sp>
      <p:sp>
        <p:nvSpPr>
          <p:cNvPr id="19" name="Text 17"/>
          <p:cNvSpPr txBox="1"/>
          <p:nvPr/>
        </p:nvSpPr>
        <p:spPr>
          <a:xfrm>
            <a:off x="822960" y="5577840"/>
            <a:ext cx="10607040" cy="411480"/>
          </a:xfrm>
          <a:prstGeom prst="rect">
            <a:avLst/>
          </a:prstGeom>
          <a:noFill/>
          <a:ln/>
        </p:spPr>
        <p:txBody>
          <a:bodyPr wrap="square" lIns="0" tIns="0" rIns="0" bIns="0" rtlCol="0" anchor="ctr"/>
          <a:lstStyle/>
          <a:p>
            <a:pPr indent="0" marL="0">
              <a:buNone/>
            </a:pPr>
            <a:r>
              <a:rPr lang="en-US" sz="1500" b="1" dirty="0">
                <a:solidFill>
                  <a:schemeClr val="accent4"/>
                </a:solidFill>
              </a:rPr>
              <a:t>Contraintes du sujet :  </a:t>
            </a:r>
            <a:pPr indent="0" marL="0">
              <a:buNone/>
            </a:pPr>
            <a:r>
              <a:rPr lang="en-US" sz="1500" dirty="0">
                <a:solidFill>
                  <a:schemeClr val="bg1"/>
                </a:solidFill>
              </a:rPr>
              <a:t>console  ·  une classe principale  ·  tableaux  ·  ni ArrayList ni HashMap  ·  aucune bibliothèque externe</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424160" cy="777240"/>
          </a:xfrm>
          <a:prstGeom prst="rect">
            <a:avLst/>
          </a:prstGeom>
          <a:noFill/>
          <a:ln/>
        </p:spPr>
        <p:txBody>
          <a:bodyPr wrap="square" lIns="0" tIns="0" rIns="0" bIns="0" rtlCol="0" anchor="ctr"/>
          <a:lstStyle/>
          <a:p>
            <a:pPr algn="l" indent="0" marL="0">
              <a:buNone/>
            </a:pPr>
            <a:r>
              <a:rPr lang="en-US" sz="3200" b="1" dirty="0">
                <a:solidFill>
                  <a:schemeClr val="tx1"/>
                </a:solidFill>
              </a:rPr>
              <a:t>Architecture : une classe, des méthodes courtes</a:t>
            </a:r>
            <a:endParaRPr lang="en-US" sz="3200" dirty="0"/>
          </a:p>
        </p:txBody>
      </p:sp>
      <p:sp>
        <p:nvSpPr>
          <p:cNvPr id="3" name="Text 1"/>
          <p:cNvSpPr/>
          <p:nvPr/>
        </p:nvSpPr>
        <p:spPr>
          <a:xfrm>
            <a:off x="4617720" y="1325880"/>
            <a:ext cx="2926080" cy="548640"/>
          </a:xfrm>
          <a:prstGeom prst="roundRect">
            <a:avLst>
              <a:gd name="adj" fmla="val 16667"/>
            </a:avLst>
          </a:prstGeom>
          <a:solidFill>
            <a:schemeClr val="tx1"/>
          </a:solidFill>
          <a:ln>
            <a:solidFill>
              <a:schemeClr val="tx1"/>
            </a:solidFill>
          </a:ln>
        </p:spPr>
        <p:txBody>
          <a:bodyPr wrap="square" lIns="0" tIns="0" rIns="0" bIns="0" rtlCol="0" anchor="ctr"/>
          <a:lstStyle/>
          <a:p>
            <a:pPr algn="ctr" indent="0" marL="0">
              <a:buNone/>
            </a:pPr>
            <a:r>
              <a:rPr lang="en-US" sz="1500" b="1" dirty="0">
                <a:solidFill>
                  <a:schemeClr val="bg1"/>
                </a:solidFill>
                <a:latin typeface="Courier New" pitchFamily="34" charset="0"/>
                <a:ea typeface="Courier New" pitchFamily="34" charset="-122"/>
                <a:cs typeface="Courier New" pitchFamily="34" charset="-120"/>
              </a:rPr>
              <a:t>menuPrincipal()</a:t>
            </a:r>
            <a:endParaRPr lang="en-US" sz="1500" dirty="0"/>
          </a:p>
        </p:txBody>
      </p:sp>
      <p:sp>
        <p:nvSpPr>
          <p:cNvPr id="4" name="Shape 2"/>
          <p:cNvSpPr/>
          <p:nvPr/>
        </p:nvSpPr>
        <p:spPr>
          <a:xfrm flipH="1">
            <a:off x="1851660" y="1874520"/>
            <a:ext cx="4229100" cy="502920"/>
          </a:xfrm>
          <a:prstGeom prst="line">
            <a:avLst/>
          </a:prstGeom>
          <a:noFill/>
          <a:ln w="19050">
            <a:solidFill>
              <a:schemeClr val="accent5"/>
            </a:solidFill>
            <a:prstDash val="solid"/>
            <a:tailEnd type="triangle"/>
          </a:ln>
        </p:spPr>
      </p:sp>
      <p:sp>
        <p:nvSpPr>
          <p:cNvPr id="5" name="Text 3"/>
          <p:cNvSpPr/>
          <p:nvPr/>
        </p:nvSpPr>
        <p:spPr>
          <a:xfrm>
            <a:off x="548640" y="2377440"/>
            <a:ext cx="2606040" cy="502920"/>
          </a:xfrm>
          <a:prstGeom prst="roundRect">
            <a:avLst>
              <a:gd name="adj" fmla="val 14545"/>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Niveaux</a:t>
            </a:r>
            <a:endParaRPr lang="en-US" sz="1600" dirty="0"/>
          </a:p>
        </p:txBody>
      </p:sp>
      <p:sp>
        <p:nvSpPr>
          <p:cNvPr id="6" name="groupe-Niveaux"/>
          <p:cNvSpPr/>
          <p:nvPr/>
        </p:nvSpPr>
        <p:spPr>
          <a:xfrm>
            <a:off x="548640" y="2971800"/>
            <a:ext cx="2606040" cy="3017520"/>
          </a:xfrm>
          <a:prstGeom prst="roundRect">
            <a:avLst>
              <a:gd name="adj" fmla="val 4211"/>
            </a:avLst>
          </a:prstGeom>
          <a:solidFill>
            <a:schemeClr val="bg2"/>
          </a:solidFill>
          <a:ln w="12700">
            <a:solidFill>
              <a:schemeClr val="bg2"/>
            </a:solidFill>
            <a:prstDash val="solid"/>
          </a:ln>
        </p:spPr>
      </p:sp>
      <p:sp>
        <p:nvSpPr>
          <p:cNvPr id="7" name="Text 5"/>
          <p:cNvSpPr txBox="1"/>
          <p:nvPr/>
        </p:nvSpPr>
        <p:spPr>
          <a:xfrm>
            <a:off x="731520" y="3108960"/>
            <a:ext cx="2240280" cy="2743200"/>
          </a:xfrm>
          <a:prstGeom prst="rect">
            <a:avLst/>
          </a:prstGeom>
          <a:noFill/>
          <a:ln/>
        </p:spPr>
        <p:txBody>
          <a:bodyPr wrap="square" lIns="0" tIns="0" rIns="0" bIns="0" rtlCol="0" anchor="t"/>
          <a:lstStyle/>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chargerNiveau()</a:t>
            </a:r>
            <a:endParaRPr lang="en-US" sz="1250" dirty="0"/>
          </a:p>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chargerGrille()</a:t>
            </a:r>
            <a:endParaRPr lang="en-US" sz="1250" dirty="0"/>
          </a:p>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verifierNiveau()</a:t>
            </a:r>
            <a:endParaRPr lang="en-US" sz="1250" dirty="0"/>
          </a:p>
        </p:txBody>
      </p:sp>
      <p:sp>
        <p:nvSpPr>
          <p:cNvPr id="8" name="Shape 6"/>
          <p:cNvSpPr/>
          <p:nvPr/>
        </p:nvSpPr>
        <p:spPr>
          <a:xfrm flipH="1">
            <a:off x="4668012" y="1874520"/>
            <a:ext cx="1412748" cy="502920"/>
          </a:xfrm>
          <a:prstGeom prst="line">
            <a:avLst/>
          </a:prstGeom>
          <a:noFill/>
          <a:ln w="19050">
            <a:solidFill>
              <a:schemeClr val="accent5"/>
            </a:solidFill>
            <a:prstDash val="solid"/>
            <a:tailEnd type="triangle"/>
          </a:ln>
        </p:spPr>
      </p:sp>
      <p:sp>
        <p:nvSpPr>
          <p:cNvPr id="9" name="Text 7"/>
          <p:cNvSpPr/>
          <p:nvPr/>
        </p:nvSpPr>
        <p:spPr>
          <a:xfrm>
            <a:off x="3364992" y="2377440"/>
            <a:ext cx="2606040" cy="502920"/>
          </a:xfrm>
          <a:prstGeom prst="roundRect">
            <a:avLst>
              <a:gd name="adj" fmla="val 14545"/>
            </a:avLst>
          </a:prstGeom>
          <a:solidFill>
            <a:schemeClr val="accent1"/>
          </a:solidFill>
          <a:ln>
            <a:solidFill>
              <a:schemeClr val="accent1"/>
            </a:solidFill>
          </a:ln>
        </p:spPr>
        <p:txBody>
          <a:bodyPr wrap="square" lIns="0" tIns="0" rIns="0" bIns="0" rtlCol="0" anchor="ctr"/>
          <a:lstStyle/>
          <a:p>
            <a:pPr algn="ctr" indent="0" marL="0">
              <a:buNone/>
            </a:pPr>
            <a:r>
              <a:rPr lang="en-US" sz="1600" b="1" dirty="0">
                <a:solidFill>
                  <a:schemeClr val="bg1"/>
                </a:solidFill>
              </a:rPr>
              <a:t>Jeu</a:t>
            </a:r>
            <a:endParaRPr lang="en-US" sz="1600" dirty="0"/>
          </a:p>
        </p:txBody>
      </p:sp>
      <p:sp>
        <p:nvSpPr>
          <p:cNvPr id="10" name="groupe-Jeu"/>
          <p:cNvSpPr/>
          <p:nvPr/>
        </p:nvSpPr>
        <p:spPr>
          <a:xfrm>
            <a:off x="3364992" y="2971800"/>
            <a:ext cx="2606040" cy="3017520"/>
          </a:xfrm>
          <a:prstGeom prst="roundRect">
            <a:avLst>
              <a:gd name="adj" fmla="val 4211"/>
            </a:avLst>
          </a:prstGeom>
          <a:solidFill>
            <a:schemeClr val="bg2"/>
          </a:solidFill>
          <a:ln w="12700">
            <a:solidFill>
              <a:schemeClr val="bg2"/>
            </a:solidFill>
            <a:prstDash val="solid"/>
          </a:ln>
        </p:spPr>
      </p:sp>
      <p:sp>
        <p:nvSpPr>
          <p:cNvPr id="11" name="Text 9"/>
          <p:cNvSpPr txBox="1"/>
          <p:nvPr/>
        </p:nvSpPr>
        <p:spPr>
          <a:xfrm>
            <a:off x="3547872" y="3108960"/>
            <a:ext cx="2240280" cy="2743200"/>
          </a:xfrm>
          <a:prstGeom prst="rect">
            <a:avLst/>
          </a:prstGeom>
          <a:noFill/>
          <a:ln/>
        </p:spPr>
        <p:txBody>
          <a:bodyPr wrap="square" lIns="0" tIns="0" rIns="0" bIns="0" rtlCol="0" anchor="t"/>
          <a:lstStyle/>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jouer()</a:t>
            </a:r>
            <a:endParaRPr lang="en-US" sz="1250" dirty="0"/>
          </a:p>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afficherGrille()</a:t>
            </a:r>
            <a:endParaRPr lang="en-US" sz="1250" dirty="0"/>
          </a:p>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deplacerJoueur()</a:t>
            </a:r>
            <a:endParaRPr lang="en-US" sz="1250" dirty="0"/>
          </a:p>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deplacementValide()</a:t>
            </a:r>
            <a:endParaRPr lang="en-US" sz="1250" dirty="0"/>
          </a:p>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peutPousser()</a:t>
            </a:r>
            <a:endParaRPr lang="en-US" sz="1250" dirty="0"/>
          </a:p>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deplacerCaisse()</a:t>
            </a:r>
            <a:endParaRPr lang="en-US" sz="1250" dirty="0"/>
          </a:p>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partieTerminee()</a:t>
            </a:r>
            <a:endParaRPr lang="en-US" sz="1250" dirty="0"/>
          </a:p>
        </p:txBody>
      </p:sp>
      <p:sp>
        <p:nvSpPr>
          <p:cNvPr id="12" name="Shape 10"/>
          <p:cNvSpPr/>
          <p:nvPr/>
        </p:nvSpPr>
        <p:spPr>
          <a:xfrm>
            <a:off x="6080760" y="1874520"/>
            <a:ext cx="1403604" cy="502920"/>
          </a:xfrm>
          <a:prstGeom prst="line">
            <a:avLst/>
          </a:prstGeom>
          <a:noFill/>
          <a:ln w="19050">
            <a:solidFill>
              <a:schemeClr val="accent5"/>
            </a:solidFill>
            <a:prstDash val="solid"/>
            <a:tailEnd type="triangle"/>
          </a:ln>
        </p:spPr>
      </p:sp>
      <p:sp>
        <p:nvSpPr>
          <p:cNvPr id="13" name="Text 11"/>
          <p:cNvSpPr/>
          <p:nvPr/>
        </p:nvSpPr>
        <p:spPr>
          <a:xfrm>
            <a:off x="6181344" y="2377440"/>
            <a:ext cx="2606040" cy="502920"/>
          </a:xfrm>
          <a:prstGeom prst="roundRect">
            <a:avLst>
              <a:gd name="adj" fmla="val 14545"/>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Solveur</a:t>
            </a:r>
            <a:endParaRPr lang="en-US" sz="1600" dirty="0"/>
          </a:p>
        </p:txBody>
      </p:sp>
      <p:sp>
        <p:nvSpPr>
          <p:cNvPr id="14" name="groupe-Solveur"/>
          <p:cNvSpPr/>
          <p:nvPr/>
        </p:nvSpPr>
        <p:spPr>
          <a:xfrm>
            <a:off x="6181344" y="2971800"/>
            <a:ext cx="2606040" cy="3017520"/>
          </a:xfrm>
          <a:prstGeom prst="roundRect">
            <a:avLst>
              <a:gd name="adj" fmla="val 4211"/>
            </a:avLst>
          </a:prstGeom>
          <a:solidFill>
            <a:schemeClr val="bg2"/>
          </a:solidFill>
          <a:ln w="12700">
            <a:solidFill>
              <a:schemeClr val="bg2"/>
            </a:solidFill>
            <a:prstDash val="solid"/>
          </a:ln>
        </p:spPr>
      </p:sp>
      <p:sp>
        <p:nvSpPr>
          <p:cNvPr id="15" name="Text 13"/>
          <p:cNvSpPr txBox="1"/>
          <p:nvPr/>
        </p:nvSpPr>
        <p:spPr>
          <a:xfrm>
            <a:off x="6364224" y="3108960"/>
            <a:ext cx="2240280" cy="2743200"/>
          </a:xfrm>
          <a:prstGeom prst="rect">
            <a:avLst/>
          </a:prstGeom>
          <a:noFill/>
          <a:ln/>
        </p:spPr>
        <p:txBody>
          <a:bodyPr wrap="square" lIns="0" tIns="0" rIns="0" bIns="0" rtlCol="0" anchor="t"/>
          <a:lstStyle/>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resoudreDFS() / dfs()</a:t>
            </a:r>
            <a:endParaRPr lang="en-US" sz="1250" dirty="0"/>
          </a:p>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resoudreBFS()</a:t>
            </a:r>
            <a:endParaRPr lang="en-US" sz="1250" dirty="0"/>
          </a:p>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etatSuivant()</a:t>
            </a:r>
            <a:endParaRPr lang="en-US" sz="1250" dirty="0"/>
          </a:p>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estVictoire()</a:t>
            </a:r>
            <a:endParaRPr lang="en-US" sz="1250" dirty="0"/>
          </a:p>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comparerAlgorithmes()</a:t>
            </a:r>
            <a:endParaRPr lang="en-US" sz="1250" dirty="0"/>
          </a:p>
        </p:txBody>
      </p:sp>
      <p:sp>
        <p:nvSpPr>
          <p:cNvPr id="16" name="Shape 14"/>
          <p:cNvSpPr/>
          <p:nvPr/>
        </p:nvSpPr>
        <p:spPr>
          <a:xfrm>
            <a:off x="6080760" y="1874520"/>
            <a:ext cx="4219956" cy="502920"/>
          </a:xfrm>
          <a:prstGeom prst="line">
            <a:avLst/>
          </a:prstGeom>
          <a:noFill/>
          <a:ln w="19050">
            <a:solidFill>
              <a:schemeClr val="accent5"/>
            </a:solidFill>
            <a:prstDash val="solid"/>
            <a:tailEnd type="triangle"/>
          </a:ln>
        </p:spPr>
      </p:sp>
      <p:sp>
        <p:nvSpPr>
          <p:cNvPr id="17" name="Text 15"/>
          <p:cNvSpPr/>
          <p:nvPr/>
        </p:nvSpPr>
        <p:spPr>
          <a:xfrm>
            <a:off x="8997696" y="2377440"/>
            <a:ext cx="2606040" cy="502920"/>
          </a:xfrm>
          <a:prstGeom prst="roundRect">
            <a:avLst>
              <a:gd name="adj" fmla="val 14545"/>
            </a:avLst>
          </a:prstGeom>
          <a:solidFill>
            <a:schemeClr val="accent3"/>
          </a:solidFill>
          <a:ln>
            <a:solidFill>
              <a:schemeClr val="accent3"/>
            </a:solidFill>
          </a:ln>
        </p:spPr>
        <p:txBody>
          <a:bodyPr wrap="square" lIns="0" tIns="0" rIns="0" bIns="0" rtlCol="0" anchor="ctr"/>
          <a:lstStyle/>
          <a:p>
            <a:pPr algn="ctr" indent="0" marL="0">
              <a:buNone/>
            </a:pPr>
            <a:r>
              <a:rPr lang="en-US" sz="1600" b="1" dirty="0">
                <a:solidFill>
                  <a:schemeClr val="bg1"/>
                </a:solidFill>
              </a:rPr>
              <a:t>Structures maison</a:t>
            </a:r>
            <a:endParaRPr lang="en-US" sz="1600" dirty="0"/>
          </a:p>
        </p:txBody>
      </p:sp>
      <p:sp>
        <p:nvSpPr>
          <p:cNvPr id="18" name="groupe-Structures maison"/>
          <p:cNvSpPr/>
          <p:nvPr/>
        </p:nvSpPr>
        <p:spPr>
          <a:xfrm>
            <a:off x="8997696" y="2971800"/>
            <a:ext cx="2606040" cy="3017520"/>
          </a:xfrm>
          <a:prstGeom prst="roundRect">
            <a:avLst>
              <a:gd name="adj" fmla="val 4211"/>
            </a:avLst>
          </a:prstGeom>
          <a:solidFill>
            <a:schemeClr val="bg2"/>
          </a:solidFill>
          <a:ln w="12700">
            <a:solidFill>
              <a:schemeClr val="bg2"/>
            </a:solidFill>
            <a:prstDash val="solid"/>
          </a:ln>
        </p:spPr>
      </p:sp>
      <p:sp>
        <p:nvSpPr>
          <p:cNvPr id="19" name="Text 17"/>
          <p:cNvSpPr txBox="1"/>
          <p:nvPr/>
        </p:nvSpPr>
        <p:spPr>
          <a:xfrm>
            <a:off x="9180576" y="3108960"/>
            <a:ext cx="2240280" cy="2743200"/>
          </a:xfrm>
          <a:prstGeom prst="rect">
            <a:avLst/>
          </a:prstGeom>
          <a:noFill/>
          <a:ln/>
        </p:spPr>
        <p:txBody>
          <a:bodyPr wrap="square" lIns="0" tIns="0" rIns="0" bIns="0" rtlCol="0" anchor="t"/>
          <a:lstStyle/>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pileCoups : int[]</a:t>
            </a:r>
            <a:endParaRPr lang="en-US" sz="1250" dirty="0"/>
          </a:p>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file BFS : 3 tableaux</a:t>
            </a:r>
            <a:endParaRPr lang="en-US" sz="1250" dirty="0"/>
          </a:p>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tableVisites : String[]</a:t>
            </a:r>
            <a:endParaRPr lang="en-US" sz="1250" dirty="0"/>
          </a:p>
          <a:p>
            <a:pPr indent="0" marL="0">
              <a:spcAft>
                <a:spcPts val="500"/>
              </a:spcAft>
              <a:buNone/>
            </a:pPr>
            <a:r>
              <a:rPr lang="en-US" sz="1250" dirty="0">
                <a:solidFill>
                  <a:schemeClr val="tx1"/>
                </a:solidFill>
                <a:latin typeface="Courier New" pitchFamily="34" charset="0"/>
                <a:ea typeface="Courier New" pitchFamily="34" charset="-122"/>
                <a:cs typeface="Courier New" pitchFamily="34" charset="-120"/>
              </a:rPr>
              <a:t>(hachage écrit à la main)</a:t>
            </a:r>
            <a:endParaRPr lang="en-US" sz="1250" dirty="0"/>
          </a:p>
        </p:txBody>
      </p:sp>
      <p:sp>
        <p:nvSpPr>
          <p:cNvPr id="20" name="Text 18"/>
          <p:cNvSpPr txBox="1"/>
          <p:nvPr/>
        </p:nvSpPr>
        <p:spPr>
          <a:xfrm>
            <a:off x="548640" y="6053328"/>
            <a:ext cx="10972800" cy="274320"/>
          </a:xfrm>
          <a:prstGeom prst="rect">
            <a:avLst/>
          </a:prstGeom>
          <a:noFill/>
          <a:ln/>
        </p:spPr>
        <p:txBody>
          <a:bodyPr wrap="square" lIns="0" tIns="0" rIns="0" bIns="0" rtlCol="0" anchor="t"/>
          <a:lstStyle/>
          <a:p>
            <a:pPr indent="0" marL="0">
              <a:buNone/>
            </a:pPr>
            <a:r>
              <a:rPr lang="en-US" sz="1300" i="1" dirty="0">
                <a:solidFill>
                  <a:schemeClr val="accent5"/>
                </a:solidFill>
              </a:rPr>
              <a:t>Les 10 méthodes demandées par le sujet (section 11) existent sous leur nom exact.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424160" cy="777240"/>
          </a:xfrm>
          <a:prstGeom prst="rect">
            <a:avLst/>
          </a:prstGeom>
          <a:noFill/>
          <a:ln/>
        </p:spPr>
        <p:txBody>
          <a:bodyPr wrap="square" lIns="0" tIns="0" rIns="0" bIns="0" rtlCol="0" anchor="ctr"/>
          <a:lstStyle/>
          <a:p>
            <a:pPr algn="l" indent="0" marL="0">
              <a:buNone/>
            </a:pPr>
            <a:r>
              <a:rPr lang="en-US" sz="3200" b="1" dirty="0">
                <a:solidFill>
                  <a:schemeClr val="tx1"/>
                </a:solidFill>
              </a:rPr>
              <a:t>La grille : deux tableaux à deux dimensions</a:t>
            </a:r>
            <a:endParaRPr lang="en-US" sz="3200" dirty="0"/>
          </a:p>
        </p:txBody>
      </p:sp>
      <p:sp>
        <p:nvSpPr>
          <p:cNvPr id="3" name="Shape 1"/>
          <p:cNvSpPr/>
          <p:nvPr/>
        </p:nvSpPr>
        <p:spPr>
          <a:xfrm>
            <a:off x="731520" y="1463040"/>
            <a:ext cx="566928" cy="566928"/>
          </a:xfrm>
          <a:prstGeom prst="rect">
            <a:avLst/>
          </a:prstGeom>
          <a:solidFill>
            <a:schemeClr val="tx1"/>
          </a:solidFill>
          <a:ln w="9525">
            <a:solidFill>
              <a:schemeClr val="bg2"/>
            </a:solidFill>
            <a:prstDash val="solid"/>
          </a:ln>
        </p:spPr>
      </p:sp>
      <p:sp>
        <p:nvSpPr>
          <p:cNvPr id="4" name="Shape 2"/>
          <p:cNvSpPr/>
          <p:nvPr/>
        </p:nvSpPr>
        <p:spPr>
          <a:xfrm>
            <a:off x="1298448" y="1463040"/>
            <a:ext cx="566928" cy="566928"/>
          </a:xfrm>
          <a:prstGeom prst="rect">
            <a:avLst/>
          </a:prstGeom>
          <a:solidFill>
            <a:schemeClr val="tx1"/>
          </a:solidFill>
          <a:ln w="9525">
            <a:solidFill>
              <a:schemeClr val="bg2"/>
            </a:solidFill>
            <a:prstDash val="solid"/>
          </a:ln>
        </p:spPr>
      </p:sp>
      <p:sp>
        <p:nvSpPr>
          <p:cNvPr id="5" name="Shape 3"/>
          <p:cNvSpPr/>
          <p:nvPr/>
        </p:nvSpPr>
        <p:spPr>
          <a:xfrm>
            <a:off x="1865376" y="1463040"/>
            <a:ext cx="566928" cy="566928"/>
          </a:xfrm>
          <a:prstGeom prst="rect">
            <a:avLst/>
          </a:prstGeom>
          <a:solidFill>
            <a:schemeClr val="tx1"/>
          </a:solidFill>
          <a:ln w="9525">
            <a:solidFill>
              <a:schemeClr val="bg2"/>
            </a:solidFill>
            <a:prstDash val="solid"/>
          </a:ln>
        </p:spPr>
      </p:sp>
      <p:sp>
        <p:nvSpPr>
          <p:cNvPr id="6" name="Shape 4"/>
          <p:cNvSpPr/>
          <p:nvPr/>
        </p:nvSpPr>
        <p:spPr>
          <a:xfrm>
            <a:off x="2432304" y="1463040"/>
            <a:ext cx="566928" cy="566928"/>
          </a:xfrm>
          <a:prstGeom prst="rect">
            <a:avLst/>
          </a:prstGeom>
          <a:solidFill>
            <a:schemeClr val="tx1"/>
          </a:solidFill>
          <a:ln w="9525">
            <a:solidFill>
              <a:schemeClr val="bg2"/>
            </a:solidFill>
            <a:prstDash val="solid"/>
          </a:ln>
        </p:spPr>
      </p:sp>
      <p:sp>
        <p:nvSpPr>
          <p:cNvPr id="7" name="Shape 5"/>
          <p:cNvSpPr/>
          <p:nvPr/>
        </p:nvSpPr>
        <p:spPr>
          <a:xfrm>
            <a:off x="2999232" y="1463040"/>
            <a:ext cx="566928" cy="566928"/>
          </a:xfrm>
          <a:prstGeom prst="rect">
            <a:avLst/>
          </a:prstGeom>
          <a:solidFill>
            <a:schemeClr val="tx1"/>
          </a:solidFill>
          <a:ln w="9525">
            <a:solidFill>
              <a:schemeClr val="bg2"/>
            </a:solidFill>
            <a:prstDash val="solid"/>
          </a:ln>
        </p:spPr>
      </p:sp>
      <p:sp>
        <p:nvSpPr>
          <p:cNvPr id="8" name="Shape 6"/>
          <p:cNvSpPr/>
          <p:nvPr/>
        </p:nvSpPr>
        <p:spPr>
          <a:xfrm>
            <a:off x="3566160" y="1463040"/>
            <a:ext cx="566928" cy="566928"/>
          </a:xfrm>
          <a:prstGeom prst="rect">
            <a:avLst/>
          </a:prstGeom>
          <a:solidFill>
            <a:schemeClr val="tx1"/>
          </a:solidFill>
          <a:ln w="9525">
            <a:solidFill>
              <a:schemeClr val="bg2"/>
            </a:solidFill>
            <a:prstDash val="solid"/>
          </a:ln>
        </p:spPr>
      </p:sp>
      <p:sp>
        <p:nvSpPr>
          <p:cNvPr id="9" name="Shape 7"/>
          <p:cNvSpPr/>
          <p:nvPr/>
        </p:nvSpPr>
        <p:spPr>
          <a:xfrm>
            <a:off x="4133088" y="1463040"/>
            <a:ext cx="566928" cy="566928"/>
          </a:xfrm>
          <a:prstGeom prst="rect">
            <a:avLst/>
          </a:prstGeom>
          <a:solidFill>
            <a:schemeClr val="tx1"/>
          </a:solidFill>
          <a:ln w="9525">
            <a:solidFill>
              <a:schemeClr val="bg2"/>
            </a:solidFill>
            <a:prstDash val="solid"/>
          </a:ln>
        </p:spPr>
      </p:sp>
      <p:sp>
        <p:nvSpPr>
          <p:cNvPr id="10" name="Shape 8"/>
          <p:cNvSpPr/>
          <p:nvPr/>
        </p:nvSpPr>
        <p:spPr>
          <a:xfrm>
            <a:off x="731520" y="2029968"/>
            <a:ext cx="566928" cy="566928"/>
          </a:xfrm>
          <a:prstGeom prst="rect">
            <a:avLst/>
          </a:prstGeom>
          <a:solidFill>
            <a:schemeClr val="tx1"/>
          </a:solidFill>
          <a:ln w="9525">
            <a:solidFill>
              <a:schemeClr val="bg2"/>
            </a:solidFill>
            <a:prstDash val="solid"/>
          </a:ln>
        </p:spPr>
      </p:sp>
      <p:sp>
        <p:nvSpPr>
          <p:cNvPr id="11" name="Shape 9"/>
          <p:cNvSpPr/>
          <p:nvPr/>
        </p:nvSpPr>
        <p:spPr>
          <a:xfrm>
            <a:off x="1298448" y="2029968"/>
            <a:ext cx="566928" cy="566928"/>
          </a:xfrm>
          <a:prstGeom prst="rect">
            <a:avLst/>
          </a:prstGeom>
          <a:solidFill>
            <a:schemeClr val="bg2"/>
          </a:solidFill>
          <a:ln w="12700">
            <a:solidFill>
              <a:schemeClr val="bg2"/>
            </a:solidFill>
            <a:prstDash val="solid"/>
          </a:ln>
        </p:spPr>
      </p:sp>
      <p:sp>
        <p:nvSpPr>
          <p:cNvPr id="12" name="Shape 10"/>
          <p:cNvSpPr/>
          <p:nvPr/>
        </p:nvSpPr>
        <p:spPr>
          <a:xfrm>
            <a:off x="1865376" y="2029968"/>
            <a:ext cx="566928" cy="566928"/>
          </a:xfrm>
          <a:prstGeom prst="rect">
            <a:avLst/>
          </a:prstGeom>
          <a:solidFill>
            <a:schemeClr val="bg2"/>
          </a:solidFill>
          <a:ln w="12700">
            <a:solidFill>
              <a:schemeClr val="bg2"/>
            </a:solidFill>
            <a:prstDash val="solid"/>
          </a:ln>
        </p:spPr>
      </p:sp>
      <p:sp>
        <p:nvSpPr>
          <p:cNvPr id="13" name="Shape 11"/>
          <p:cNvSpPr/>
          <p:nvPr/>
        </p:nvSpPr>
        <p:spPr>
          <a:xfrm>
            <a:off x="2432304" y="2029968"/>
            <a:ext cx="566928" cy="566928"/>
          </a:xfrm>
          <a:prstGeom prst="rect">
            <a:avLst/>
          </a:prstGeom>
          <a:solidFill>
            <a:schemeClr val="bg2"/>
          </a:solidFill>
          <a:ln w="12700">
            <a:solidFill>
              <a:schemeClr val="bg2"/>
            </a:solidFill>
            <a:prstDash val="solid"/>
          </a:ln>
        </p:spPr>
      </p:sp>
      <p:sp>
        <p:nvSpPr>
          <p:cNvPr id="14" name="Shape 12"/>
          <p:cNvSpPr/>
          <p:nvPr/>
        </p:nvSpPr>
        <p:spPr>
          <a:xfrm>
            <a:off x="2999232" y="2029968"/>
            <a:ext cx="566928" cy="566928"/>
          </a:xfrm>
          <a:prstGeom prst="rect">
            <a:avLst/>
          </a:prstGeom>
          <a:solidFill>
            <a:schemeClr val="bg2"/>
          </a:solidFill>
          <a:ln w="12700">
            <a:solidFill>
              <a:schemeClr val="bg2"/>
            </a:solidFill>
            <a:prstDash val="solid"/>
          </a:ln>
        </p:spPr>
      </p:sp>
      <p:sp>
        <p:nvSpPr>
          <p:cNvPr id="15" name="Shape 13"/>
          <p:cNvSpPr/>
          <p:nvPr/>
        </p:nvSpPr>
        <p:spPr>
          <a:xfrm>
            <a:off x="3566160" y="2029968"/>
            <a:ext cx="566928" cy="566928"/>
          </a:xfrm>
          <a:prstGeom prst="rect">
            <a:avLst/>
          </a:prstGeom>
          <a:solidFill>
            <a:schemeClr val="bg2"/>
          </a:solidFill>
          <a:ln w="12700">
            <a:solidFill>
              <a:schemeClr val="bg2"/>
            </a:solidFill>
            <a:prstDash val="solid"/>
          </a:ln>
        </p:spPr>
      </p:sp>
      <p:sp>
        <p:nvSpPr>
          <p:cNvPr id="16" name="Shape 14"/>
          <p:cNvSpPr/>
          <p:nvPr/>
        </p:nvSpPr>
        <p:spPr>
          <a:xfrm>
            <a:off x="4133088" y="2029968"/>
            <a:ext cx="566928" cy="566928"/>
          </a:xfrm>
          <a:prstGeom prst="rect">
            <a:avLst/>
          </a:prstGeom>
          <a:solidFill>
            <a:schemeClr val="tx1"/>
          </a:solidFill>
          <a:ln w="9525">
            <a:solidFill>
              <a:schemeClr val="bg2"/>
            </a:solidFill>
            <a:prstDash val="solid"/>
          </a:ln>
        </p:spPr>
      </p:sp>
      <p:sp>
        <p:nvSpPr>
          <p:cNvPr id="17" name="Shape 15"/>
          <p:cNvSpPr/>
          <p:nvPr/>
        </p:nvSpPr>
        <p:spPr>
          <a:xfrm>
            <a:off x="731520" y="2596896"/>
            <a:ext cx="566928" cy="566928"/>
          </a:xfrm>
          <a:prstGeom prst="rect">
            <a:avLst/>
          </a:prstGeom>
          <a:solidFill>
            <a:schemeClr val="tx1"/>
          </a:solidFill>
          <a:ln w="9525">
            <a:solidFill>
              <a:schemeClr val="bg2"/>
            </a:solidFill>
            <a:prstDash val="solid"/>
          </a:ln>
        </p:spPr>
      </p:sp>
      <p:sp>
        <p:nvSpPr>
          <p:cNvPr id="18" name="Shape 16"/>
          <p:cNvSpPr/>
          <p:nvPr/>
        </p:nvSpPr>
        <p:spPr>
          <a:xfrm>
            <a:off x="1298448" y="2596896"/>
            <a:ext cx="566928" cy="566928"/>
          </a:xfrm>
          <a:prstGeom prst="rect">
            <a:avLst/>
          </a:prstGeom>
          <a:solidFill>
            <a:schemeClr val="bg2"/>
          </a:solidFill>
          <a:ln w="12700">
            <a:solidFill>
              <a:schemeClr val="bg2"/>
            </a:solidFill>
            <a:prstDash val="solid"/>
          </a:ln>
        </p:spPr>
      </p:sp>
      <p:sp>
        <p:nvSpPr>
          <p:cNvPr id="19" name="Shape 17"/>
          <p:cNvSpPr/>
          <p:nvPr/>
        </p:nvSpPr>
        <p:spPr>
          <a:xfrm>
            <a:off x="1865376" y="2596896"/>
            <a:ext cx="566928" cy="566928"/>
          </a:xfrm>
          <a:prstGeom prst="rect">
            <a:avLst/>
          </a:prstGeom>
          <a:solidFill>
            <a:schemeClr val="bg2"/>
          </a:solidFill>
          <a:ln w="12700">
            <a:solidFill>
              <a:schemeClr val="bg2"/>
            </a:solidFill>
            <a:prstDash val="solid"/>
          </a:ln>
        </p:spPr>
      </p:sp>
      <p:sp>
        <p:nvSpPr>
          <p:cNvPr id="20" name="Shape 18"/>
          <p:cNvSpPr/>
          <p:nvPr/>
        </p:nvSpPr>
        <p:spPr>
          <a:xfrm>
            <a:off x="2029785" y="2761305"/>
            <a:ext cx="238110" cy="238110"/>
          </a:xfrm>
          <a:prstGeom prst="ellipse">
            <a:avLst/>
          </a:prstGeom>
          <a:solidFill>
            <a:schemeClr val="bg2"/>
          </a:solidFill>
          <a:ln w="25400">
            <a:solidFill>
              <a:schemeClr val="accent1"/>
            </a:solidFill>
            <a:prstDash val="solid"/>
          </a:ln>
        </p:spPr>
      </p:sp>
      <p:sp>
        <p:nvSpPr>
          <p:cNvPr id="21" name="Shape 19"/>
          <p:cNvSpPr/>
          <p:nvPr/>
        </p:nvSpPr>
        <p:spPr>
          <a:xfrm>
            <a:off x="2432304" y="2596896"/>
            <a:ext cx="566928" cy="566928"/>
          </a:xfrm>
          <a:prstGeom prst="rect">
            <a:avLst/>
          </a:prstGeom>
          <a:solidFill>
            <a:schemeClr val="bg2"/>
          </a:solidFill>
          <a:ln w="12700">
            <a:solidFill>
              <a:schemeClr val="bg2"/>
            </a:solidFill>
            <a:prstDash val="solid"/>
          </a:ln>
        </p:spPr>
      </p:sp>
      <p:sp>
        <p:nvSpPr>
          <p:cNvPr id="22" name="Shape 20"/>
          <p:cNvSpPr/>
          <p:nvPr/>
        </p:nvSpPr>
        <p:spPr>
          <a:xfrm>
            <a:off x="2506005" y="2670597"/>
            <a:ext cx="419527" cy="419527"/>
          </a:xfrm>
          <a:prstGeom prst="roundRect">
            <a:avLst>
              <a:gd name="adj" fmla="val 18000"/>
            </a:avLst>
          </a:prstGeom>
          <a:solidFill>
            <a:schemeClr val="accent2"/>
          </a:solidFill>
          <a:ln w="12700">
            <a:solidFill>
              <a:schemeClr val="accent2"/>
            </a:solidFill>
            <a:prstDash val="solid"/>
          </a:ln>
        </p:spPr>
      </p:sp>
      <p:sp>
        <p:nvSpPr>
          <p:cNvPr id="23" name="Shape 21"/>
          <p:cNvSpPr/>
          <p:nvPr/>
        </p:nvSpPr>
        <p:spPr>
          <a:xfrm>
            <a:off x="2999232" y="2596896"/>
            <a:ext cx="566928" cy="566928"/>
          </a:xfrm>
          <a:prstGeom prst="rect">
            <a:avLst/>
          </a:prstGeom>
          <a:solidFill>
            <a:schemeClr val="bg2"/>
          </a:solidFill>
          <a:ln w="12700">
            <a:solidFill>
              <a:schemeClr val="bg2"/>
            </a:solidFill>
            <a:prstDash val="solid"/>
          </a:ln>
        </p:spPr>
      </p:sp>
      <p:sp>
        <p:nvSpPr>
          <p:cNvPr id="24" name="Shape 22"/>
          <p:cNvSpPr/>
          <p:nvPr/>
        </p:nvSpPr>
        <p:spPr>
          <a:xfrm>
            <a:off x="3163641" y="2761305"/>
            <a:ext cx="238110" cy="238110"/>
          </a:xfrm>
          <a:prstGeom prst="ellipse">
            <a:avLst/>
          </a:prstGeom>
          <a:solidFill>
            <a:schemeClr val="bg2"/>
          </a:solidFill>
          <a:ln w="25400">
            <a:solidFill>
              <a:schemeClr val="accent1"/>
            </a:solidFill>
            <a:prstDash val="solid"/>
          </a:ln>
        </p:spPr>
      </p:sp>
      <p:sp>
        <p:nvSpPr>
          <p:cNvPr id="25" name="Shape 23"/>
          <p:cNvSpPr/>
          <p:nvPr/>
        </p:nvSpPr>
        <p:spPr>
          <a:xfrm>
            <a:off x="3566160" y="2596896"/>
            <a:ext cx="566928" cy="566928"/>
          </a:xfrm>
          <a:prstGeom prst="rect">
            <a:avLst/>
          </a:prstGeom>
          <a:solidFill>
            <a:schemeClr val="bg2"/>
          </a:solidFill>
          <a:ln w="12700">
            <a:solidFill>
              <a:schemeClr val="bg2"/>
            </a:solidFill>
            <a:prstDash val="solid"/>
          </a:ln>
        </p:spPr>
      </p:sp>
      <p:sp>
        <p:nvSpPr>
          <p:cNvPr id="26" name="Shape 24"/>
          <p:cNvSpPr/>
          <p:nvPr/>
        </p:nvSpPr>
        <p:spPr>
          <a:xfrm>
            <a:off x="4133088" y="2596896"/>
            <a:ext cx="566928" cy="566928"/>
          </a:xfrm>
          <a:prstGeom prst="rect">
            <a:avLst/>
          </a:prstGeom>
          <a:solidFill>
            <a:schemeClr val="tx1"/>
          </a:solidFill>
          <a:ln w="9525">
            <a:solidFill>
              <a:schemeClr val="bg2"/>
            </a:solidFill>
            <a:prstDash val="solid"/>
          </a:ln>
        </p:spPr>
      </p:sp>
      <p:sp>
        <p:nvSpPr>
          <p:cNvPr id="27" name="Shape 25"/>
          <p:cNvSpPr/>
          <p:nvPr/>
        </p:nvSpPr>
        <p:spPr>
          <a:xfrm>
            <a:off x="731520" y="3163824"/>
            <a:ext cx="566928" cy="566928"/>
          </a:xfrm>
          <a:prstGeom prst="rect">
            <a:avLst/>
          </a:prstGeom>
          <a:solidFill>
            <a:schemeClr val="tx1"/>
          </a:solidFill>
          <a:ln w="9525">
            <a:solidFill>
              <a:schemeClr val="bg2"/>
            </a:solidFill>
            <a:prstDash val="solid"/>
          </a:ln>
        </p:spPr>
      </p:sp>
      <p:sp>
        <p:nvSpPr>
          <p:cNvPr id="28" name="Shape 26"/>
          <p:cNvSpPr/>
          <p:nvPr/>
        </p:nvSpPr>
        <p:spPr>
          <a:xfrm>
            <a:off x="1298448" y="3163824"/>
            <a:ext cx="566928" cy="566928"/>
          </a:xfrm>
          <a:prstGeom prst="rect">
            <a:avLst/>
          </a:prstGeom>
          <a:solidFill>
            <a:schemeClr val="bg2"/>
          </a:solidFill>
          <a:ln w="12700">
            <a:solidFill>
              <a:schemeClr val="bg2"/>
            </a:solidFill>
            <a:prstDash val="solid"/>
          </a:ln>
        </p:spPr>
      </p:sp>
      <p:sp>
        <p:nvSpPr>
          <p:cNvPr id="29" name="Shape 27"/>
          <p:cNvSpPr/>
          <p:nvPr/>
        </p:nvSpPr>
        <p:spPr>
          <a:xfrm>
            <a:off x="1865376" y="3163824"/>
            <a:ext cx="566928" cy="566928"/>
          </a:xfrm>
          <a:prstGeom prst="rect">
            <a:avLst/>
          </a:prstGeom>
          <a:solidFill>
            <a:schemeClr val="bg2"/>
          </a:solidFill>
          <a:ln w="12700">
            <a:solidFill>
              <a:schemeClr val="bg2"/>
            </a:solidFill>
            <a:prstDash val="solid"/>
          </a:ln>
        </p:spPr>
      </p:sp>
      <p:sp>
        <p:nvSpPr>
          <p:cNvPr id="30" name="Shape 28"/>
          <p:cNvSpPr/>
          <p:nvPr/>
        </p:nvSpPr>
        <p:spPr>
          <a:xfrm>
            <a:off x="2432304" y="3163824"/>
            <a:ext cx="566928" cy="566928"/>
          </a:xfrm>
          <a:prstGeom prst="rect">
            <a:avLst/>
          </a:prstGeom>
          <a:solidFill>
            <a:schemeClr val="bg2"/>
          </a:solidFill>
          <a:ln w="12700">
            <a:solidFill>
              <a:schemeClr val="bg2"/>
            </a:solidFill>
            <a:prstDash val="solid"/>
          </a:ln>
        </p:spPr>
      </p:sp>
      <p:sp>
        <p:nvSpPr>
          <p:cNvPr id="31" name="Shape 29"/>
          <p:cNvSpPr/>
          <p:nvPr/>
        </p:nvSpPr>
        <p:spPr>
          <a:xfrm>
            <a:off x="2506005" y="3237525"/>
            <a:ext cx="419527" cy="419527"/>
          </a:xfrm>
          <a:prstGeom prst="roundRect">
            <a:avLst>
              <a:gd name="adj" fmla="val 18000"/>
            </a:avLst>
          </a:prstGeom>
          <a:solidFill>
            <a:schemeClr val="accent2"/>
          </a:solidFill>
          <a:ln w="12700">
            <a:solidFill>
              <a:schemeClr val="accent2"/>
            </a:solidFill>
            <a:prstDash val="solid"/>
          </a:ln>
        </p:spPr>
      </p:sp>
      <p:sp>
        <p:nvSpPr>
          <p:cNvPr id="32" name="Shape 30"/>
          <p:cNvSpPr/>
          <p:nvPr/>
        </p:nvSpPr>
        <p:spPr>
          <a:xfrm>
            <a:off x="2999232" y="3163824"/>
            <a:ext cx="566928" cy="566928"/>
          </a:xfrm>
          <a:prstGeom prst="rect">
            <a:avLst/>
          </a:prstGeom>
          <a:solidFill>
            <a:schemeClr val="bg2"/>
          </a:solidFill>
          <a:ln w="12700">
            <a:solidFill>
              <a:schemeClr val="bg2"/>
            </a:solidFill>
            <a:prstDash val="solid"/>
          </a:ln>
        </p:spPr>
      </p:sp>
      <p:sp>
        <p:nvSpPr>
          <p:cNvPr id="33" name="Shape 31"/>
          <p:cNvSpPr/>
          <p:nvPr/>
        </p:nvSpPr>
        <p:spPr>
          <a:xfrm>
            <a:off x="3566160" y="3163824"/>
            <a:ext cx="566928" cy="566928"/>
          </a:xfrm>
          <a:prstGeom prst="rect">
            <a:avLst/>
          </a:prstGeom>
          <a:solidFill>
            <a:schemeClr val="bg2"/>
          </a:solidFill>
          <a:ln w="12700">
            <a:solidFill>
              <a:schemeClr val="bg2"/>
            </a:solidFill>
            <a:prstDash val="solid"/>
          </a:ln>
        </p:spPr>
      </p:sp>
      <p:sp>
        <p:nvSpPr>
          <p:cNvPr id="34" name="Shape 32"/>
          <p:cNvSpPr/>
          <p:nvPr/>
        </p:nvSpPr>
        <p:spPr>
          <a:xfrm>
            <a:off x="4133088" y="3163824"/>
            <a:ext cx="566928" cy="566928"/>
          </a:xfrm>
          <a:prstGeom prst="rect">
            <a:avLst/>
          </a:prstGeom>
          <a:solidFill>
            <a:schemeClr val="tx1"/>
          </a:solidFill>
          <a:ln w="9525">
            <a:solidFill>
              <a:schemeClr val="bg2"/>
            </a:solidFill>
            <a:prstDash val="solid"/>
          </a:ln>
        </p:spPr>
      </p:sp>
      <p:sp>
        <p:nvSpPr>
          <p:cNvPr id="35" name="Shape 33"/>
          <p:cNvSpPr/>
          <p:nvPr/>
        </p:nvSpPr>
        <p:spPr>
          <a:xfrm>
            <a:off x="731520" y="3730752"/>
            <a:ext cx="566928" cy="566928"/>
          </a:xfrm>
          <a:prstGeom prst="rect">
            <a:avLst/>
          </a:prstGeom>
          <a:solidFill>
            <a:schemeClr val="tx1"/>
          </a:solidFill>
          <a:ln w="9525">
            <a:solidFill>
              <a:schemeClr val="bg2"/>
            </a:solidFill>
            <a:prstDash val="solid"/>
          </a:ln>
        </p:spPr>
      </p:sp>
      <p:sp>
        <p:nvSpPr>
          <p:cNvPr id="36" name="Shape 34"/>
          <p:cNvSpPr/>
          <p:nvPr/>
        </p:nvSpPr>
        <p:spPr>
          <a:xfrm>
            <a:off x="1298448" y="3730752"/>
            <a:ext cx="566928" cy="566928"/>
          </a:xfrm>
          <a:prstGeom prst="rect">
            <a:avLst/>
          </a:prstGeom>
          <a:solidFill>
            <a:schemeClr val="bg2"/>
          </a:solidFill>
          <a:ln w="12700">
            <a:solidFill>
              <a:schemeClr val="bg2"/>
            </a:solidFill>
            <a:prstDash val="solid"/>
          </a:ln>
        </p:spPr>
      </p:sp>
      <p:sp>
        <p:nvSpPr>
          <p:cNvPr id="37" name="Shape 35"/>
          <p:cNvSpPr/>
          <p:nvPr/>
        </p:nvSpPr>
        <p:spPr>
          <a:xfrm>
            <a:off x="1865376" y="3730752"/>
            <a:ext cx="566928" cy="566928"/>
          </a:xfrm>
          <a:prstGeom prst="rect">
            <a:avLst/>
          </a:prstGeom>
          <a:solidFill>
            <a:schemeClr val="bg2"/>
          </a:solidFill>
          <a:ln w="12700">
            <a:solidFill>
              <a:schemeClr val="bg2"/>
            </a:solidFill>
            <a:prstDash val="solid"/>
          </a:ln>
        </p:spPr>
      </p:sp>
      <p:sp>
        <p:nvSpPr>
          <p:cNvPr id="38" name="Shape 36"/>
          <p:cNvSpPr/>
          <p:nvPr/>
        </p:nvSpPr>
        <p:spPr>
          <a:xfrm>
            <a:off x="2432304" y="3730752"/>
            <a:ext cx="566928" cy="566928"/>
          </a:xfrm>
          <a:prstGeom prst="rect">
            <a:avLst/>
          </a:prstGeom>
          <a:solidFill>
            <a:schemeClr val="bg2"/>
          </a:solidFill>
          <a:ln w="12700">
            <a:solidFill>
              <a:schemeClr val="bg2"/>
            </a:solidFill>
            <a:prstDash val="solid"/>
          </a:ln>
        </p:spPr>
      </p:sp>
      <p:sp>
        <p:nvSpPr>
          <p:cNvPr id="39" name="Shape 37"/>
          <p:cNvSpPr/>
          <p:nvPr/>
        </p:nvSpPr>
        <p:spPr>
          <a:xfrm>
            <a:off x="2545690" y="3844138"/>
            <a:ext cx="340157" cy="340157"/>
          </a:xfrm>
          <a:prstGeom prst="ellipse">
            <a:avLst/>
          </a:prstGeom>
          <a:solidFill>
            <a:schemeClr val="accent3"/>
          </a:solidFill>
          <a:ln w="12700">
            <a:solidFill>
              <a:schemeClr val="accent3"/>
            </a:solidFill>
            <a:prstDash val="solid"/>
          </a:ln>
        </p:spPr>
      </p:sp>
      <p:sp>
        <p:nvSpPr>
          <p:cNvPr id="40" name="Shape 38"/>
          <p:cNvSpPr/>
          <p:nvPr/>
        </p:nvSpPr>
        <p:spPr>
          <a:xfrm>
            <a:off x="2999232" y="3730752"/>
            <a:ext cx="566928" cy="566928"/>
          </a:xfrm>
          <a:prstGeom prst="rect">
            <a:avLst/>
          </a:prstGeom>
          <a:solidFill>
            <a:schemeClr val="bg2"/>
          </a:solidFill>
          <a:ln w="12700">
            <a:solidFill>
              <a:schemeClr val="bg2"/>
            </a:solidFill>
            <a:prstDash val="solid"/>
          </a:ln>
        </p:spPr>
      </p:sp>
      <p:sp>
        <p:nvSpPr>
          <p:cNvPr id="41" name="Shape 39"/>
          <p:cNvSpPr/>
          <p:nvPr/>
        </p:nvSpPr>
        <p:spPr>
          <a:xfrm>
            <a:off x="3566160" y="3730752"/>
            <a:ext cx="566928" cy="566928"/>
          </a:xfrm>
          <a:prstGeom prst="rect">
            <a:avLst/>
          </a:prstGeom>
          <a:solidFill>
            <a:schemeClr val="bg2"/>
          </a:solidFill>
          <a:ln w="12700">
            <a:solidFill>
              <a:schemeClr val="bg2"/>
            </a:solidFill>
            <a:prstDash val="solid"/>
          </a:ln>
        </p:spPr>
      </p:sp>
      <p:sp>
        <p:nvSpPr>
          <p:cNvPr id="42" name="Shape 40"/>
          <p:cNvSpPr/>
          <p:nvPr/>
        </p:nvSpPr>
        <p:spPr>
          <a:xfrm>
            <a:off x="4133088" y="3730752"/>
            <a:ext cx="566928" cy="566928"/>
          </a:xfrm>
          <a:prstGeom prst="rect">
            <a:avLst/>
          </a:prstGeom>
          <a:solidFill>
            <a:schemeClr val="tx1"/>
          </a:solidFill>
          <a:ln w="9525">
            <a:solidFill>
              <a:schemeClr val="bg2"/>
            </a:solidFill>
            <a:prstDash val="solid"/>
          </a:ln>
        </p:spPr>
      </p:sp>
      <p:sp>
        <p:nvSpPr>
          <p:cNvPr id="43" name="Shape 41"/>
          <p:cNvSpPr/>
          <p:nvPr/>
        </p:nvSpPr>
        <p:spPr>
          <a:xfrm>
            <a:off x="731520" y="4297680"/>
            <a:ext cx="566928" cy="566928"/>
          </a:xfrm>
          <a:prstGeom prst="rect">
            <a:avLst/>
          </a:prstGeom>
          <a:solidFill>
            <a:schemeClr val="tx1"/>
          </a:solidFill>
          <a:ln w="9525">
            <a:solidFill>
              <a:schemeClr val="bg2"/>
            </a:solidFill>
            <a:prstDash val="solid"/>
          </a:ln>
        </p:spPr>
      </p:sp>
      <p:sp>
        <p:nvSpPr>
          <p:cNvPr id="44" name="Shape 42"/>
          <p:cNvSpPr/>
          <p:nvPr/>
        </p:nvSpPr>
        <p:spPr>
          <a:xfrm>
            <a:off x="1298448" y="4297680"/>
            <a:ext cx="566928" cy="566928"/>
          </a:xfrm>
          <a:prstGeom prst="rect">
            <a:avLst/>
          </a:prstGeom>
          <a:solidFill>
            <a:schemeClr val="tx1"/>
          </a:solidFill>
          <a:ln w="9525">
            <a:solidFill>
              <a:schemeClr val="bg2"/>
            </a:solidFill>
            <a:prstDash val="solid"/>
          </a:ln>
        </p:spPr>
      </p:sp>
      <p:sp>
        <p:nvSpPr>
          <p:cNvPr id="45" name="Shape 43"/>
          <p:cNvSpPr/>
          <p:nvPr/>
        </p:nvSpPr>
        <p:spPr>
          <a:xfrm>
            <a:off x="1865376" y="4297680"/>
            <a:ext cx="566928" cy="566928"/>
          </a:xfrm>
          <a:prstGeom prst="rect">
            <a:avLst/>
          </a:prstGeom>
          <a:solidFill>
            <a:schemeClr val="tx1"/>
          </a:solidFill>
          <a:ln w="9525">
            <a:solidFill>
              <a:schemeClr val="bg2"/>
            </a:solidFill>
            <a:prstDash val="solid"/>
          </a:ln>
        </p:spPr>
      </p:sp>
      <p:sp>
        <p:nvSpPr>
          <p:cNvPr id="46" name="Shape 44"/>
          <p:cNvSpPr/>
          <p:nvPr/>
        </p:nvSpPr>
        <p:spPr>
          <a:xfrm>
            <a:off x="2432304" y="4297680"/>
            <a:ext cx="566928" cy="566928"/>
          </a:xfrm>
          <a:prstGeom prst="rect">
            <a:avLst/>
          </a:prstGeom>
          <a:solidFill>
            <a:schemeClr val="tx1"/>
          </a:solidFill>
          <a:ln w="9525">
            <a:solidFill>
              <a:schemeClr val="bg2"/>
            </a:solidFill>
            <a:prstDash val="solid"/>
          </a:ln>
        </p:spPr>
      </p:sp>
      <p:sp>
        <p:nvSpPr>
          <p:cNvPr id="47" name="Shape 45"/>
          <p:cNvSpPr/>
          <p:nvPr/>
        </p:nvSpPr>
        <p:spPr>
          <a:xfrm>
            <a:off x="2999232" y="4297680"/>
            <a:ext cx="566928" cy="566928"/>
          </a:xfrm>
          <a:prstGeom prst="rect">
            <a:avLst/>
          </a:prstGeom>
          <a:solidFill>
            <a:schemeClr val="tx1"/>
          </a:solidFill>
          <a:ln w="9525">
            <a:solidFill>
              <a:schemeClr val="bg2"/>
            </a:solidFill>
            <a:prstDash val="solid"/>
          </a:ln>
        </p:spPr>
      </p:sp>
      <p:sp>
        <p:nvSpPr>
          <p:cNvPr id="48" name="Shape 46"/>
          <p:cNvSpPr/>
          <p:nvPr/>
        </p:nvSpPr>
        <p:spPr>
          <a:xfrm>
            <a:off x="3566160" y="4297680"/>
            <a:ext cx="566928" cy="566928"/>
          </a:xfrm>
          <a:prstGeom prst="rect">
            <a:avLst/>
          </a:prstGeom>
          <a:solidFill>
            <a:schemeClr val="tx1"/>
          </a:solidFill>
          <a:ln w="9525">
            <a:solidFill>
              <a:schemeClr val="bg2"/>
            </a:solidFill>
            <a:prstDash val="solid"/>
          </a:ln>
        </p:spPr>
      </p:sp>
      <p:sp>
        <p:nvSpPr>
          <p:cNvPr id="49" name="Shape 47"/>
          <p:cNvSpPr/>
          <p:nvPr/>
        </p:nvSpPr>
        <p:spPr>
          <a:xfrm>
            <a:off x="4133088" y="4297680"/>
            <a:ext cx="566928" cy="566928"/>
          </a:xfrm>
          <a:prstGeom prst="rect">
            <a:avLst/>
          </a:prstGeom>
          <a:solidFill>
            <a:schemeClr val="tx1"/>
          </a:solidFill>
          <a:ln w="9525">
            <a:solidFill>
              <a:schemeClr val="bg2"/>
            </a:solidFill>
            <a:prstDash val="solid"/>
          </a:ln>
        </p:spPr>
      </p:sp>
      <p:sp>
        <p:nvSpPr>
          <p:cNvPr id="50" name="Text 48"/>
          <p:cNvSpPr txBox="1"/>
          <p:nvPr/>
        </p:nvSpPr>
        <p:spPr>
          <a:xfrm>
            <a:off x="731520" y="5074920"/>
            <a:ext cx="201168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  </a:t>
            </a:r>
            <a:pPr indent="0" marL="0">
              <a:buNone/>
            </a:pPr>
            <a:r>
              <a:rPr lang="en-US" sz="1400" dirty="0">
                <a:solidFill>
                  <a:schemeClr val="tx1"/>
                </a:solidFill>
              </a:rPr>
              <a:t>mur</a:t>
            </a:r>
            <a:endParaRPr lang="en-US" sz="1400" dirty="0"/>
          </a:p>
        </p:txBody>
      </p:sp>
      <p:sp>
        <p:nvSpPr>
          <p:cNvPr id="51" name="Text 49"/>
          <p:cNvSpPr txBox="1"/>
          <p:nvPr/>
        </p:nvSpPr>
        <p:spPr>
          <a:xfrm>
            <a:off x="2788920" y="5074920"/>
            <a:ext cx="201168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  </a:t>
            </a:r>
            <a:pPr indent="0" marL="0">
              <a:buNone/>
            </a:pPr>
            <a:r>
              <a:rPr lang="en-US" sz="1400" dirty="0">
                <a:solidFill>
                  <a:schemeClr val="tx1"/>
                </a:solidFill>
              </a:rPr>
              <a:t>joueur</a:t>
            </a:r>
            <a:endParaRPr lang="en-US" sz="1400" dirty="0"/>
          </a:p>
        </p:txBody>
      </p:sp>
      <p:sp>
        <p:nvSpPr>
          <p:cNvPr id="52" name="Text 50"/>
          <p:cNvSpPr txBox="1"/>
          <p:nvPr/>
        </p:nvSpPr>
        <p:spPr>
          <a:xfrm>
            <a:off x="731520" y="5458968"/>
            <a:ext cx="201168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  </a:t>
            </a:r>
            <a:pPr indent="0" marL="0">
              <a:buNone/>
            </a:pPr>
            <a:r>
              <a:rPr lang="en-US" sz="1400" dirty="0">
                <a:solidFill>
                  <a:schemeClr val="tx1"/>
                </a:solidFill>
              </a:rPr>
              <a:t>caisse</a:t>
            </a:r>
            <a:endParaRPr lang="en-US" sz="1400" dirty="0"/>
          </a:p>
        </p:txBody>
      </p:sp>
      <p:sp>
        <p:nvSpPr>
          <p:cNvPr id="53" name="Text 51"/>
          <p:cNvSpPr txBox="1"/>
          <p:nvPr/>
        </p:nvSpPr>
        <p:spPr>
          <a:xfrm>
            <a:off x="2788920" y="5458968"/>
            <a:ext cx="201168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  </a:t>
            </a:r>
            <a:pPr indent="0" marL="0">
              <a:buNone/>
            </a:pPr>
            <a:r>
              <a:rPr lang="en-US" sz="1400" dirty="0">
                <a:solidFill>
                  <a:schemeClr val="tx1"/>
                </a:solidFill>
              </a:rPr>
              <a:t>objectif</a:t>
            </a:r>
            <a:endParaRPr lang="en-US" sz="1400" dirty="0"/>
          </a:p>
        </p:txBody>
      </p:sp>
      <p:sp>
        <p:nvSpPr>
          <p:cNvPr id="54" name="Text 52"/>
          <p:cNvSpPr txBox="1"/>
          <p:nvPr/>
        </p:nvSpPr>
        <p:spPr>
          <a:xfrm>
            <a:off x="731520" y="5843016"/>
            <a:ext cx="201168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  </a:t>
            </a:r>
            <a:pPr indent="0" marL="0">
              <a:buNone/>
            </a:pPr>
            <a:r>
              <a:rPr lang="en-US" sz="1400" dirty="0">
                <a:solidFill>
                  <a:schemeClr val="tx1"/>
                </a:solidFill>
              </a:rPr>
              <a:t>caisse sur objectif</a:t>
            </a:r>
            <a:endParaRPr lang="en-US" sz="1400" dirty="0"/>
          </a:p>
        </p:txBody>
      </p:sp>
      <p:sp>
        <p:nvSpPr>
          <p:cNvPr id="55" name="Text 53"/>
          <p:cNvSpPr txBox="1"/>
          <p:nvPr/>
        </p:nvSpPr>
        <p:spPr>
          <a:xfrm>
            <a:off x="2788920" y="5843016"/>
            <a:ext cx="201168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  </a:t>
            </a:r>
            <a:pPr indent="0" marL="0">
              <a:buNone/>
            </a:pPr>
            <a:r>
              <a:rPr lang="en-US" sz="1400" dirty="0">
                <a:solidFill>
                  <a:schemeClr val="tx1"/>
                </a:solidFill>
              </a:rPr>
              <a:t>joueur sur objectif</a:t>
            </a:r>
            <a:endParaRPr lang="en-US" sz="1400" dirty="0"/>
          </a:p>
        </p:txBody>
      </p:sp>
      <p:sp>
        <p:nvSpPr>
          <p:cNvPr id="56" name="tableaux"/>
          <p:cNvSpPr/>
          <p:nvPr/>
        </p:nvSpPr>
        <p:spPr>
          <a:xfrm>
            <a:off x="5120640" y="1371600"/>
            <a:ext cx="6492240" cy="2148840"/>
          </a:xfrm>
          <a:prstGeom prst="roundRect">
            <a:avLst>
              <a:gd name="adj" fmla="val 5106"/>
            </a:avLst>
          </a:prstGeom>
          <a:solidFill>
            <a:schemeClr val="bg2"/>
          </a:solidFill>
          <a:ln w="12700">
            <a:solidFill>
              <a:schemeClr val="bg2"/>
            </a:solidFill>
            <a:prstDash val="solid"/>
          </a:ln>
        </p:spPr>
      </p:sp>
      <p:sp>
        <p:nvSpPr>
          <p:cNvPr id="57" name="Text 55"/>
          <p:cNvSpPr txBox="1"/>
          <p:nvPr/>
        </p:nvSpPr>
        <p:spPr>
          <a:xfrm>
            <a:off x="5394960" y="1600200"/>
            <a:ext cx="6035040" cy="1737360"/>
          </a:xfrm>
          <a:prstGeom prst="rect">
            <a:avLst/>
          </a:prstGeom>
          <a:noFill/>
          <a:ln/>
        </p:spPr>
        <p:txBody>
          <a:bodyPr wrap="square" lIns="0" tIns="0" rIns="0" bIns="0" rtlCol="0" anchor="t"/>
          <a:lstStyle/>
          <a:p>
            <a:pPr indent="0" marL="0">
              <a:buNone/>
            </a:pPr>
            <a:r>
              <a:rPr lang="en-US" sz="1600" b="1" dirty="0">
                <a:solidFill>
                  <a:schemeClr val="accent1"/>
                </a:solidFill>
                <a:latin typeface="Courier New" pitchFamily="34" charset="0"/>
                <a:ea typeface="Courier New" pitchFamily="34" charset="-122"/>
                <a:cs typeface="Courier New" pitchFamily="34" charset="-120"/>
              </a:rPr>
              <a:t>char[][] grille</a:t>
            </a:r>
            <a:endParaRPr lang="en-US" sz="1600" dirty="0"/>
          </a:p>
          <a:p>
            <a:pPr indent="0" marL="0">
              <a:buNone/>
            </a:pPr>
            <a:r>
              <a:rPr lang="en-US" sz="1600" dirty="0">
                <a:solidFill>
                  <a:schemeClr val="tx1"/>
                </a:solidFill>
              </a:rPr>
              <a:t>ce qui bouge ou bloque : '#', ' ', '@', '$'</a:t>
            </a:r>
            <a:endParaRPr lang="en-US" sz="1600" dirty="0"/>
          </a:p>
          <a:p>
            <a:pPr indent="0" marL="0">
              <a:buNone/>
            </a:pPr>
            <a:r>
              <a:rPr lang="en-US" sz="800" dirty="0">
                <a:solidFill>
                  <a:schemeClr val="tx1"/>
                </a:solidFill>
              </a:rPr>
              <a:t> </a:t>
            </a:r>
            <a:endParaRPr lang="en-US" sz="1600" dirty="0"/>
          </a:p>
          <a:p>
            <a:pPr indent="0" marL="0">
              <a:buNone/>
            </a:pPr>
            <a:r>
              <a:rPr lang="en-US" sz="1600" b="1" dirty="0">
                <a:solidFill>
                  <a:schemeClr val="accent1"/>
                </a:solidFill>
                <a:latin typeface="Courier New" pitchFamily="34" charset="0"/>
                <a:ea typeface="Courier New" pitchFamily="34" charset="-122"/>
                <a:cs typeface="Courier New" pitchFamily="34" charset="-120"/>
              </a:rPr>
              <a:t>boolean[][] objectifs</a:t>
            </a:r>
            <a:endParaRPr lang="en-US" sz="1600" dirty="0"/>
          </a:p>
          <a:p>
            <a:pPr indent="0" marL="0">
              <a:buNone/>
            </a:pPr>
            <a:r>
              <a:rPr lang="en-US" sz="1600" dirty="0">
                <a:solidFill>
                  <a:schemeClr val="tx1"/>
                </a:solidFill>
              </a:rPr>
              <a:t>ce qui ne bouge jamais : les cibles</a:t>
            </a:r>
            <a:endParaRPr lang="en-US" sz="1600" dirty="0"/>
          </a:p>
        </p:txBody>
      </p:sp>
      <p:sp>
        <p:nvSpPr>
          <p:cNvPr id="58" name="Text 56"/>
          <p:cNvSpPr txBox="1"/>
          <p:nvPr/>
        </p:nvSpPr>
        <p:spPr>
          <a:xfrm>
            <a:off x="5120640" y="3749040"/>
            <a:ext cx="6400800" cy="365760"/>
          </a:xfrm>
          <a:prstGeom prst="rect">
            <a:avLst/>
          </a:prstGeom>
          <a:noFill/>
          <a:ln/>
        </p:spPr>
        <p:txBody>
          <a:bodyPr wrap="square" lIns="0" tIns="0" rIns="0" bIns="0" rtlCol="0" anchor="t"/>
          <a:lstStyle/>
          <a:p>
            <a:pPr indent="0" marL="0">
              <a:buNone/>
            </a:pPr>
            <a:r>
              <a:rPr lang="en-US" sz="2000" b="1" dirty="0">
                <a:solidFill>
                  <a:schemeClr val="tx1"/>
                </a:solidFill>
              </a:rPr>
              <a:t>Pourquoi séparer ?</a:t>
            </a:r>
            <a:endParaRPr lang="en-US" sz="2000" dirty="0"/>
          </a:p>
        </p:txBody>
      </p:sp>
      <p:sp>
        <p:nvSpPr>
          <p:cNvPr id="59" name="Text 57"/>
          <p:cNvSpPr txBox="1"/>
          <p:nvPr/>
        </p:nvSpPr>
        <p:spPr>
          <a:xfrm>
            <a:off x="5120640" y="4206240"/>
            <a:ext cx="6492240" cy="20116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Un déplacement ne touche que grille : plus de cas « joueur sur objectif » à gérer à la main</a:t>
            </a:r>
            <a:endParaRPr lang="en-US" sz="1500" dirty="0"/>
          </a:p>
          <a:p>
            <a:pPr marL="342900" indent="-342900">
              <a:spcAft>
                <a:spcPts val="600"/>
              </a:spcAft>
              <a:buSzPct val="100000"/>
              <a:buChar char="•"/>
            </a:pPr>
            <a:r>
              <a:rPr lang="en-US" sz="1500" dirty="0">
                <a:solidFill>
                  <a:schemeClr val="tx1"/>
                </a:solidFill>
              </a:rPr>
              <a:t>afficherGrille() recompose * et + au moment de l'affichage</a:t>
            </a:r>
            <a:endParaRPr lang="en-US" sz="1500" dirty="0"/>
          </a:p>
          <a:p>
            <a:pPr marL="342900" indent="-342900">
              <a:spcAft>
                <a:spcPts val="600"/>
              </a:spcAft>
              <a:buSzPct val="100000"/>
              <a:buChar char="•"/>
            </a:pPr>
            <a:r>
              <a:rPr lang="en-US" sz="1500" dirty="0">
                <a:solidFill>
                  <a:schemeClr val="tx1"/>
                </a:solidFill>
              </a:rPr>
              <a:t>Niveaux stockés dans le code (String[]) et contrôlés par verifierNiveau() : 1 joueur, au moins 1 caisse, autant d'objectifs que de caisses, des murs, des cases libres</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424160" cy="777240"/>
          </a:xfrm>
          <a:prstGeom prst="rect">
            <a:avLst/>
          </a:prstGeom>
          <a:noFill/>
          <a:ln/>
        </p:spPr>
        <p:txBody>
          <a:bodyPr wrap="square" lIns="0" tIns="0" rIns="0" bIns="0" rtlCol="0" anchor="ctr"/>
          <a:lstStyle/>
          <a:p>
            <a:pPr algn="l" indent="0" marL="0">
              <a:buNone/>
            </a:pPr>
            <a:r>
              <a:rPr lang="en-US" sz="3200" b="1" dirty="0">
                <a:solidFill>
                  <a:schemeClr val="tx1"/>
                </a:solidFill>
              </a:rPr>
              <a:t>Un déplacement en quatre méthodes</a:t>
            </a:r>
            <a:endParaRPr lang="en-US" sz="3200" dirty="0"/>
          </a:p>
        </p:txBody>
      </p:sp>
      <p:sp>
        <p:nvSpPr>
          <p:cNvPr id="3" name="Text 1"/>
          <p:cNvSpPr/>
          <p:nvPr/>
        </p:nvSpPr>
        <p:spPr>
          <a:xfrm>
            <a:off x="548640" y="1463040"/>
            <a:ext cx="2011680" cy="594360"/>
          </a:xfrm>
          <a:prstGeom prst="roundRect">
            <a:avLst>
              <a:gd name="adj" fmla="val 12308"/>
            </a:avLst>
          </a:prstGeom>
          <a:solidFill>
            <a:schemeClr val="tx1"/>
          </a:solidFill>
          <a:ln>
            <a:solidFill>
              <a:schemeClr val="tx1"/>
            </a:solidFill>
          </a:ln>
        </p:spPr>
        <p:txBody>
          <a:bodyPr wrap="square" lIns="0" tIns="0" rIns="0" bIns="0" rtlCol="0" anchor="ctr"/>
          <a:lstStyle/>
          <a:p>
            <a:pPr algn="ctr" indent="0" marL="0">
              <a:buNone/>
            </a:pPr>
            <a:r>
              <a:rPr lang="en-US" sz="1600" b="1" dirty="0">
                <a:solidFill>
                  <a:schemeClr val="bg1"/>
                </a:solidFill>
              </a:rPr>
              <a:t>Commande</a:t>
            </a:r>
            <a:endParaRPr lang="en-US" sz="1600" dirty="0"/>
          </a:p>
        </p:txBody>
      </p:sp>
      <p:sp>
        <p:nvSpPr>
          <p:cNvPr id="4" name="Text 2"/>
          <p:cNvSpPr txBox="1"/>
          <p:nvPr/>
        </p:nvSpPr>
        <p:spPr>
          <a:xfrm>
            <a:off x="548640" y="2148840"/>
            <a:ext cx="2011680" cy="685800"/>
          </a:xfrm>
          <a:prstGeom prst="rect">
            <a:avLst/>
          </a:prstGeom>
          <a:noFill/>
          <a:ln/>
        </p:spPr>
        <p:txBody>
          <a:bodyPr wrap="square" lIns="0" tIns="0" rIns="0" bIns="0" rtlCol="0" anchor="t"/>
          <a:lstStyle/>
          <a:p>
            <a:pPr algn="ctr" indent="0" marL="0">
              <a:buNone/>
            </a:pPr>
            <a:r>
              <a:rPr lang="en-US" sz="1400" dirty="0">
                <a:solidFill>
                  <a:schemeClr val="tx1"/>
                </a:solidFill>
              </a:rPr>
              <a:t>z / q / s / d</a:t>
            </a:r>
            <a:endParaRPr lang="en-US" sz="1400" dirty="0"/>
          </a:p>
          <a:p>
            <a:pPr algn="ctr" indent="0" marL="0">
              <a:buNone/>
            </a:pPr>
            <a:r>
              <a:rPr lang="en-US" sz="1400" dirty="0">
                <a:solidFill>
                  <a:schemeClr val="tx1"/>
                </a:solidFill>
              </a:rPr>
              <a:t>lue et validée</a:t>
            </a:r>
            <a:endParaRPr lang="en-US" sz="1400" dirty="0"/>
          </a:p>
        </p:txBody>
      </p:sp>
      <p:sp>
        <p:nvSpPr>
          <p:cNvPr id="5" name="Shape 3"/>
          <p:cNvSpPr/>
          <p:nvPr/>
        </p:nvSpPr>
        <p:spPr>
          <a:xfrm>
            <a:off x="2587752" y="1760220"/>
            <a:ext cx="219456" cy="914"/>
          </a:xfrm>
          <a:prstGeom prst="line">
            <a:avLst/>
          </a:prstGeom>
          <a:noFill/>
          <a:ln w="19050">
            <a:solidFill>
              <a:schemeClr val="accent5"/>
            </a:solidFill>
            <a:prstDash val="solid"/>
            <a:tailEnd type="triangle"/>
          </a:ln>
        </p:spPr>
      </p:sp>
      <p:sp>
        <p:nvSpPr>
          <p:cNvPr id="6" name="Text 4"/>
          <p:cNvSpPr/>
          <p:nvPr/>
        </p:nvSpPr>
        <p:spPr>
          <a:xfrm>
            <a:off x="2834640" y="1463040"/>
            <a:ext cx="2011680" cy="594360"/>
          </a:xfrm>
          <a:prstGeom prst="roundRect">
            <a:avLst>
              <a:gd name="adj" fmla="val 12308"/>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deplacementValide()</a:t>
            </a:r>
            <a:endParaRPr lang="en-US" sz="1300" dirty="0"/>
          </a:p>
        </p:txBody>
      </p:sp>
      <p:sp>
        <p:nvSpPr>
          <p:cNvPr id="7" name="Text 5"/>
          <p:cNvSpPr txBox="1"/>
          <p:nvPr/>
        </p:nvSpPr>
        <p:spPr>
          <a:xfrm>
            <a:off x="2834640" y="2148840"/>
            <a:ext cx="2011680" cy="685800"/>
          </a:xfrm>
          <a:prstGeom prst="rect">
            <a:avLst/>
          </a:prstGeom>
          <a:noFill/>
          <a:ln/>
        </p:spPr>
        <p:txBody>
          <a:bodyPr wrap="square" lIns="0" tIns="0" rIns="0" bIns="0" rtlCol="0" anchor="t"/>
          <a:lstStyle/>
          <a:p>
            <a:pPr algn="ctr" indent="0" marL="0">
              <a:buNone/>
            </a:pPr>
            <a:r>
              <a:rPr lang="en-US" sz="1400" dirty="0">
                <a:solidFill>
                  <a:schemeClr val="tx1"/>
                </a:solidFill>
              </a:rPr>
              <a:t>pas de mur ?</a:t>
            </a:r>
            <a:endParaRPr lang="en-US" sz="1400" dirty="0"/>
          </a:p>
          <a:p>
            <a:pPr algn="ctr" indent="0" marL="0">
              <a:buNone/>
            </a:pPr>
            <a:r>
              <a:rPr lang="en-US" sz="1400" dirty="0">
                <a:solidFill>
                  <a:schemeClr val="tx1"/>
                </a:solidFill>
              </a:rPr>
              <a:t>caisse poussable ?</a:t>
            </a:r>
            <a:endParaRPr lang="en-US" sz="1400" dirty="0"/>
          </a:p>
        </p:txBody>
      </p:sp>
      <p:sp>
        <p:nvSpPr>
          <p:cNvPr id="8" name="Shape 6"/>
          <p:cNvSpPr/>
          <p:nvPr/>
        </p:nvSpPr>
        <p:spPr>
          <a:xfrm>
            <a:off x="4873752" y="1760220"/>
            <a:ext cx="219456" cy="914"/>
          </a:xfrm>
          <a:prstGeom prst="line">
            <a:avLst/>
          </a:prstGeom>
          <a:noFill/>
          <a:ln w="19050">
            <a:solidFill>
              <a:schemeClr val="accent5"/>
            </a:solidFill>
            <a:prstDash val="solid"/>
            <a:tailEnd type="triangle"/>
          </a:ln>
        </p:spPr>
      </p:sp>
      <p:sp>
        <p:nvSpPr>
          <p:cNvPr id="9" name="Text 7"/>
          <p:cNvSpPr/>
          <p:nvPr/>
        </p:nvSpPr>
        <p:spPr>
          <a:xfrm>
            <a:off x="5120640" y="1463040"/>
            <a:ext cx="2011680" cy="594360"/>
          </a:xfrm>
          <a:prstGeom prst="roundRect">
            <a:avLst>
              <a:gd name="adj" fmla="val 12308"/>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peutPousser()</a:t>
            </a:r>
            <a:endParaRPr lang="en-US" sz="1300" dirty="0"/>
          </a:p>
        </p:txBody>
      </p:sp>
      <p:sp>
        <p:nvSpPr>
          <p:cNvPr id="10" name="Text 8"/>
          <p:cNvSpPr txBox="1"/>
          <p:nvPr/>
        </p:nvSpPr>
        <p:spPr>
          <a:xfrm>
            <a:off x="5120640" y="2148840"/>
            <a:ext cx="2011680" cy="685800"/>
          </a:xfrm>
          <a:prstGeom prst="rect">
            <a:avLst/>
          </a:prstGeom>
          <a:noFill/>
          <a:ln/>
        </p:spPr>
        <p:txBody>
          <a:bodyPr wrap="square" lIns="0" tIns="0" rIns="0" bIns="0" rtlCol="0" anchor="t"/>
          <a:lstStyle/>
          <a:p>
            <a:pPr algn="ctr" indent="0" marL="0">
              <a:buNone/>
            </a:pPr>
            <a:r>
              <a:rPr lang="en-US" sz="1400" dirty="0">
                <a:solidFill>
                  <a:schemeClr val="tx1"/>
                </a:solidFill>
              </a:rPr>
              <a:t>case derrière</a:t>
            </a:r>
            <a:endParaRPr lang="en-US" sz="1400" dirty="0"/>
          </a:p>
          <a:p>
            <a:pPr algn="ctr" indent="0" marL="0">
              <a:buNone/>
            </a:pPr>
            <a:r>
              <a:rPr lang="en-US" sz="1400" dirty="0">
                <a:solidFill>
                  <a:schemeClr val="tx1"/>
                </a:solidFill>
              </a:rPr>
              <a:t>la caisse libre ?</a:t>
            </a:r>
            <a:endParaRPr lang="en-US" sz="1400" dirty="0"/>
          </a:p>
        </p:txBody>
      </p:sp>
      <p:sp>
        <p:nvSpPr>
          <p:cNvPr id="11" name="Shape 9"/>
          <p:cNvSpPr/>
          <p:nvPr/>
        </p:nvSpPr>
        <p:spPr>
          <a:xfrm>
            <a:off x="7159752" y="1760220"/>
            <a:ext cx="219456" cy="914"/>
          </a:xfrm>
          <a:prstGeom prst="line">
            <a:avLst/>
          </a:prstGeom>
          <a:noFill/>
          <a:ln w="19050">
            <a:solidFill>
              <a:schemeClr val="accent5"/>
            </a:solidFill>
            <a:prstDash val="solid"/>
            <a:tailEnd type="triangle"/>
          </a:ln>
        </p:spPr>
      </p:sp>
      <p:sp>
        <p:nvSpPr>
          <p:cNvPr id="12" name="Text 10"/>
          <p:cNvSpPr/>
          <p:nvPr/>
        </p:nvSpPr>
        <p:spPr>
          <a:xfrm>
            <a:off x="7406640" y="1463040"/>
            <a:ext cx="2011680" cy="594360"/>
          </a:xfrm>
          <a:prstGeom prst="roundRect">
            <a:avLst>
              <a:gd name="adj" fmla="val 12308"/>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deplacerCaisse()</a:t>
            </a:r>
            <a:endParaRPr lang="en-US" sz="1300" dirty="0"/>
          </a:p>
        </p:txBody>
      </p:sp>
      <p:sp>
        <p:nvSpPr>
          <p:cNvPr id="13" name="Text 11"/>
          <p:cNvSpPr txBox="1"/>
          <p:nvPr/>
        </p:nvSpPr>
        <p:spPr>
          <a:xfrm>
            <a:off x="7406640" y="2148840"/>
            <a:ext cx="2011680" cy="685800"/>
          </a:xfrm>
          <a:prstGeom prst="rect">
            <a:avLst/>
          </a:prstGeom>
          <a:noFill/>
          <a:ln/>
        </p:spPr>
        <p:txBody>
          <a:bodyPr wrap="square" lIns="0" tIns="0" rIns="0" bIns="0" rtlCol="0" anchor="t"/>
          <a:lstStyle/>
          <a:p>
            <a:pPr algn="ctr" indent="0" marL="0">
              <a:buNone/>
            </a:pPr>
            <a:r>
              <a:rPr lang="en-US" sz="1400" dirty="0">
                <a:solidFill>
                  <a:schemeClr val="tx1"/>
                </a:solidFill>
              </a:rPr>
              <a:t>la caisse</a:t>
            </a:r>
            <a:endParaRPr lang="en-US" sz="1400" dirty="0"/>
          </a:p>
          <a:p>
            <a:pPr algn="ctr" indent="0" marL="0">
              <a:buNone/>
            </a:pPr>
            <a:r>
              <a:rPr lang="en-US" sz="1400" dirty="0">
                <a:solidFill>
                  <a:schemeClr val="tx1"/>
                </a:solidFill>
              </a:rPr>
              <a:t>avance d'une case</a:t>
            </a:r>
            <a:endParaRPr lang="en-US" sz="1400" dirty="0"/>
          </a:p>
        </p:txBody>
      </p:sp>
      <p:sp>
        <p:nvSpPr>
          <p:cNvPr id="14" name="Shape 12"/>
          <p:cNvSpPr/>
          <p:nvPr/>
        </p:nvSpPr>
        <p:spPr>
          <a:xfrm>
            <a:off x="9445752" y="1760220"/>
            <a:ext cx="219456" cy="914"/>
          </a:xfrm>
          <a:prstGeom prst="line">
            <a:avLst/>
          </a:prstGeom>
          <a:noFill/>
          <a:ln w="19050">
            <a:solidFill>
              <a:schemeClr val="accent5"/>
            </a:solidFill>
            <a:prstDash val="solid"/>
            <a:tailEnd type="triangle"/>
          </a:ln>
        </p:spPr>
      </p:sp>
      <p:sp>
        <p:nvSpPr>
          <p:cNvPr id="15" name="Text 13"/>
          <p:cNvSpPr/>
          <p:nvPr/>
        </p:nvSpPr>
        <p:spPr>
          <a:xfrm>
            <a:off x="9692640" y="1463040"/>
            <a:ext cx="2011680" cy="594360"/>
          </a:xfrm>
          <a:prstGeom prst="roundRect">
            <a:avLst>
              <a:gd name="adj" fmla="val 12308"/>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deplacerJoueur()</a:t>
            </a:r>
            <a:endParaRPr lang="en-US" sz="1300" dirty="0"/>
          </a:p>
        </p:txBody>
      </p:sp>
      <p:sp>
        <p:nvSpPr>
          <p:cNvPr id="16" name="Text 14"/>
          <p:cNvSpPr txBox="1"/>
          <p:nvPr/>
        </p:nvSpPr>
        <p:spPr>
          <a:xfrm>
            <a:off x="9692640" y="2148840"/>
            <a:ext cx="2011680" cy="685800"/>
          </a:xfrm>
          <a:prstGeom prst="rect">
            <a:avLst/>
          </a:prstGeom>
          <a:noFill/>
          <a:ln/>
        </p:spPr>
        <p:txBody>
          <a:bodyPr wrap="square" lIns="0" tIns="0" rIns="0" bIns="0" rtlCol="0" anchor="t"/>
          <a:lstStyle/>
          <a:p>
            <a:pPr algn="ctr" indent="0" marL="0">
              <a:buNone/>
            </a:pPr>
            <a:r>
              <a:rPr lang="en-US" sz="1400" dirty="0">
                <a:solidFill>
                  <a:schemeClr val="tx1"/>
                </a:solidFill>
              </a:rPr>
              <a:t>joueur déplacé,</a:t>
            </a:r>
            <a:endParaRPr lang="en-US" sz="1400" dirty="0"/>
          </a:p>
          <a:p>
            <a:pPr algn="ctr" indent="0" marL="0">
              <a:buNone/>
            </a:pPr>
            <a:r>
              <a:rPr lang="en-US" sz="1400" dirty="0">
                <a:solidFill>
                  <a:schemeClr val="tx1"/>
                </a:solidFill>
              </a:rPr>
              <a:t>compteur + 1</a:t>
            </a:r>
            <a:endParaRPr lang="en-US" sz="1400" dirty="0"/>
          </a:p>
        </p:txBody>
      </p:sp>
      <p:sp>
        <p:nvSpPr>
          <p:cNvPr id="17" name="refus"/>
          <p:cNvSpPr/>
          <p:nvPr/>
        </p:nvSpPr>
        <p:spPr>
          <a:xfrm>
            <a:off x="548640" y="3154680"/>
            <a:ext cx="5394960" cy="2971800"/>
          </a:xfrm>
          <a:prstGeom prst="roundRect">
            <a:avLst>
              <a:gd name="adj" fmla="val 3692"/>
            </a:avLst>
          </a:prstGeom>
          <a:solidFill>
            <a:schemeClr val="bg2"/>
          </a:solidFill>
          <a:ln w="12700">
            <a:solidFill>
              <a:schemeClr val="bg2"/>
            </a:solidFill>
            <a:prstDash val="solid"/>
          </a:ln>
        </p:spPr>
      </p:sp>
      <p:sp>
        <p:nvSpPr>
          <p:cNvPr id="18" name="Text 16"/>
          <p:cNvSpPr txBox="1"/>
          <p:nvPr/>
        </p:nvSpPr>
        <p:spPr>
          <a:xfrm>
            <a:off x="822960" y="3337560"/>
            <a:ext cx="4937760" cy="365760"/>
          </a:xfrm>
          <a:prstGeom prst="rect">
            <a:avLst/>
          </a:prstGeom>
          <a:noFill/>
          <a:ln/>
        </p:spPr>
        <p:txBody>
          <a:bodyPr wrap="square" lIns="0" tIns="0" rIns="0" bIns="0" rtlCol="0" anchor="t"/>
          <a:lstStyle/>
          <a:p>
            <a:pPr indent="0" marL="0">
              <a:buNone/>
            </a:pPr>
            <a:r>
              <a:rPr lang="en-US" sz="1800" b="1" dirty="0">
                <a:solidFill>
                  <a:schemeClr val="tx1"/>
                </a:solidFill>
              </a:rPr>
              <a:t>Coups refusés (aucun mouvement compté)</a:t>
            </a:r>
            <a:endParaRPr lang="en-US" sz="1800" dirty="0"/>
          </a:p>
        </p:txBody>
      </p:sp>
      <p:sp>
        <p:nvSpPr>
          <p:cNvPr id="19" name="Shape 17"/>
          <p:cNvSpPr/>
          <p:nvPr/>
        </p:nvSpPr>
        <p:spPr>
          <a:xfrm>
            <a:off x="868680" y="3840480"/>
            <a:ext cx="329184" cy="329184"/>
          </a:xfrm>
          <a:prstGeom prst="rect">
            <a:avLst/>
          </a:prstGeom>
          <a:solidFill>
            <a:schemeClr val="tx1"/>
          </a:solidFill>
          <a:ln w="9525">
            <a:solidFill>
              <a:schemeClr val="bg2"/>
            </a:solidFill>
            <a:prstDash val="solid"/>
          </a:ln>
        </p:spPr>
      </p:sp>
      <p:sp>
        <p:nvSpPr>
          <p:cNvPr id="20" name="Shape 18"/>
          <p:cNvSpPr/>
          <p:nvPr/>
        </p:nvSpPr>
        <p:spPr>
          <a:xfrm>
            <a:off x="1197864" y="3840480"/>
            <a:ext cx="329184" cy="329184"/>
          </a:xfrm>
          <a:prstGeom prst="rect">
            <a:avLst/>
          </a:prstGeom>
          <a:solidFill>
            <a:schemeClr val="tx1"/>
          </a:solidFill>
          <a:ln w="9525">
            <a:solidFill>
              <a:schemeClr val="bg2"/>
            </a:solidFill>
            <a:prstDash val="solid"/>
          </a:ln>
        </p:spPr>
      </p:sp>
      <p:sp>
        <p:nvSpPr>
          <p:cNvPr id="21" name="Shape 19"/>
          <p:cNvSpPr/>
          <p:nvPr/>
        </p:nvSpPr>
        <p:spPr>
          <a:xfrm>
            <a:off x="1527048" y="3840480"/>
            <a:ext cx="329184" cy="329184"/>
          </a:xfrm>
          <a:prstGeom prst="rect">
            <a:avLst/>
          </a:prstGeom>
          <a:solidFill>
            <a:schemeClr val="tx1"/>
          </a:solidFill>
          <a:ln w="9525">
            <a:solidFill>
              <a:schemeClr val="bg2"/>
            </a:solidFill>
            <a:prstDash val="solid"/>
          </a:ln>
        </p:spPr>
      </p:sp>
      <p:sp>
        <p:nvSpPr>
          <p:cNvPr id="22" name="Shape 20"/>
          <p:cNvSpPr/>
          <p:nvPr/>
        </p:nvSpPr>
        <p:spPr>
          <a:xfrm>
            <a:off x="1856232" y="3840480"/>
            <a:ext cx="329184" cy="329184"/>
          </a:xfrm>
          <a:prstGeom prst="rect">
            <a:avLst/>
          </a:prstGeom>
          <a:solidFill>
            <a:schemeClr val="tx1"/>
          </a:solidFill>
          <a:ln w="9525">
            <a:solidFill>
              <a:schemeClr val="bg2"/>
            </a:solidFill>
            <a:prstDash val="solid"/>
          </a:ln>
        </p:spPr>
      </p:sp>
      <p:sp>
        <p:nvSpPr>
          <p:cNvPr id="23" name="Shape 21"/>
          <p:cNvSpPr/>
          <p:nvPr/>
        </p:nvSpPr>
        <p:spPr>
          <a:xfrm>
            <a:off x="2185416" y="3840480"/>
            <a:ext cx="329184" cy="329184"/>
          </a:xfrm>
          <a:prstGeom prst="rect">
            <a:avLst/>
          </a:prstGeom>
          <a:solidFill>
            <a:schemeClr val="tx1"/>
          </a:solidFill>
          <a:ln w="9525">
            <a:solidFill>
              <a:schemeClr val="bg2"/>
            </a:solidFill>
            <a:prstDash val="solid"/>
          </a:ln>
        </p:spPr>
      </p:sp>
      <p:sp>
        <p:nvSpPr>
          <p:cNvPr id="24" name="Shape 22"/>
          <p:cNvSpPr/>
          <p:nvPr/>
        </p:nvSpPr>
        <p:spPr>
          <a:xfrm>
            <a:off x="868680" y="4169664"/>
            <a:ext cx="329184" cy="329184"/>
          </a:xfrm>
          <a:prstGeom prst="rect">
            <a:avLst/>
          </a:prstGeom>
          <a:solidFill>
            <a:schemeClr val="tx1"/>
          </a:solidFill>
          <a:ln w="9525">
            <a:solidFill>
              <a:schemeClr val="bg2"/>
            </a:solidFill>
            <a:prstDash val="solid"/>
          </a:ln>
        </p:spPr>
      </p:sp>
      <p:sp>
        <p:nvSpPr>
          <p:cNvPr id="25" name="Shape 23"/>
          <p:cNvSpPr/>
          <p:nvPr/>
        </p:nvSpPr>
        <p:spPr>
          <a:xfrm>
            <a:off x="1197864" y="4169664"/>
            <a:ext cx="329184" cy="329184"/>
          </a:xfrm>
          <a:prstGeom prst="rect">
            <a:avLst/>
          </a:prstGeom>
          <a:solidFill>
            <a:schemeClr val="bg2"/>
          </a:solidFill>
          <a:ln w="12700">
            <a:solidFill>
              <a:schemeClr val="bg2"/>
            </a:solidFill>
            <a:prstDash val="solid"/>
          </a:ln>
        </p:spPr>
      </p:sp>
      <p:sp>
        <p:nvSpPr>
          <p:cNvPr id="26" name="Shape 24"/>
          <p:cNvSpPr/>
          <p:nvPr/>
        </p:nvSpPr>
        <p:spPr>
          <a:xfrm>
            <a:off x="1263701" y="4235501"/>
            <a:ext cx="197510" cy="197510"/>
          </a:xfrm>
          <a:prstGeom prst="ellipse">
            <a:avLst/>
          </a:prstGeom>
          <a:solidFill>
            <a:schemeClr val="accent3"/>
          </a:solidFill>
          <a:ln w="12700">
            <a:solidFill>
              <a:schemeClr val="accent3"/>
            </a:solidFill>
            <a:prstDash val="solid"/>
          </a:ln>
        </p:spPr>
      </p:sp>
      <p:sp>
        <p:nvSpPr>
          <p:cNvPr id="27" name="Shape 25"/>
          <p:cNvSpPr/>
          <p:nvPr/>
        </p:nvSpPr>
        <p:spPr>
          <a:xfrm>
            <a:off x="1527048" y="4169664"/>
            <a:ext cx="329184" cy="329184"/>
          </a:xfrm>
          <a:prstGeom prst="rect">
            <a:avLst/>
          </a:prstGeom>
          <a:solidFill>
            <a:schemeClr val="bg2"/>
          </a:solidFill>
          <a:ln w="12700">
            <a:solidFill>
              <a:schemeClr val="bg2"/>
            </a:solidFill>
            <a:prstDash val="solid"/>
          </a:ln>
        </p:spPr>
      </p:sp>
      <p:sp>
        <p:nvSpPr>
          <p:cNvPr id="28" name="Shape 26"/>
          <p:cNvSpPr/>
          <p:nvPr/>
        </p:nvSpPr>
        <p:spPr>
          <a:xfrm>
            <a:off x="1569842" y="4212458"/>
            <a:ext cx="243596" cy="243596"/>
          </a:xfrm>
          <a:prstGeom prst="roundRect">
            <a:avLst>
              <a:gd name="adj" fmla="val 18000"/>
            </a:avLst>
          </a:prstGeom>
          <a:solidFill>
            <a:schemeClr val="accent2"/>
          </a:solidFill>
          <a:ln w="12700">
            <a:solidFill>
              <a:schemeClr val="accent2"/>
            </a:solidFill>
            <a:prstDash val="solid"/>
          </a:ln>
        </p:spPr>
      </p:sp>
      <p:sp>
        <p:nvSpPr>
          <p:cNvPr id="29" name="Shape 27"/>
          <p:cNvSpPr/>
          <p:nvPr/>
        </p:nvSpPr>
        <p:spPr>
          <a:xfrm>
            <a:off x="1856232" y="4169664"/>
            <a:ext cx="329184" cy="329184"/>
          </a:xfrm>
          <a:prstGeom prst="rect">
            <a:avLst/>
          </a:prstGeom>
          <a:solidFill>
            <a:schemeClr val="bg2"/>
          </a:solidFill>
          <a:ln w="12700">
            <a:solidFill>
              <a:schemeClr val="bg2"/>
            </a:solidFill>
            <a:prstDash val="solid"/>
          </a:ln>
        </p:spPr>
      </p:sp>
      <p:sp>
        <p:nvSpPr>
          <p:cNvPr id="30" name="Shape 28"/>
          <p:cNvSpPr/>
          <p:nvPr/>
        </p:nvSpPr>
        <p:spPr>
          <a:xfrm>
            <a:off x="1899026" y="4212458"/>
            <a:ext cx="243596" cy="243596"/>
          </a:xfrm>
          <a:prstGeom prst="roundRect">
            <a:avLst>
              <a:gd name="adj" fmla="val 18000"/>
            </a:avLst>
          </a:prstGeom>
          <a:solidFill>
            <a:schemeClr val="accent2"/>
          </a:solidFill>
          <a:ln w="12700">
            <a:solidFill>
              <a:schemeClr val="accent2"/>
            </a:solidFill>
            <a:prstDash val="solid"/>
          </a:ln>
        </p:spPr>
      </p:sp>
      <p:sp>
        <p:nvSpPr>
          <p:cNvPr id="31" name="Shape 29"/>
          <p:cNvSpPr/>
          <p:nvPr/>
        </p:nvSpPr>
        <p:spPr>
          <a:xfrm>
            <a:off x="2185416" y="4169664"/>
            <a:ext cx="329184" cy="329184"/>
          </a:xfrm>
          <a:prstGeom prst="rect">
            <a:avLst/>
          </a:prstGeom>
          <a:solidFill>
            <a:schemeClr val="tx1"/>
          </a:solidFill>
          <a:ln w="9525">
            <a:solidFill>
              <a:schemeClr val="bg2"/>
            </a:solidFill>
            <a:prstDash val="solid"/>
          </a:ln>
        </p:spPr>
      </p:sp>
      <p:sp>
        <p:nvSpPr>
          <p:cNvPr id="32" name="Shape 30"/>
          <p:cNvSpPr/>
          <p:nvPr/>
        </p:nvSpPr>
        <p:spPr>
          <a:xfrm>
            <a:off x="868680" y="4498848"/>
            <a:ext cx="329184" cy="329184"/>
          </a:xfrm>
          <a:prstGeom prst="rect">
            <a:avLst/>
          </a:prstGeom>
          <a:solidFill>
            <a:schemeClr val="tx1"/>
          </a:solidFill>
          <a:ln w="9525">
            <a:solidFill>
              <a:schemeClr val="bg2"/>
            </a:solidFill>
            <a:prstDash val="solid"/>
          </a:ln>
        </p:spPr>
      </p:sp>
      <p:sp>
        <p:nvSpPr>
          <p:cNvPr id="33" name="Shape 31"/>
          <p:cNvSpPr/>
          <p:nvPr/>
        </p:nvSpPr>
        <p:spPr>
          <a:xfrm>
            <a:off x="1197864" y="4498848"/>
            <a:ext cx="329184" cy="329184"/>
          </a:xfrm>
          <a:prstGeom prst="rect">
            <a:avLst/>
          </a:prstGeom>
          <a:solidFill>
            <a:schemeClr val="tx1"/>
          </a:solidFill>
          <a:ln w="9525">
            <a:solidFill>
              <a:schemeClr val="bg2"/>
            </a:solidFill>
            <a:prstDash val="solid"/>
          </a:ln>
        </p:spPr>
      </p:sp>
      <p:sp>
        <p:nvSpPr>
          <p:cNvPr id="34" name="Shape 32"/>
          <p:cNvSpPr/>
          <p:nvPr/>
        </p:nvSpPr>
        <p:spPr>
          <a:xfrm>
            <a:off x="1527048" y="4498848"/>
            <a:ext cx="329184" cy="329184"/>
          </a:xfrm>
          <a:prstGeom prst="rect">
            <a:avLst/>
          </a:prstGeom>
          <a:solidFill>
            <a:schemeClr val="tx1"/>
          </a:solidFill>
          <a:ln w="9525">
            <a:solidFill>
              <a:schemeClr val="bg2"/>
            </a:solidFill>
            <a:prstDash val="solid"/>
          </a:ln>
        </p:spPr>
      </p:sp>
      <p:sp>
        <p:nvSpPr>
          <p:cNvPr id="35" name="Shape 33"/>
          <p:cNvSpPr/>
          <p:nvPr/>
        </p:nvSpPr>
        <p:spPr>
          <a:xfrm>
            <a:off x="1856232" y="4498848"/>
            <a:ext cx="329184" cy="329184"/>
          </a:xfrm>
          <a:prstGeom prst="rect">
            <a:avLst/>
          </a:prstGeom>
          <a:solidFill>
            <a:schemeClr val="tx1"/>
          </a:solidFill>
          <a:ln w="9525">
            <a:solidFill>
              <a:schemeClr val="bg2"/>
            </a:solidFill>
            <a:prstDash val="solid"/>
          </a:ln>
        </p:spPr>
      </p:sp>
      <p:sp>
        <p:nvSpPr>
          <p:cNvPr id="36" name="Shape 34"/>
          <p:cNvSpPr/>
          <p:nvPr/>
        </p:nvSpPr>
        <p:spPr>
          <a:xfrm>
            <a:off x="2185416" y="4498848"/>
            <a:ext cx="329184" cy="329184"/>
          </a:xfrm>
          <a:prstGeom prst="rect">
            <a:avLst/>
          </a:prstGeom>
          <a:solidFill>
            <a:schemeClr val="tx1"/>
          </a:solidFill>
          <a:ln w="9525">
            <a:solidFill>
              <a:schemeClr val="bg2"/>
            </a:solidFill>
            <a:prstDash val="solid"/>
          </a:ln>
        </p:spPr>
      </p:sp>
      <p:sp>
        <p:nvSpPr>
          <p:cNvPr id="37" name="Text 35"/>
          <p:cNvSpPr txBox="1"/>
          <p:nvPr/>
        </p:nvSpPr>
        <p:spPr>
          <a:xfrm>
            <a:off x="2926080" y="4178808"/>
            <a:ext cx="2834640" cy="320040"/>
          </a:xfrm>
          <a:prstGeom prst="rect">
            <a:avLst/>
          </a:prstGeom>
          <a:noFill/>
          <a:ln/>
        </p:spPr>
        <p:txBody>
          <a:bodyPr wrap="square" lIns="0" tIns="0" rIns="0" bIns="0" rtlCol="0" anchor="t"/>
          <a:lstStyle/>
          <a:p>
            <a:pPr indent="0" marL="0">
              <a:buNone/>
            </a:pPr>
            <a:r>
              <a:rPr lang="en-US" sz="1400" dirty="0">
                <a:solidFill>
                  <a:schemeClr val="accent5"/>
                </a:solidFill>
              </a:rPr>
              <a:t>deux caisses d'affilée : refusé</a:t>
            </a:r>
            <a:endParaRPr lang="en-US" sz="1400" dirty="0"/>
          </a:p>
        </p:txBody>
      </p:sp>
      <p:sp>
        <p:nvSpPr>
          <p:cNvPr id="38" name="Shape 36"/>
          <p:cNvSpPr/>
          <p:nvPr/>
        </p:nvSpPr>
        <p:spPr>
          <a:xfrm>
            <a:off x="868680" y="5029200"/>
            <a:ext cx="329184" cy="329184"/>
          </a:xfrm>
          <a:prstGeom prst="rect">
            <a:avLst/>
          </a:prstGeom>
          <a:solidFill>
            <a:schemeClr val="tx1"/>
          </a:solidFill>
          <a:ln w="9525">
            <a:solidFill>
              <a:schemeClr val="bg2"/>
            </a:solidFill>
            <a:prstDash val="solid"/>
          </a:ln>
        </p:spPr>
      </p:sp>
      <p:sp>
        <p:nvSpPr>
          <p:cNvPr id="39" name="Shape 37"/>
          <p:cNvSpPr/>
          <p:nvPr/>
        </p:nvSpPr>
        <p:spPr>
          <a:xfrm>
            <a:off x="1197864" y="5029200"/>
            <a:ext cx="329184" cy="329184"/>
          </a:xfrm>
          <a:prstGeom prst="rect">
            <a:avLst/>
          </a:prstGeom>
          <a:solidFill>
            <a:schemeClr val="tx1"/>
          </a:solidFill>
          <a:ln w="9525">
            <a:solidFill>
              <a:schemeClr val="bg2"/>
            </a:solidFill>
            <a:prstDash val="solid"/>
          </a:ln>
        </p:spPr>
      </p:sp>
      <p:sp>
        <p:nvSpPr>
          <p:cNvPr id="40" name="Shape 38"/>
          <p:cNvSpPr/>
          <p:nvPr/>
        </p:nvSpPr>
        <p:spPr>
          <a:xfrm>
            <a:off x="1527048" y="5029200"/>
            <a:ext cx="329184" cy="329184"/>
          </a:xfrm>
          <a:prstGeom prst="rect">
            <a:avLst/>
          </a:prstGeom>
          <a:solidFill>
            <a:schemeClr val="tx1"/>
          </a:solidFill>
          <a:ln w="9525">
            <a:solidFill>
              <a:schemeClr val="bg2"/>
            </a:solidFill>
            <a:prstDash val="solid"/>
          </a:ln>
        </p:spPr>
      </p:sp>
      <p:sp>
        <p:nvSpPr>
          <p:cNvPr id="41" name="Shape 39"/>
          <p:cNvSpPr/>
          <p:nvPr/>
        </p:nvSpPr>
        <p:spPr>
          <a:xfrm>
            <a:off x="1856232" y="5029200"/>
            <a:ext cx="329184" cy="329184"/>
          </a:xfrm>
          <a:prstGeom prst="rect">
            <a:avLst/>
          </a:prstGeom>
          <a:solidFill>
            <a:schemeClr val="tx1"/>
          </a:solidFill>
          <a:ln w="9525">
            <a:solidFill>
              <a:schemeClr val="bg2"/>
            </a:solidFill>
            <a:prstDash val="solid"/>
          </a:ln>
        </p:spPr>
      </p:sp>
      <p:sp>
        <p:nvSpPr>
          <p:cNvPr id="42" name="Shape 40"/>
          <p:cNvSpPr/>
          <p:nvPr/>
        </p:nvSpPr>
        <p:spPr>
          <a:xfrm>
            <a:off x="868680" y="5358384"/>
            <a:ext cx="329184" cy="329184"/>
          </a:xfrm>
          <a:prstGeom prst="rect">
            <a:avLst/>
          </a:prstGeom>
          <a:solidFill>
            <a:schemeClr val="tx1"/>
          </a:solidFill>
          <a:ln w="9525">
            <a:solidFill>
              <a:schemeClr val="bg2"/>
            </a:solidFill>
            <a:prstDash val="solid"/>
          </a:ln>
        </p:spPr>
      </p:sp>
      <p:sp>
        <p:nvSpPr>
          <p:cNvPr id="43" name="Shape 41"/>
          <p:cNvSpPr/>
          <p:nvPr/>
        </p:nvSpPr>
        <p:spPr>
          <a:xfrm>
            <a:off x="1197864" y="5358384"/>
            <a:ext cx="329184" cy="329184"/>
          </a:xfrm>
          <a:prstGeom prst="rect">
            <a:avLst/>
          </a:prstGeom>
          <a:solidFill>
            <a:schemeClr val="bg2"/>
          </a:solidFill>
          <a:ln w="12700">
            <a:solidFill>
              <a:schemeClr val="bg2"/>
            </a:solidFill>
            <a:prstDash val="solid"/>
          </a:ln>
        </p:spPr>
      </p:sp>
      <p:sp>
        <p:nvSpPr>
          <p:cNvPr id="44" name="Shape 42"/>
          <p:cNvSpPr/>
          <p:nvPr/>
        </p:nvSpPr>
        <p:spPr>
          <a:xfrm>
            <a:off x="1263701" y="5424221"/>
            <a:ext cx="197510" cy="197510"/>
          </a:xfrm>
          <a:prstGeom prst="ellipse">
            <a:avLst/>
          </a:prstGeom>
          <a:solidFill>
            <a:schemeClr val="accent3"/>
          </a:solidFill>
          <a:ln w="12700">
            <a:solidFill>
              <a:schemeClr val="accent3"/>
            </a:solidFill>
            <a:prstDash val="solid"/>
          </a:ln>
        </p:spPr>
      </p:sp>
      <p:sp>
        <p:nvSpPr>
          <p:cNvPr id="45" name="Shape 43"/>
          <p:cNvSpPr/>
          <p:nvPr/>
        </p:nvSpPr>
        <p:spPr>
          <a:xfrm>
            <a:off x="1527048" y="5358384"/>
            <a:ext cx="329184" cy="329184"/>
          </a:xfrm>
          <a:prstGeom prst="rect">
            <a:avLst/>
          </a:prstGeom>
          <a:solidFill>
            <a:schemeClr val="bg2"/>
          </a:solidFill>
          <a:ln w="12700">
            <a:solidFill>
              <a:schemeClr val="bg2"/>
            </a:solidFill>
            <a:prstDash val="solid"/>
          </a:ln>
        </p:spPr>
      </p:sp>
      <p:sp>
        <p:nvSpPr>
          <p:cNvPr id="46" name="Shape 44"/>
          <p:cNvSpPr/>
          <p:nvPr/>
        </p:nvSpPr>
        <p:spPr>
          <a:xfrm>
            <a:off x="1569842" y="5401178"/>
            <a:ext cx="243596" cy="243596"/>
          </a:xfrm>
          <a:prstGeom prst="roundRect">
            <a:avLst>
              <a:gd name="adj" fmla="val 18000"/>
            </a:avLst>
          </a:prstGeom>
          <a:solidFill>
            <a:schemeClr val="accent2"/>
          </a:solidFill>
          <a:ln w="12700">
            <a:solidFill>
              <a:schemeClr val="accent2"/>
            </a:solidFill>
            <a:prstDash val="solid"/>
          </a:ln>
        </p:spPr>
      </p:sp>
      <p:sp>
        <p:nvSpPr>
          <p:cNvPr id="47" name="Shape 45"/>
          <p:cNvSpPr/>
          <p:nvPr/>
        </p:nvSpPr>
        <p:spPr>
          <a:xfrm>
            <a:off x="1856232" y="5358384"/>
            <a:ext cx="329184" cy="329184"/>
          </a:xfrm>
          <a:prstGeom prst="rect">
            <a:avLst/>
          </a:prstGeom>
          <a:solidFill>
            <a:schemeClr val="tx1"/>
          </a:solidFill>
          <a:ln w="9525">
            <a:solidFill>
              <a:schemeClr val="bg2"/>
            </a:solidFill>
            <a:prstDash val="solid"/>
          </a:ln>
        </p:spPr>
      </p:sp>
      <p:sp>
        <p:nvSpPr>
          <p:cNvPr id="48" name="Shape 46"/>
          <p:cNvSpPr/>
          <p:nvPr/>
        </p:nvSpPr>
        <p:spPr>
          <a:xfrm>
            <a:off x="868680" y="5687568"/>
            <a:ext cx="329184" cy="329184"/>
          </a:xfrm>
          <a:prstGeom prst="rect">
            <a:avLst/>
          </a:prstGeom>
          <a:solidFill>
            <a:schemeClr val="tx1"/>
          </a:solidFill>
          <a:ln w="9525">
            <a:solidFill>
              <a:schemeClr val="bg2"/>
            </a:solidFill>
            <a:prstDash val="solid"/>
          </a:ln>
        </p:spPr>
      </p:sp>
      <p:sp>
        <p:nvSpPr>
          <p:cNvPr id="49" name="Shape 47"/>
          <p:cNvSpPr/>
          <p:nvPr/>
        </p:nvSpPr>
        <p:spPr>
          <a:xfrm>
            <a:off x="1197864" y="5687568"/>
            <a:ext cx="329184" cy="329184"/>
          </a:xfrm>
          <a:prstGeom prst="rect">
            <a:avLst/>
          </a:prstGeom>
          <a:solidFill>
            <a:schemeClr val="tx1"/>
          </a:solidFill>
          <a:ln w="9525">
            <a:solidFill>
              <a:schemeClr val="bg2"/>
            </a:solidFill>
            <a:prstDash val="solid"/>
          </a:ln>
        </p:spPr>
      </p:sp>
      <p:sp>
        <p:nvSpPr>
          <p:cNvPr id="50" name="Shape 48"/>
          <p:cNvSpPr/>
          <p:nvPr/>
        </p:nvSpPr>
        <p:spPr>
          <a:xfrm>
            <a:off x="1527048" y="5687568"/>
            <a:ext cx="329184" cy="329184"/>
          </a:xfrm>
          <a:prstGeom prst="rect">
            <a:avLst/>
          </a:prstGeom>
          <a:solidFill>
            <a:schemeClr val="tx1"/>
          </a:solidFill>
          <a:ln w="9525">
            <a:solidFill>
              <a:schemeClr val="bg2"/>
            </a:solidFill>
            <a:prstDash val="solid"/>
          </a:ln>
        </p:spPr>
      </p:sp>
      <p:sp>
        <p:nvSpPr>
          <p:cNvPr id="51" name="Shape 49"/>
          <p:cNvSpPr/>
          <p:nvPr/>
        </p:nvSpPr>
        <p:spPr>
          <a:xfrm>
            <a:off x="1856232" y="5687568"/>
            <a:ext cx="329184" cy="329184"/>
          </a:xfrm>
          <a:prstGeom prst="rect">
            <a:avLst/>
          </a:prstGeom>
          <a:solidFill>
            <a:schemeClr val="tx1"/>
          </a:solidFill>
          <a:ln w="9525">
            <a:solidFill>
              <a:schemeClr val="bg2"/>
            </a:solidFill>
            <a:prstDash val="solid"/>
          </a:ln>
        </p:spPr>
      </p:sp>
      <p:sp>
        <p:nvSpPr>
          <p:cNvPr id="52" name="Text 50"/>
          <p:cNvSpPr txBox="1"/>
          <p:nvPr/>
        </p:nvSpPr>
        <p:spPr>
          <a:xfrm>
            <a:off x="2926080" y="5367528"/>
            <a:ext cx="2834640" cy="320040"/>
          </a:xfrm>
          <a:prstGeom prst="rect">
            <a:avLst/>
          </a:prstGeom>
          <a:noFill/>
          <a:ln/>
        </p:spPr>
        <p:txBody>
          <a:bodyPr wrap="square" lIns="0" tIns="0" rIns="0" bIns="0" rtlCol="0" anchor="t"/>
          <a:lstStyle/>
          <a:p>
            <a:pPr indent="0" marL="0">
              <a:buNone/>
            </a:pPr>
            <a:r>
              <a:rPr lang="en-US" sz="1400" dirty="0">
                <a:solidFill>
                  <a:schemeClr val="accent5"/>
                </a:solidFill>
              </a:rPr>
              <a:t>caisse contre un mur : refusé</a:t>
            </a:r>
            <a:endParaRPr lang="en-US" sz="1400" dirty="0"/>
          </a:p>
        </p:txBody>
      </p:sp>
      <p:sp>
        <p:nvSpPr>
          <p:cNvPr id="53" name="pile"/>
          <p:cNvSpPr/>
          <p:nvPr/>
        </p:nvSpPr>
        <p:spPr>
          <a:xfrm>
            <a:off x="6217920" y="3154680"/>
            <a:ext cx="5394960" cy="2971800"/>
          </a:xfrm>
          <a:prstGeom prst="roundRect">
            <a:avLst>
              <a:gd name="adj" fmla="val 3692"/>
            </a:avLst>
          </a:prstGeom>
          <a:solidFill>
            <a:schemeClr val="bg2"/>
          </a:solidFill>
          <a:ln w="12700">
            <a:solidFill>
              <a:schemeClr val="bg2"/>
            </a:solidFill>
            <a:prstDash val="solid"/>
          </a:ln>
        </p:spPr>
      </p:sp>
      <p:sp>
        <p:nvSpPr>
          <p:cNvPr id="54" name="Text 52"/>
          <p:cNvSpPr txBox="1"/>
          <p:nvPr/>
        </p:nvSpPr>
        <p:spPr>
          <a:xfrm>
            <a:off x="6492240" y="3337560"/>
            <a:ext cx="4937760" cy="365760"/>
          </a:xfrm>
          <a:prstGeom prst="rect">
            <a:avLst/>
          </a:prstGeom>
          <a:noFill/>
          <a:ln/>
        </p:spPr>
        <p:txBody>
          <a:bodyPr wrap="square" lIns="0" tIns="0" rIns="0" bIns="0" rtlCol="0" anchor="t"/>
          <a:lstStyle/>
          <a:p>
            <a:pPr indent="0" marL="0">
              <a:buNone/>
            </a:pPr>
            <a:r>
              <a:rPr lang="en-US" sz="1800" b="1" dirty="0">
                <a:solidFill>
                  <a:schemeClr val="tx1"/>
                </a:solidFill>
              </a:rPr>
              <a:t>Bonus : annuler grâce à une pile</a:t>
            </a:r>
            <a:endParaRPr lang="en-US" sz="1800" dirty="0"/>
          </a:p>
        </p:txBody>
      </p:sp>
      <p:sp>
        <p:nvSpPr>
          <p:cNvPr id="55" name="Text 53"/>
          <p:cNvSpPr/>
          <p:nvPr/>
        </p:nvSpPr>
        <p:spPr>
          <a:xfrm>
            <a:off x="6492240" y="3931920"/>
            <a:ext cx="2194560" cy="411480"/>
          </a:xfrm>
          <a:prstGeom prst="rect">
            <a:avLst/>
          </a:prstGeom>
          <a:solidFill>
            <a:schemeClr val="accent2"/>
          </a:solidFill>
          <a:ln w="12700">
            <a:solidFill>
              <a:schemeClr val="accent2"/>
            </a:solidFill>
          </a:ln>
        </p:spPr>
        <p:txBody>
          <a:bodyPr wrap="square" lIns="0" tIns="0" rIns="0" bIns="0" rtlCol="0" anchor="ctr"/>
          <a:lstStyle/>
          <a:p>
            <a:pPr algn="ctr" indent="0" marL="0">
              <a:buNone/>
            </a:pPr>
            <a:r>
              <a:rPr lang="en-US" sz="1300" dirty="0">
                <a:solidFill>
                  <a:schemeClr val="bg1"/>
                </a:solidFill>
                <a:latin typeface="Courier New" pitchFamily="34" charset="0"/>
                <a:ea typeface="Courier New" pitchFamily="34" charset="-122"/>
                <a:cs typeface="Courier New" pitchFamily="34" charset="-120"/>
              </a:rPr>
              <a:t>3 × 2 + 1 = 7</a:t>
            </a:r>
            <a:endParaRPr lang="en-US" sz="1300" dirty="0"/>
          </a:p>
        </p:txBody>
      </p:sp>
      <p:sp>
        <p:nvSpPr>
          <p:cNvPr id="56" name="Text 54"/>
          <p:cNvSpPr/>
          <p:nvPr/>
        </p:nvSpPr>
        <p:spPr>
          <a:xfrm>
            <a:off x="6492240" y="4389120"/>
            <a:ext cx="2194560" cy="411480"/>
          </a:xfrm>
          <a:prstGeom prst="rect">
            <a:avLst/>
          </a:prstGeom>
          <a:solidFill>
            <a:schemeClr val="bg1"/>
          </a:solidFill>
          <a:ln w="12700">
            <a:solidFill>
              <a:schemeClr val="accent2"/>
            </a:solidFill>
          </a:ln>
        </p:spPr>
        <p:txBody>
          <a:bodyPr wrap="square" lIns="0" tIns="0" rIns="0" bIns="0" rtlCol="0" anchor="ctr"/>
          <a:lstStyle/>
          <a:p>
            <a:pPr algn="ctr" indent="0" marL="0">
              <a:buNone/>
            </a:pPr>
            <a:r>
              <a:rPr lang="en-US" sz="1300" dirty="0">
                <a:solidFill>
                  <a:schemeClr val="tx1"/>
                </a:solidFill>
                <a:latin typeface="Courier New" pitchFamily="34" charset="0"/>
                <a:ea typeface="Courier New" pitchFamily="34" charset="-122"/>
                <a:cs typeface="Courier New" pitchFamily="34" charset="-120"/>
              </a:rPr>
              <a:t>0 × 2 + 0 = 0</a:t>
            </a:r>
            <a:endParaRPr lang="en-US" sz="1300" dirty="0"/>
          </a:p>
        </p:txBody>
      </p:sp>
      <p:sp>
        <p:nvSpPr>
          <p:cNvPr id="57" name="Text 55"/>
          <p:cNvSpPr/>
          <p:nvPr/>
        </p:nvSpPr>
        <p:spPr>
          <a:xfrm>
            <a:off x="6492240" y="4846320"/>
            <a:ext cx="2194560" cy="411480"/>
          </a:xfrm>
          <a:prstGeom prst="rect">
            <a:avLst/>
          </a:prstGeom>
          <a:solidFill>
            <a:schemeClr val="bg1"/>
          </a:solidFill>
          <a:ln w="12700">
            <a:solidFill>
              <a:schemeClr val="accent2"/>
            </a:solidFill>
          </a:ln>
        </p:spPr>
        <p:txBody>
          <a:bodyPr wrap="square" lIns="0" tIns="0" rIns="0" bIns="0" rtlCol="0" anchor="ctr"/>
          <a:lstStyle/>
          <a:p>
            <a:pPr algn="ctr" indent="0" marL="0">
              <a:buNone/>
            </a:pPr>
            <a:r>
              <a:rPr lang="en-US" sz="1300" dirty="0">
                <a:solidFill>
                  <a:schemeClr val="tx1"/>
                </a:solidFill>
                <a:latin typeface="Courier New" pitchFamily="34" charset="0"/>
                <a:ea typeface="Courier New" pitchFamily="34" charset="-122"/>
                <a:cs typeface="Courier New" pitchFamily="34" charset="-120"/>
              </a:rPr>
              <a:t>2 × 2 + 0 = 4</a:t>
            </a:r>
            <a:endParaRPr lang="en-US" sz="1300" dirty="0"/>
          </a:p>
        </p:txBody>
      </p:sp>
      <p:sp>
        <p:nvSpPr>
          <p:cNvPr id="58" name="Text 56"/>
          <p:cNvSpPr txBox="1"/>
          <p:nvPr/>
        </p:nvSpPr>
        <p:spPr>
          <a:xfrm>
            <a:off x="8778240" y="4005072"/>
            <a:ext cx="914400" cy="274320"/>
          </a:xfrm>
          <a:prstGeom prst="rect">
            <a:avLst/>
          </a:prstGeom>
          <a:noFill/>
          <a:ln/>
        </p:spPr>
        <p:txBody>
          <a:bodyPr wrap="square" lIns="0" tIns="0" rIns="0" bIns="0" rtlCol="0" anchor="t"/>
          <a:lstStyle/>
          <a:p>
            <a:pPr indent="0" marL="0">
              <a:buNone/>
            </a:pPr>
            <a:r>
              <a:rPr lang="en-US" sz="1200" dirty="0">
                <a:solidFill>
                  <a:schemeClr val="accent5"/>
                </a:solidFill>
              </a:rPr>
              <a:t>sommet</a:t>
            </a:r>
            <a:endParaRPr lang="en-US" sz="1200" dirty="0"/>
          </a:p>
        </p:txBody>
      </p:sp>
      <p:sp>
        <p:nvSpPr>
          <p:cNvPr id="59" name="Text 57"/>
          <p:cNvSpPr txBox="1"/>
          <p:nvPr/>
        </p:nvSpPr>
        <p:spPr>
          <a:xfrm>
            <a:off x="6492240" y="5349240"/>
            <a:ext cx="4937760" cy="73152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code = direction × 2 + poussée</a:t>
            </a:r>
            <a:endParaRPr lang="en-US" sz="1300" dirty="0"/>
          </a:p>
          <a:p>
            <a:pPr indent="0" marL="0">
              <a:buNone/>
            </a:pPr>
            <a:r>
              <a:rPr lang="en-US" sz="1300" dirty="0">
                <a:solidFill>
                  <a:schemeClr val="tx1"/>
                </a:solidFill>
              </a:rPr>
              <a:t>u : on dépile, le joueur recule et la caisse éventuelle revient</a:t>
            </a:r>
            <a:endParaRPr lang="en-US" sz="1300" dirty="0"/>
          </a:p>
          <a:p>
            <a:pPr indent="0" marL="0">
              <a:buNone/>
            </a:pPr>
            <a:r>
              <a:rPr lang="en-US" sz="1300" dirty="0">
                <a:solidFill>
                  <a:schemeClr val="tx1"/>
                </a:solidFill>
              </a:rPr>
              <a:t>r : on recharge le niveau</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424160" cy="777240"/>
          </a:xfrm>
          <a:prstGeom prst="rect">
            <a:avLst/>
          </a:prstGeom>
          <a:noFill/>
          <a:ln/>
        </p:spPr>
        <p:txBody>
          <a:bodyPr wrap="square" lIns="0" tIns="0" rIns="0" bIns="0" rtlCol="0" anchor="ctr"/>
          <a:lstStyle/>
          <a:p>
            <a:pPr algn="l" indent="0" marL="0">
              <a:buNone/>
            </a:pPr>
            <a:r>
              <a:rPr lang="en-US" sz="3200" b="1" dirty="0">
                <a:solidFill>
                  <a:schemeClr val="tx1"/>
                </a:solidFill>
              </a:rPr>
              <a:t>Un état du solveur tient dans une chaîne</a:t>
            </a:r>
            <a:endParaRPr lang="en-US" sz="3200" dirty="0"/>
          </a:p>
        </p:txBody>
      </p:sp>
      <p:sp>
        <p:nvSpPr>
          <p:cNvPr id="3" name="Shape 1"/>
          <p:cNvSpPr/>
          <p:nvPr/>
        </p:nvSpPr>
        <p:spPr>
          <a:xfrm>
            <a:off x="731520" y="1554480"/>
            <a:ext cx="548640" cy="548640"/>
          </a:xfrm>
          <a:prstGeom prst="rect">
            <a:avLst/>
          </a:prstGeom>
          <a:solidFill>
            <a:schemeClr val="tx1"/>
          </a:solidFill>
          <a:ln w="9525">
            <a:solidFill>
              <a:schemeClr val="bg2"/>
            </a:solidFill>
            <a:prstDash val="solid"/>
          </a:ln>
        </p:spPr>
      </p:sp>
      <p:sp>
        <p:nvSpPr>
          <p:cNvPr id="4" name="Shape 2"/>
          <p:cNvSpPr/>
          <p:nvPr/>
        </p:nvSpPr>
        <p:spPr>
          <a:xfrm>
            <a:off x="1280160" y="1554480"/>
            <a:ext cx="548640" cy="548640"/>
          </a:xfrm>
          <a:prstGeom prst="rect">
            <a:avLst/>
          </a:prstGeom>
          <a:solidFill>
            <a:schemeClr val="tx1"/>
          </a:solidFill>
          <a:ln w="9525">
            <a:solidFill>
              <a:schemeClr val="bg2"/>
            </a:solidFill>
            <a:prstDash val="solid"/>
          </a:ln>
        </p:spPr>
      </p:sp>
      <p:sp>
        <p:nvSpPr>
          <p:cNvPr id="5" name="Shape 3"/>
          <p:cNvSpPr/>
          <p:nvPr/>
        </p:nvSpPr>
        <p:spPr>
          <a:xfrm>
            <a:off x="1828800" y="1554480"/>
            <a:ext cx="548640" cy="548640"/>
          </a:xfrm>
          <a:prstGeom prst="rect">
            <a:avLst/>
          </a:prstGeom>
          <a:solidFill>
            <a:schemeClr val="tx1"/>
          </a:solidFill>
          <a:ln w="9525">
            <a:solidFill>
              <a:schemeClr val="bg2"/>
            </a:solidFill>
            <a:prstDash val="solid"/>
          </a:ln>
        </p:spPr>
      </p:sp>
      <p:sp>
        <p:nvSpPr>
          <p:cNvPr id="6" name="Shape 4"/>
          <p:cNvSpPr/>
          <p:nvPr/>
        </p:nvSpPr>
        <p:spPr>
          <a:xfrm>
            <a:off x="2377440" y="1554480"/>
            <a:ext cx="548640" cy="548640"/>
          </a:xfrm>
          <a:prstGeom prst="rect">
            <a:avLst/>
          </a:prstGeom>
          <a:solidFill>
            <a:schemeClr val="tx1"/>
          </a:solidFill>
          <a:ln w="9525">
            <a:solidFill>
              <a:schemeClr val="bg2"/>
            </a:solidFill>
            <a:prstDash val="solid"/>
          </a:ln>
        </p:spPr>
      </p:sp>
      <p:sp>
        <p:nvSpPr>
          <p:cNvPr id="7" name="Shape 5"/>
          <p:cNvSpPr/>
          <p:nvPr/>
        </p:nvSpPr>
        <p:spPr>
          <a:xfrm>
            <a:off x="2926080" y="1554480"/>
            <a:ext cx="548640" cy="548640"/>
          </a:xfrm>
          <a:prstGeom prst="rect">
            <a:avLst/>
          </a:prstGeom>
          <a:solidFill>
            <a:schemeClr val="tx1"/>
          </a:solidFill>
          <a:ln w="9525">
            <a:solidFill>
              <a:schemeClr val="bg2"/>
            </a:solidFill>
            <a:prstDash val="solid"/>
          </a:ln>
        </p:spPr>
      </p:sp>
      <p:sp>
        <p:nvSpPr>
          <p:cNvPr id="8" name="Shape 6"/>
          <p:cNvSpPr/>
          <p:nvPr/>
        </p:nvSpPr>
        <p:spPr>
          <a:xfrm>
            <a:off x="731520" y="2103120"/>
            <a:ext cx="548640" cy="548640"/>
          </a:xfrm>
          <a:prstGeom prst="rect">
            <a:avLst/>
          </a:prstGeom>
          <a:solidFill>
            <a:schemeClr val="tx1"/>
          </a:solidFill>
          <a:ln w="9525">
            <a:solidFill>
              <a:schemeClr val="bg2"/>
            </a:solidFill>
            <a:prstDash val="solid"/>
          </a:ln>
        </p:spPr>
      </p:sp>
      <p:sp>
        <p:nvSpPr>
          <p:cNvPr id="9" name="Shape 7"/>
          <p:cNvSpPr/>
          <p:nvPr/>
        </p:nvSpPr>
        <p:spPr>
          <a:xfrm>
            <a:off x="1280160" y="2103120"/>
            <a:ext cx="548640" cy="548640"/>
          </a:xfrm>
          <a:prstGeom prst="rect">
            <a:avLst/>
          </a:prstGeom>
          <a:solidFill>
            <a:schemeClr val="bg2"/>
          </a:solidFill>
          <a:ln w="12700">
            <a:solidFill>
              <a:schemeClr val="bg2"/>
            </a:solidFill>
            <a:prstDash val="solid"/>
          </a:ln>
        </p:spPr>
      </p:sp>
      <p:sp>
        <p:nvSpPr>
          <p:cNvPr id="10" name="Shape 8"/>
          <p:cNvSpPr/>
          <p:nvPr/>
        </p:nvSpPr>
        <p:spPr>
          <a:xfrm>
            <a:off x="1389888" y="2212848"/>
            <a:ext cx="329184" cy="329184"/>
          </a:xfrm>
          <a:prstGeom prst="ellipse">
            <a:avLst/>
          </a:prstGeom>
          <a:solidFill>
            <a:schemeClr val="accent3"/>
          </a:solidFill>
          <a:ln w="12700">
            <a:solidFill>
              <a:schemeClr val="accent3"/>
            </a:solidFill>
            <a:prstDash val="solid"/>
          </a:ln>
        </p:spPr>
      </p:sp>
      <p:sp>
        <p:nvSpPr>
          <p:cNvPr id="11" name="Shape 9"/>
          <p:cNvSpPr/>
          <p:nvPr/>
        </p:nvSpPr>
        <p:spPr>
          <a:xfrm>
            <a:off x="1828800" y="2103120"/>
            <a:ext cx="548640" cy="548640"/>
          </a:xfrm>
          <a:prstGeom prst="rect">
            <a:avLst/>
          </a:prstGeom>
          <a:solidFill>
            <a:schemeClr val="bg2"/>
          </a:solidFill>
          <a:ln w="12700">
            <a:solidFill>
              <a:schemeClr val="bg2"/>
            </a:solidFill>
            <a:prstDash val="solid"/>
          </a:ln>
        </p:spPr>
      </p:sp>
      <p:sp>
        <p:nvSpPr>
          <p:cNvPr id="12" name="Shape 10"/>
          <p:cNvSpPr/>
          <p:nvPr/>
        </p:nvSpPr>
        <p:spPr>
          <a:xfrm>
            <a:off x="1900123" y="2174443"/>
            <a:ext cx="405994" cy="405994"/>
          </a:xfrm>
          <a:prstGeom prst="roundRect">
            <a:avLst>
              <a:gd name="adj" fmla="val 18000"/>
            </a:avLst>
          </a:prstGeom>
          <a:solidFill>
            <a:schemeClr val="accent2"/>
          </a:solidFill>
          <a:ln w="12700">
            <a:solidFill>
              <a:schemeClr val="accent2"/>
            </a:solidFill>
            <a:prstDash val="solid"/>
          </a:ln>
        </p:spPr>
      </p:sp>
      <p:sp>
        <p:nvSpPr>
          <p:cNvPr id="13" name="Shape 11"/>
          <p:cNvSpPr/>
          <p:nvPr/>
        </p:nvSpPr>
        <p:spPr>
          <a:xfrm>
            <a:off x="2377440" y="2103120"/>
            <a:ext cx="548640" cy="548640"/>
          </a:xfrm>
          <a:prstGeom prst="rect">
            <a:avLst/>
          </a:prstGeom>
          <a:solidFill>
            <a:schemeClr val="bg2"/>
          </a:solidFill>
          <a:ln w="12700">
            <a:solidFill>
              <a:schemeClr val="bg2"/>
            </a:solidFill>
            <a:prstDash val="solid"/>
          </a:ln>
        </p:spPr>
      </p:sp>
      <p:sp>
        <p:nvSpPr>
          <p:cNvPr id="14" name="Shape 12"/>
          <p:cNvSpPr/>
          <p:nvPr/>
        </p:nvSpPr>
        <p:spPr>
          <a:xfrm>
            <a:off x="2536546" y="2262226"/>
            <a:ext cx="230429" cy="230429"/>
          </a:xfrm>
          <a:prstGeom prst="ellipse">
            <a:avLst/>
          </a:prstGeom>
          <a:solidFill>
            <a:schemeClr val="bg2"/>
          </a:solidFill>
          <a:ln w="25400">
            <a:solidFill>
              <a:schemeClr val="accent1"/>
            </a:solidFill>
            <a:prstDash val="solid"/>
          </a:ln>
        </p:spPr>
      </p:sp>
      <p:sp>
        <p:nvSpPr>
          <p:cNvPr id="15" name="Shape 13"/>
          <p:cNvSpPr/>
          <p:nvPr/>
        </p:nvSpPr>
        <p:spPr>
          <a:xfrm>
            <a:off x="2926080" y="2103120"/>
            <a:ext cx="548640" cy="548640"/>
          </a:xfrm>
          <a:prstGeom prst="rect">
            <a:avLst/>
          </a:prstGeom>
          <a:solidFill>
            <a:schemeClr val="tx1"/>
          </a:solidFill>
          <a:ln w="9525">
            <a:solidFill>
              <a:schemeClr val="bg2"/>
            </a:solidFill>
            <a:prstDash val="solid"/>
          </a:ln>
        </p:spPr>
      </p:sp>
      <p:sp>
        <p:nvSpPr>
          <p:cNvPr id="16" name="Shape 14"/>
          <p:cNvSpPr/>
          <p:nvPr/>
        </p:nvSpPr>
        <p:spPr>
          <a:xfrm>
            <a:off x="731520" y="2651760"/>
            <a:ext cx="548640" cy="548640"/>
          </a:xfrm>
          <a:prstGeom prst="rect">
            <a:avLst/>
          </a:prstGeom>
          <a:solidFill>
            <a:schemeClr val="tx1"/>
          </a:solidFill>
          <a:ln w="9525">
            <a:solidFill>
              <a:schemeClr val="bg2"/>
            </a:solidFill>
            <a:prstDash val="solid"/>
          </a:ln>
        </p:spPr>
      </p:sp>
      <p:sp>
        <p:nvSpPr>
          <p:cNvPr id="17" name="Shape 15"/>
          <p:cNvSpPr/>
          <p:nvPr/>
        </p:nvSpPr>
        <p:spPr>
          <a:xfrm>
            <a:off x="1280160" y="2651760"/>
            <a:ext cx="548640" cy="548640"/>
          </a:xfrm>
          <a:prstGeom prst="rect">
            <a:avLst/>
          </a:prstGeom>
          <a:solidFill>
            <a:schemeClr val="tx1"/>
          </a:solidFill>
          <a:ln w="9525">
            <a:solidFill>
              <a:schemeClr val="bg2"/>
            </a:solidFill>
            <a:prstDash val="solid"/>
          </a:ln>
        </p:spPr>
      </p:sp>
      <p:sp>
        <p:nvSpPr>
          <p:cNvPr id="18" name="Shape 16"/>
          <p:cNvSpPr/>
          <p:nvPr/>
        </p:nvSpPr>
        <p:spPr>
          <a:xfrm>
            <a:off x="1828800" y="2651760"/>
            <a:ext cx="548640" cy="548640"/>
          </a:xfrm>
          <a:prstGeom prst="rect">
            <a:avLst/>
          </a:prstGeom>
          <a:solidFill>
            <a:schemeClr val="tx1"/>
          </a:solidFill>
          <a:ln w="9525">
            <a:solidFill>
              <a:schemeClr val="bg2"/>
            </a:solidFill>
            <a:prstDash val="solid"/>
          </a:ln>
        </p:spPr>
      </p:sp>
      <p:sp>
        <p:nvSpPr>
          <p:cNvPr id="19" name="Shape 17"/>
          <p:cNvSpPr/>
          <p:nvPr/>
        </p:nvSpPr>
        <p:spPr>
          <a:xfrm>
            <a:off x="2377440" y="2651760"/>
            <a:ext cx="548640" cy="548640"/>
          </a:xfrm>
          <a:prstGeom prst="rect">
            <a:avLst/>
          </a:prstGeom>
          <a:solidFill>
            <a:schemeClr val="tx1"/>
          </a:solidFill>
          <a:ln w="9525">
            <a:solidFill>
              <a:schemeClr val="bg2"/>
            </a:solidFill>
            <a:prstDash val="solid"/>
          </a:ln>
        </p:spPr>
      </p:sp>
      <p:sp>
        <p:nvSpPr>
          <p:cNvPr id="20" name="Shape 18"/>
          <p:cNvSpPr/>
          <p:nvPr/>
        </p:nvSpPr>
        <p:spPr>
          <a:xfrm>
            <a:off x="2926080" y="2651760"/>
            <a:ext cx="548640" cy="548640"/>
          </a:xfrm>
          <a:prstGeom prst="rect">
            <a:avLst/>
          </a:prstGeom>
          <a:solidFill>
            <a:schemeClr val="tx1"/>
          </a:solidFill>
          <a:ln w="9525">
            <a:solidFill>
              <a:schemeClr val="bg2"/>
            </a:solidFill>
            <a:prstDash val="solid"/>
          </a:ln>
        </p:spPr>
      </p:sp>
      <p:sp>
        <p:nvSpPr>
          <p:cNvPr id="21" name="Text 19"/>
          <p:cNvSpPr txBox="1"/>
          <p:nvPr/>
        </p:nvSpPr>
        <p:spPr>
          <a:xfrm>
            <a:off x="731520" y="3246120"/>
            <a:ext cx="54864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ourier New" pitchFamily="34" charset="0"/>
                <a:ea typeface="Courier New" pitchFamily="34" charset="-122"/>
                <a:cs typeface="Courier New" pitchFamily="34" charset="-120"/>
              </a:rPr>
              <a:t>5</a:t>
            </a:r>
            <a:endParaRPr lang="en-US" sz="1200" dirty="0"/>
          </a:p>
        </p:txBody>
      </p:sp>
      <p:sp>
        <p:nvSpPr>
          <p:cNvPr id="22" name="Text 20"/>
          <p:cNvSpPr txBox="1"/>
          <p:nvPr/>
        </p:nvSpPr>
        <p:spPr>
          <a:xfrm>
            <a:off x="1280160" y="3246120"/>
            <a:ext cx="54864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ourier New" pitchFamily="34" charset="0"/>
                <a:ea typeface="Courier New" pitchFamily="34" charset="-122"/>
                <a:cs typeface="Courier New" pitchFamily="34" charset="-120"/>
              </a:rPr>
              <a:t>6</a:t>
            </a:r>
            <a:endParaRPr lang="en-US" sz="1200" dirty="0"/>
          </a:p>
        </p:txBody>
      </p:sp>
      <p:sp>
        <p:nvSpPr>
          <p:cNvPr id="23" name="Text 21"/>
          <p:cNvSpPr txBox="1"/>
          <p:nvPr/>
        </p:nvSpPr>
        <p:spPr>
          <a:xfrm>
            <a:off x="1828800" y="3246120"/>
            <a:ext cx="54864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ourier New" pitchFamily="34" charset="0"/>
                <a:ea typeface="Courier New" pitchFamily="34" charset="-122"/>
                <a:cs typeface="Courier New" pitchFamily="34" charset="-120"/>
              </a:rPr>
              <a:t>7</a:t>
            </a:r>
            <a:endParaRPr lang="en-US" sz="1200" dirty="0"/>
          </a:p>
        </p:txBody>
      </p:sp>
      <p:sp>
        <p:nvSpPr>
          <p:cNvPr id="24" name="Text 22"/>
          <p:cNvSpPr txBox="1"/>
          <p:nvPr/>
        </p:nvSpPr>
        <p:spPr>
          <a:xfrm>
            <a:off x="2377440" y="3246120"/>
            <a:ext cx="54864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ourier New" pitchFamily="34" charset="0"/>
                <a:ea typeface="Courier New" pitchFamily="34" charset="-122"/>
                <a:cs typeface="Courier New" pitchFamily="34" charset="-120"/>
              </a:rPr>
              <a:t>8</a:t>
            </a:r>
            <a:endParaRPr lang="en-US" sz="1200" dirty="0"/>
          </a:p>
        </p:txBody>
      </p:sp>
      <p:sp>
        <p:nvSpPr>
          <p:cNvPr id="25" name="Text 23"/>
          <p:cNvSpPr txBox="1"/>
          <p:nvPr/>
        </p:nvSpPr>
        <p:spPr>
          <a:xfrm>
            <a:off x="2926080" y="3246120"/>
            <a:ext cx="54864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ourier New" pitchFamily="34" charset="0"/>
                <a:ea typeface="Courier New" pitchFamily="34" charset="-122"/>
                <a:cs typeface="Courier New" pitchFamily="34" charset="-120"/>
              </a:rPr>
              <a:t>9</a:t>
            </a:r>
            <a:endParaRPr lang="en-US" sz="1200" dirty="0"/>
          </a:p>
        </p:txBody>
      </p:sp>
      <p:sp>
        <p:nvSpPr>
          <p:cNvPr id="26" name="Text 24"/>
          <p:cNvSpPr txBox="1"/>
          <p:nvPr/>
        </p:nvSpPr>
        <p:spPr>
          <a:xfrm>
            <a:off x="731520" y="3611880"/>
            <a:ext cx="411480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indice = ligne × largeur + colonne</a:t>
            </a:r>
            <a:endParaRPr lang="en-US" sz="1400" dirty="0"/>
          </a:p>
        </p:txBody>
      </p:sp>
      <p:sp>
        <p:nvSpPr>
          <p:cNvPr id="27" name="Text 25"/>
          <p:cNvSpPr txBox="1"/>
          <p:nvPr/>
        </p:nvSpPr>
        <p:spPr>
          <a:xfrm>
            <a:off x="731520" y="4114800"/>
            <a:ext cx="4114800" cy="320040"/>
          </a:xfrm>
          <a:prstGeom prst="rect">
            <a:avLst/>
          </a:prstGeom>
          <a:noFill/>
          <a:ln/>
        </p:spPr>
        <p:txBody>
          <a:bodyPr wrap="square" lIns="0" tIns="0" rIns="0" bIns="0" rtlCol="0" anchor="t"/>
          <a:lstStyle/>
          <a:p>
            <a:pPr indent="0" marL="0">
              <a:buNone/>
            </a:pPr>
            <a:r>
              <a:rPr lang="en-US" sz="1400" dirty="0">
                <a:solidFill>
                  <a:schemeClr val="tx1"/>
                </a:solidFill>
              </a:rPr>
              <a:t>Ligne du milieu, cases 5 à 9 :</a:t>
            </a:r>
            <a:endParaRPr lang="en-US" sz="1400" dirty="0"/>
          </a:p>
        </p:txBody>
      </p:sp>
      <p:sp>
        <p:nvSpPr>
          <p:cNvPr id="28" name="Text 26"/>
          <p:cNvSpPr/>
          <p:nvPr/>
        </p:nvSpPr>
        <p:spPr>
          <a:xfrm>
            <a:off x="731520" y="4526280"/>
            <a:ext cx="548640" cy="548640"/>
          </a:xfrm>
          <a:prstGeom prst="rect">
            <a:avLst/>
          </a:prstGeom>
          <a:solidFill>
            <a:schemeClr val="bg1"/>
          </a:solidFill>
          <a:ln w="12700">
            <a:solidFill>
              <a:schemeClr val="accent2"/>
            </a:solidFill>
          </a:ln>
        </p:spPr>
        <p:txBody>
          <a:bodyPr wrap="square" lIns="0" tIns="0" rIns="0" bIns="0" rtlCol="0" anchor="ctr"/>
          <a:lstStyle/>
          <a:p>
            <a:pPr algn="ctr" indent="0" marL="0">
              <a:buNone/>
            </a:pPr>
            <a:r>
              <a:rPr lang="en-US" sz="2000" b="1" dirty="0">
                <a:solidFill>
                  <a:schemeClr val="accent6"/>
                </a:solidFill>
                <a:latin typeface="Courier New" pitchFamily="34" charset="0"/>
                <a:ea typeface="Courier New" pitchFamily="34" charset="-122"/>
                <a:cs typeface="Courier New" pitchFamily="34" charset="-120"/>
              </a:rPr>
              <a:t>␣</a:t>
            </a:r>
            <a:endParaRPr lang="en-US" sz="2000" dirty="0"/>
          </a:p>
        </p:txBody>
      </p:sp>
      <p:sp>
        <p:nvSpPr>
          <p:cNvPr id="29" name="Text 27"/>
          <p:cNvSpPr/>
          <p:nvPr/>
        </p:nvSpPr>
        <p:spPr>
          <a:xfrm>
            <a:off x="1280160" y="4526280"/>
            <a:ext cx="548640" cy="548640"/>
          </a:xfrm>
          <a:prstGeom prst="rect">
            <a:avLst/>
          </a:prstGeom>
          <a:solidFill>
            <a:schemeClr val="bg2"/>
          </a:solidFill>
          <a:ln w="12700">
            <a:solidFill>
              <a:schemeClr val="accent2"/>
            </a:solidFill>
          </a:ln>
        </p:spPr>
        <p:txBody>
          <a:bodyPr wrap="square" lIns="0" tIns="0" rIns="0" bIns="0" rtlCol="0" anchor="ctr"/>
          <a:lstStyle/>
          <a:p>
            <a:pPr algn="ctr" indent="0" marL="0">
              <a:buNone/>
            </a:pPr>
            <a:r>
              <a:rPr lang="en-US" sz="2000" b="1" dirty="0">
                <a:solidFill>
                  <a:schemeClr val="accent3"/>
                </a:solidFill>
                <a:latin typeface="Courier New" pitchFamily="34" charset="0"/>
                <a:ea typeface="Courier New" pitchFamily="34" charset="-122"/>
                <a:cs typeface="Courier New" pitchFamily="34" charset="-120"/>
              </a:rPr>
              <a:t>@</a:t>
            </a:r>
            <a:endParaRPr lang="en-US" sz="2000" dirty="0"/>
          </a:p>
        </p:txBody>
      </p:sp>
      <p:sp>
        <p:nvSpPr>
          <p:cNvPr id="30" name="Text 28"/>
          <p:cNvSpPr/>
          <p:nvPr/>
        </p:nvSpPr>
        <p:spPr>
          <a:xfrm>
            <a:off x="1828800" y="4526280"/>
            <a:ext cx="548640" cy="548640"/>
          </a:xfrm>
          <a:prstGeom prst="rect">
            <a:avLst/>
          </a:prstGeom>
          <a:solidFill>
            <a:schemeClr val="bg2"/>
          </a:solidFill>
          <a:ln w="12700">
            <a:solidFill>
              <a:schemeClr val="accent2"/>
            </a:solidFill>
          </a:ln>
        </p:spPr>
        <p:txBody>
          <a:bodyPr wrap="square" lIns="0" tIns="0" rIns="0" bIns="0" rtlCol="0" anchor="ctr"/>
          <a:lstStyle/>
          <a:p>
            <a:pPr algn="ctr" indent="0" marL="0">
              <a:buNone/>
            </a:pPr>
            <a:r>
              <a:rPr lang="en-US" sz="2000" b="1" dirty="0">
                <a:solidFill>
                  <a:schemeClr val="accent1"/>
                </a:solidFill>
                <a:latin typeface="Courier New" pitchFamily="34" charset="0"/>
                <a:ea typeface="Courier New" pitchFamily="34" charset="-122"/>
                <a:cs typeface="Courier New" pitchFamily="34" charset="-120"/>
              </a:rPr>
              <a:t>$</a:t>
            </a:r>
            <a:endParaRPr lang="en-US" sz="2000" dirty="0"/>
          </a:p>
        </p:txBody>
      </p:sp>
      <p:sp>
        <p:nvSpPr>
          <p:cNvPr id="31" name="Text 29"/>
          <p:cNvSpPr/>
          <p:nvPr/>
        </p:nvSpPr>
        <p:spPr>
          <a:xfrm>
            <a:off x="2377440" y="4526280"/>
            <a:ext cx="548640" cy="548640"/>
          </a:xfrm>
          <a:prstGeom prst="rect">
            <a:avLst/>
          </a:prstGeom>
          <a:solidFill>
            <a:schemeClr val="bg1"/>
          </a:solidFill>
          <a:ln w="12700">
            <a:solidFill>
              <a:schemeClr val="accent2"/>
            </a:solidFill>
          </a:ln>
        </p:spPr>
        <p:txBody>
          <a:bodyPr wrap="square" lIns="0" tIns="0" rIns="0" bIns="0" rtlCol="0" anchor="ctr"/>
          <a:lstStyle/>
          <a:p>
            <a:pPr algn="ctr" indent="0" marL="0">
              <a:buNone/>
            </a:pPr>
            <a:r>
              <a:rPr lang="en-US" sz="2000" b="1" dirty="0">
                <a:solidFill>
                  <a:schemeClr val="accent6"/>
                </a:solidFill>
                <a:latin typeface="Courier New" pitchFamily="34" charset="0"/>
                <a:ea typeface="Courier New" pitchFamily="34" charset="-122"/>
                <a:cs typeface="Courier New" pitchFamily="34" charset="-120"/>
              </a:rPr>
              <a:t>␣</a:t>
            </a:r>
            <a:endParaRPr lang="en-US" sz="2000" dirty="0"/>
          </a:p>
        </p:txBody>
      </p:sp>
      <p:sp>
        <p:nvSpPr>
          <p:cNvPr id="32" name="Text 30"/>
          <p:cNvSpPr/>
          <p:nvPr/>
        </p:nvSpPr>
        <p:spPr>
          <a:xfrm>
            <a:off x="2926080" y="4526280"/>
            <a:ext cx="548640" cy="548640"/>
          </a:xfrm>
          <a:prstGeom prst="rect">
            <a:avLst/>
          </a:prstGeom>
          <a:solidFill>
            <a:schemeClr val="bg1"/>
          </a:solidFill>
          <a:ln w="12700">
            <a:solidFill>
              <a:schemeClr val="accent2"/>
            </a:solidFill>
          </a:ln>
        </p:spPr>
        <p:txBody>
          <a:bodyPr wrap="square" lIns="0" tIns="0" rIns="0" bIns="0" rtlCol="0" anchor="ctr"/>
          <a:lstStyle/>
          <a:p>
            <a:pPr algn="ctr" indent="0" marL="0">
              <a:buNone/>
            </a:pPr>
            <a:r>
              <a:rPr lang="en-US" sz="2000" b="1" dirty="0">
                <a:solidFill>
                  <a:schemeClr val="accent6"/>
                </a:solidFill>
                <a:latin typeface="Courier New" pitchFamily="34" charset="0"/>
                <a:ea typeface="Courier New" pitchFamily="34" charset="-122"/>
                <a:cs typeface="Courier New" pitchFamily="34" charset="-120"/>
              </a:rPr>
              <a:t>␣</a:t>
            </a:r>
            <a:endParaRPr lang="en-US" sz="2000" dirty="0"/>
          </a:p>
        </p:txBody>
      </p:sp>
      <p:sp>
        <p:nvSpPr>
          <p:cNvPr id="33" name="Text 31"/>
          <p:cNvSpPr txBox="1"/>
          <p:nvPr/>
        </p:nvSpPr>
        <p:spPr>
          <a:xfrm>
            <a:off x="731520" y="5303520"/>
            <a:ext cx="4206240" cy="731520"/>
          </a:xfrm>
          <a:prstGeom prst="rect">
            <a:avLst/>
          </a:prstGeom>
          <a:noFill/>
          <a:ln/>
        </p:spPr>
        <p:txBody>
          <a:bodyPr wrap="square" lIns="0" tIns="0" rIns="0" bIns="0" rtlCol="0" anchor="t"/>
          <a:lstStyle/>
          <a:p>
            <a:pPr indent="0" marL="0">
              <a:buNone/>
            </a:pPr>
            <a:r>
              <a:rPr lang="en-US" sz="1300" i="1" dirty="0">
                <a:solidFill>
                  <a:schemeClr val="accent5"/>
                </a:solidFill>
              </a:rPr>
              <a:t>Murs et objectifs sont fixes : stockés une seule fois (caseMur, caseObjectif).</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394960" y="1554480"/>
          <a:ext cx="6217920" cy="914400"/>
        </p:xfrm>
        <a:graphic>
          <a:graphicData uri="http://schemas.openxmlformats.org/drawingml/2006/table">
            <a:tbl>
              <a:tblPr/>
              <a:tblGrid>
                <a:gridCol w="2743200"/>
                <a:gridCol w="3474720"/>
              </a:tblGrid>
              <a:tr h="566928">
                <a:tc>
                  <a:txBody>
                    <a:bodyPr/>
                    <a:lstStyle/>
                    <a:p>
                      <a:pPr indent="0" marL="0">
                        <a:buNone/>
                      </a:pPr>
                      <a:r>
                        <a:rPr lang="en-US" sz="1500" b="1" dirty="0">
                          <a:solidFill>
                            <a:schemeClr val="bg1"/>
                          </a:solidFill>
                        </a:rPr>
                        <a:t>Le sujet demande…</a:t>
                      </a:r>
                      <a:endParaRPr lang="en-US" sz="1500" dirty="0"/>
                    </a:p>
                  </a:txBody>
                  <a:tcPr marL="109728" marR="109728" marT="0" marB="0" anchor="ctr">
                    <a:lnL w="9525" cap="flat" cmpd="sng" algn="ctr">
                      <a:solidFill>
                        <a:srgbClr val="D9C9EC"/>
                      </a:solidFill>
                      <a:prstDash val="solid"/>
                      <a:round/>
                      <a:headEnd type="none" w="med" len="med"/>
                      <a:tailEnd type="none" w="med" len="med"/>
                    </a:lnL>
                    <a:lnR w="9525" cap="flat" cmpd="sng" algn="ctr">
                      <a:solidFill>
                        <a:srgbClr val="D9C9EC"/>
                      </a:solidFill>
                      <a:prstDash val="solid"/>
                      <a:round/>
                      <a:headEnd type="none" w="med" len="med"/>
                      <a:tailEnd type="none" w="med" len="med"/>
                    </a:lnR>
                    <a:lnT w="9525" cap="flat" cmpd="sng" algn="ctr">
                      <a:solidFill>
                        <a:srgbClr val="D9C9EC"/>
                      </a:solidFill>
                      <a:prstDash val="solid"/>
                      <a:round/>
                      <a:headEnd type="none" w="med" len="med"/>
                      <a:tailEnd type="none" w="med" len="med"/>
                    </a:lnT>
                    <a:lnB w="9525" cap="flat" cmpd="sng" algn="ctr">
                      <a:solidFill>
                        <a:srgbClr val="D9C9EC"/>
                      </a:solidFill>
                      <a:prstDash val="solid"/>
                      <a:round/>
                      <a:headEnd type="none" w="med" len="med"/>
                      <a:tailEnd type="none" w="med" len="med"/>
                    </a:lnB>
                    <a:solidFill>
                      <a:schemeClr val="accent1"/>
                    </a:solidFill>
                  </a:tcPr>
                </a:tc>
                <a:tc>
                  <a:txBody>
                    <a:bodyPr/>
                    <a:lstStyle/>
                    <a:p>
                      <a:pPr indent="0" marL="0">
                        <a:buNone/>
                      </a:pPr>
                      <a:r>
                        <a:rPr lang="en-US" sz="1500" b="1" dirty="0">
                          <a:solidFill>
                            <a:schemeClr val="bg1"/>
                          </a:solidFill>
                        </a:rPr>
                        <a:t>Dans le code</a:t>
                      </a:r>
                      <a:endParaRPr lang="en-US" sz="1500" dirty="0"/>
                    </a:p>
                  </a:txBody>
                  <a:tcPr marL="109728" marR="109728" marT="0" marB="0" anchor="ctr">
                    <a:lnL w="9525" cap="flat" cmpd="sng" algn="ctr">
                      <a:solidFill>
                        <a:srgbClr val="D9C9EC"/>
                      </a:solidFill>
                      <a:prstDash val="solid"/>
                      <a:round/>
                      <a:headEnd type="none" w="med" len="med"/>
                      <a:tailEnd type="none" w="med" len="med"/>
                    </a:lnL>
                    <a:lnR w="9525" cap="flat" cmpd="sng" algn="ctr">
                      <a:solidFill>
                        <a:srgbClr val="D9C9EC"/>
                      </a:solidFill>
                      <a:prstDash val="solid"/>
                      <a:round/>
                      <a:headEnd type="none" w="med" len="med"/>
                      <a:tailEnd type="none" w="med" len="med"/>
                    </a:lnR>
                    <a:lnT w="9525" cap="flat" cmpd="sng" algn="ctr">
                      <a:solidFill>
                        <a:srgbClr val="D9C9EC"/>
                      </a:solidFill>
                      <a:prstDash val="solid"/>
                      <a:round/>
                      <a:headEnd type="none" w="med" len="med"/>
                      <a:tailEnd type="none" w="med" len="med"/>
                    </a:lnT>
                    <a:lnB w="9525" cap="flat" cmpd="sng" algn="ctr">
                      <a:solidFill>
                        <a:srgbClr val="D9C9EC"/>
                      </a:solidFill>
                      <a:prstDash val="solid"/>
                      <a:round/>
                      <a:headEnd type="none" w="med" len="med"/>
                      <a:tailEnd type="none" w="med" len="med"/>
                    </a:lnB>
                    <a:solidFill>
                      <a:schemeClr val="accent1"/>
                    </a:solidFill>
                  </a:tcPr>
                </a:tc>
              </a:tr>
              <a:tr h="566928">
                <a:tc>
                  <a:txBody>
                    <a:bodyPr/>
                    <a:lstStyle/>
                    <a:p>
                      <a:pPr indent="0" marL="0">
                        <a:buNone/>
                      </a:pPr>
                      <a:r>
                        <a:rPr lang="en-US" sz="1500" dirty="0">
                          <a:solidFill>
                            <a:schemeClr val="tx1"/>
                          </a:solidFill>
                        </a:rPr>
                        <a:t>la position du joueur</a:t>
                      </a:r>
                      <a:endParaRPr lang="en-US" sz="1500" dirty="0"/>
                    </a:p>
                  </a:txBody>
                  <a:tcPr marL="109728" marR="109728" marT="0" marB="0" anchor="ctr">
                    <a:lnL w="9525" cap="flat" cmpd="sng" algn="ctr">
                      <a:solidFill>
                        <a:srgbClr val="D9C9EC"/>
                      </a:solidFill>
                      <a:prstDash val="solid"/>
                      <a:round/>
                      <a:headEnd type="none" w="med" len="med"/>
                      <a:tailEnd type="none" w="med" len="med"/>
                    </a:lnL>
                    <a:lnR w="9525" cap="flat" cmpd="sng" algn="ctr">
                      <a:solidFill>
                        <a:srgbClr val="D9C9EC"/>
                      </a:solidFill>
                      <a:prstDash val="solid"/>
                      <a:round/>
                      <a:headEnd type="none" w="med" len="med"/>
                      <a:tailEnd type="none" w="med" len="med"/>
                    </a:lnR>
                    <a:lnT w="9525" cap="flat" cmpd="sng" algn="ctr">
                      <a:solidFill>
                        <a:srgbClr val="D9C9EC"/>
                      </a:solidFill>
                      <a:prstDash val="solid"/>
                      <a:round/>
                      <a:headEnd type="none" w="med" len="med"/>
                      <a:tailEnd type="none" w="med" len="med"/>
                    </a:lnT>
                    <a:lnB w="9525" cap="flat" cmpd="sng" algn="ctr">
                      <a:solidFill>
                        <a:srgbClr val="D9C9EC"/>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le caractère '@' de la chaîne</a:t>
                      </a:r>
                      <a:endParaRPr lang="en-US" sz="1300" dirty="0">
                        <a:latin typeface="Courier New" charset="0"/>
                        <a:ea typeface="Courier New" charset="0"/>
                        <a:cs typeface="Courier New" charset="0"/>
                      </a:endParaRPr>
                    </a:p>
                  </a:txBody>
                  <a:tcPr marL="109728" marR="109728" marT="0" marB="0" anchor="ctr">
                    <a:lnL w="9525" cap="flat" cmpd="sng" algn="ctr">
                      <a:solidFill>
                        <a:srgbClr val="D9C9EC"/>
                      </a:solidFill>
                      <a:prstDash val="solid"/>
                      <a:round/>
                      <a:headEnd type="none" w="med" len="med"/>
                      <a:tailEnd type="none" w="med" len="med"/>
                    </a:lnL>
                    <a:lnR w="9525" cap="flat" cmpd="sng" algn="ctr">
                      <a:solidFill>
                        <a:srgbClr val="D9C9EC"/>
                      </a:solidFill>
                      <a:prstDash val="solid"/>
                      <a:round/>
                      <a:headEnd type="none" w="med" len="med"/>
                      <a:tailEnd type="none" w="med" len="med"/>
                    </a:lnR>
                    <a:lnT w="9525" cap="flat" cmpd="sng" algn="ctr">
                      <a:solidFill>
                        <a:srgbClr val="D9C9EC"/>
                      </a:solidFill>
                      <a:prstDash val="solid"/>
                      <a:round/>
                      <a:headEnd type="none" w="med" len="med"/>
                      <a:tailEnd type="none" w="med" len="med"/>
                    </a:lnT>
                    <a:lnB w="9525" cap="flat" cmpd="sng" algn="ctr">
                      <a:solidFill>
                        <a:srgbClr val="D9C9EC"/>
                      </a:solidFill>
                      <a:prstDash val="solid"/>
                      <a:round/>
                      <a:headEnd type="none" w="med" len="med"/>
                      <a:tailEnd type="none" w="med" len="med"/>
                    </a:lnB>
                    <a:solidFill>
                      <a:schemeClr val="bg2"/>
                    </a:solidFill>
                  </a:tcPr>
                </a:tc>
              </a:tr>
              <a:tr h="566928">
                <a:tc>
                  <a:txBody>
                    <a:bodyPr/>
                    <a:lstStyle/>
                    <a:p>
                      <a:pPr indent="0" marL="0">
                        <a:buNone/>
                      </a:pPr>
                      <a:r>
                        <a:rPr lang="en-US" sz="1500" dirty="0">
                          <a:solidFill>
                            <a:schemeClr val="tx1"/>
                          </a:solidFill>
                        </a:rPr>
                        <a:t>la position des caisses</a:t>
                      </a:r>
                      <a:endParaRPr lang="en-US" sz="1500" dirty="0"/>
                    </a:p>
                  </a:txBody>
                  <a:tcPr marL="109728" marR="109728" marT="0" marB="0" anchor="ctr">
                    <a:lnL w="9525" cap="flat" cmpd="sng" algn="ctr">
                      <a:solidFill>
                        <a:srgbClr val="D9C9EC"/>
                      </a:solidFill>
                      <a:prstDash val="solid"/>
                      <a:round/>
                      <a:headEnd type="none" w="med" len="med"/>
                      <a:tailEnd type="none" w="med" len="med"/>
                    </a:lnL>
                    <a:lnR w="9525" cap="flat" cmpd="sng" algn="ctr">
                      <a:solidFill>
                        <a:srgbClr val="D9C9EC"/>
                      </a:solidFill>
                      <a:prstDash val="solid"/>
                      <a:round/>
                      <a:headEnd type="none" w="med" len="med"/>
                      <a:tailEnd type="none" w="med" len="med"/>
                    </a:lnR>
                    <a:lnT w="9525" cap="flat" cmpd="sng" algn="ctr">
                      <a:solidFill>
                        <a:srgbClr val="D9C9EC"/>
                      </a:solidFill>
                      <a:prstDash val="solid"/>
                      <a:round/>
                      <a:headEnd type="none" w="med" len="med"/>
                      <a:tailEnd type="none" w="med" len="med"/>
                    </a:lnT>
                    <a:lnB w="9525" cap="flat" cmpd="sng" algn="ctr">
                      <a:solidFill>
                        <a:srgbClr val="D9C9EC"/>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les caractères '$'</a:t>
                      </a:r>
                      <a:endParaRPr lang="en-US" sz="1300" dirty="0">
                        <a:latin typeface="Courier New" charset="0"/>
                        <a:ea typeface="Courier New" charset="0"/>
                        <a:cs typeface="Courier New" charset="0"/>
                      </a:endParaRPr>
                    </a:p>
                  </a:txBody>
                  <a:tcPr marL="109728" marR="109728" marT="0" marB="0" anchor="ctr">
                    <a:lnL w="9525" cap="flat" cmpd="sng" algn="ctr">
                      <a:solidFill>
                        <a:srgbClr val="D9C9EC"/>
                      </a:solidFill>
                      <a:prstDash val="solid"/>
                      <a:round/>
                      <a:headEnd type="none" w="med" len="med"/>
                      <a:tailEnd type="none" w="med" len="med"/>
                    </a:lnL>
                    <a:lnR w="9525" cap="flat" cmpd="sng" algn="ctr">
                      <a:solidFill>
                        <a:srgbClr val="D9C9EC"/>
                      </a:solidFill>
                      <a:prstDash val="solid"/>
                      <a:round/>
                      <a:headEnd type="none" w="med" len="med"/>
                      <a:tailEnd type="none" w="med" len="med"/>
                    </a:lnR>
                    <a:lnT w="9525" cap="flat" cmpd="sng" algn="ctr">
                      <a:solidFill>
                        <a:srgbClr val="D9C9EC"/>
                      </a:solidFill>
                      <a:prstDash val="solid"/>
                      <a:round/>
                      <a:headEnd type="none" w="med" len="med"/>
                      <a:tailEnd type="none" w="med" len="med"/>
                    </a:lnT>
                    <a:lnB w="9525" cap="flat" cmpd="sng" algn="ctr">
                      <a:solidFill>
                        <a:srgbClr val="D9C9EC"/>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les mouvements possibles</a:t>
                      </a:r>
                      <a:endParaRPr lang="en-US" sz="1500" dirty="0"/>
                    </a:p>
                  </a:txBody>
                  <a:tcPr marL="109728" marR="109728" marT="0" marB="0" anchor="ctr">
                    <a:lnL w="9525" cap="flat" cmpd="sng" algn="ctr">
                      <a:solidFill>
                        <a:srgbClr val="D9C9EC"/>
                      </a:solidFill>
                      <a:prstDash val="solid"/>
                      <a:round/>
                      <a:headEnd type="none" w="med" len="med"/>
                      <a:tailEnd type="none" w="med" len="med"/>
                    </a:lnL>
                    <a:lnR w="9525" cap="flat" cmpd="sng" algn="ctr">
                      <a:solidFill>
                        <a:srgbClr val="D9C9EC"/>
                      </a:solidFill>
                      <a:prstDash val="solid"/>
                      <a:round/>
                      <a:headEnd type="none" w="med" len="med"/>
                      <a:tailEnd type="none" w="med" len="med"/>
                    </a:lnR>
                    <a:lnT w="9525" cap="flat" cmpd="sng" algn="ctr">
                      <a:solidFill>
                        <a:srgbClr val="D9C9EC"/>
                      </a:solidFill>
                      <a:prstDash val="solid"/>
                      <a:round/>
                      <a:headEnd type="none" w="med" len="med"/>
                      <a:tailEnd type="none" w="med" len="med"/>
                    </a:lnT>
                    <a:lnB w="9525" cap="flat" cmpd="sng" algn="ctr">
                      <a:solidFill>
                        <a:srgbClr val="D9C9EC"/>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etatSuivant(etat, dir) ≠ null</a:t>
                      </a:r>
                      <a:endParaRPr lang="en-US" sz="1300" dirty="0">
                        <a:latin typeface="Courier New" charset="0"/>
                        <a:ea typeface="Courier New" charset="0"/>
                        <a:cs typeface="Courier New" charset="0"/>
                      </a:endParaRPr>
                    </a:p>
                  </a:txBody>
                  <a:tcPr marL="109728" marR="109728" marT="0" marB="0" anchor="ctr">
                    <a:lnL w="9525" cap="flat" cmpd="sng" algn="ctr">
                      <a:solidFill>
                        <a:srgbClr val="D9C9EC"/>
                      </a:solidFill>
                      <a:prstDash val="solid"/>
                      <a:round/>
                      <a:headEnd type="none" w="med" len="med"/>
                      <a:tailEnd type="none" w="med" len="med"/>
                    </a:lnL>
                    <a:lnR w="9525" cap="flat" cmpd="sng" algn="ctr">
                      <a:solidFill>
                        <a:srgbClr val="D9C9EC"/>
                      </a:solidFill>
                      <a:prstDash val="solid"/>
                      <a:round/>
                      <a:headEnd type="none" w="med" len="med"/>
                      <a:tailEnd type="none" w="med" len="med"/>
                    </a:lnR>
                    <a:lnT w="9525" cap="flat" cmpd="sng" algn="ctr">
                      <a:solidFill>
                        <a:srgbClr val="D9C9EC"/>
                      </a:solidFill>
                      <a:prstDash val="solid"/>
                      <a:round/>
                      <a:headEnd type="none" w="med" len="med"/>
                      <a:tailEnd type="none" w="med" len="med"/>
                    </a:lnT>
                    <a:lnB w="9525" cap="flat" cmpd="sng" algn="ctr">
                      <a:solidFill>
                        <a:srgbClr val="D9C9EC"/>
                      </a:solidFill>
                      <a:prstDash val="solid"/>
                      <a:round/>
                      <a:headEnd type="none" w="med" len="med"/>
                      <a:tailEnd type="none" w="med" len="med"/>
                    </a:lnB>
                    <a:solidFill>
                      <a:schemeClr val="bg2"/>
                    </a:solidFill>
                  </a:tcPr>
                </a:tc>
              </a:tr>
              <a:tr h="566928">
                <a:tc>
                  <a:txBody>
                    <a:bodyPr/>
                    <a:lstStyle/>
                    <a:p>
                      <a:pPr indent="0" marL="0">
                        <a:buNone/>
                      </a:pPr>
                      <a:r>
                        <a:rPr lang="en-US" sz="1500" dirty="0">
                          <a:solidFill>
                            <a:schemeClr val="tx1"/>
                          </a:solidFill>
                        </a:rPr>
                        <a:t>les états déjà explorés</a:t>
                      </a:r>
                      <a:endParaRPr lang="en-US" sz="1500" dirty="0"/>
                    </a:p>
                  </a:txBody>
                  <a:tcPr marL="109728" marR="109728" marT="0" marB="0" anchor="ctr">
                    <a:lnL w="9525" cap="flat" cmpd="sng" algn="ctr">
                      <a:solidFill>
                        <a:srgbClr val="D9C9EC"/>
                      </a:solidFill>
                      <a:prstDash val="solid"/>
                      <a:round/>
                      <a:headEnd type="none" w="med" len="med"/>
                      <a:tailEnd type="none" w="med" len="med"/>
                    </a:lnL>
                    <a:lnR w="9525" cap="flat" cmpd="sng" algn="ctr">
                      <a:solidFill>
                        <a:srgbClr val="D9C9EC"/>
                      </a:solidFill>
                      <a:prstDash val="solid"/>
                      <a:round/>
                      <a:headEnd type="none" w="med" len="med"/>
                      <a:tailEnd type="none" w="med" len="med"/>
                    </a:lnR>
                    <a:lnT w="9525" cap="flat" cmpd="sng" algn="ctr">
                      <a:solidFill>
                        <a:srgbClr val="D9C9EC"/>
                      </a:solidFill>
                      <a:prstDash val="solid"/>
                      <a:round/>
                      <a:headEnd type="none" w="med" len="med"/>
                      <a:tailEnd type="none" w="med" len="med"/>
                    </a:lnT>
                    <a:lnB w="9525" cap="flat" cmpd="sng" algn="ctr">
                      <a:solidFill>
                        <a:srgbClr val="D9C9EC"/>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ajouterVisite(etat)</a:t>
                      </a:r>
                      <a:endParaRPr lang="en-US" sz="1300" dirty="0">
                        <a:latin typeface="Courier New" charset="0"/>
                        <a:ea typeface="Courier New" charset="0"/>
                        <a:cs typeface="Courier New" charset="0"/>
                      </a:endParaRPr>
                    </a:p>
                  </a:txBody>
                  <a:tcPr marL="109728" marR="109728" marT="0" marB="0" anchor="ctr">
                    <a:lnL w="9525" cap="flat" cmpd="sng" algn="ctr">
                      <a:solidFill>
                        <a:srgbClr val="D9C9EC"/>
                      </a:solidFill>
                      <a:prstDash val="solid"/>
                      <a:round/>
                      <a:headEnd type="none" w="med" len="med"/>
                      <a:tailEnd type="none" w="med" len="med"/>
                    </a:lnL>
                    <a:lnR w="9525" cap="flat" cmpd="sng" algn="ctr">
                      <a:solidFill>
                        <a:srgbClr val="D9C9EC"/>
                      </a:solidFill>
                      <a:prstDash val="solid"/>
                      <a:round/>
                      <a:headEnd type="none" w="med" len="med"/>
                      <a:tailEnd type="none" w="med" len="med"/>
                    </a:lnR>
                    <a:lnT w="9525" cap="flat" cmpd="sng" algn="ctr">
                      <a:solidFill>
                        <a:srgbClr val="D9C9EC"/>
                      </a:solidFill>
                      <a:prstDash val="solid"/>
                      <a:round/>
                      <a:headEnd type="none" w="med" len="med"/>
                      <a:tailEnd type="none" w="med" len="med"/>
                    </a:lnT>
                    <a:lnB w="9525" cap="flat" cmpd="sng" algn="ctr">
                      <a:solidFill>
                        <a:srgbClr val="D9C9EC"/>
                      </a:solidFill>
                      <a:prstDash val="solid"/>
                      <a:round/>
                      <a:headEnd type="none" w="med" len="med"/>
                      <a:tailEnd type="none" w="med" len="med"/>
                    </a:lnB>
                    <a:solidFill>
                      <a:schemeClr val="bg1"/>
                    </a:solidFill>
                  </a:tcPr>
                </a:tc>
              </a:tr>
              <a:tr h="566928">
                <a:tc>
                  <a:txBody>
                    <a:bodyPr/>
                    <a:lstStyle/>
                    <a:p>
                      <a:pPr indent="0" marL="0">
                        <a:buNone/>
                      </a:pPr>
                      <a:r>
                        <a:rPr lang="en-US" sz="1500" dirty="0">
                          <a:solidFill>
                            <a:schemeClr val="tx1"/>
                          </a:solidFill>
                        </a:rPr>
                        <a:t>si l'état est une victoire</a:t>
                      </a:r>
                      <a:endParaRPr lang="en-US" sz="1500" dirty="0"/>
                    </a:p>
                  </a:txBody>
                  <a:tcPr marL="109728" marR="109728" marT="0" marB="0" anchor="ctr">
                    <a:lnL w="9525" cap="flat" cmpd="sng" algn="ctr">
                      <a:solidFill>
                        <a:srgbClr val="D9C9EC"/>
                      </a:solidFill>
                      <a:prstDash val="solid"/>
                      <a:round/>
                      <a:headEnd type="none" w="med" len="med"/>
                      <a:tailEnd type="none" w="med" len="med"/>
                    </a:lnL>
                    <a:lnR w="9525" cap="flat" cmpd="sng" algn="ctr">
                      <a:solidFill>
                        <a:srgbClr val="D9C9EC"/>
                      </a:solidFill>
                      <a:prstDash val="solid"/>
                      <a:round/>
                      <a:headEnd type="none" w="med" len="med"/>
                      <a:tailEnd type="none" w="med" len="med"/>
                    </a:lnR>
                    <a:lnT w="9525" cap="flat" cmpd="sng" algn="ctr">
                      <a:solidFill>
                        <a:srgbClr val="D9C9EC"/>
                      </a:solidFill>
                      <a:prstDash val="solid"/>
                      <a:round/>
                      <a:headEnd type="none" w="med" len="med"/>
                      <a:tailEnd type="none" w="med" len="med"/>
                    </a:lnT>
                    <a:lnB w="9525" cap="flat" cmpd="sng" algn="ctr">
                      <a:solidFill>
                        <a:srgbClr val="D9C9EC"/>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latin typeface="Courier New" pitchFamily="34" charset="0"/>
                          <a:ea typeface="Courier New" pitchFamily="34" charset="-122"/>
                          <a:cs typeface="Courier New" pitchFamily="34" charset="-120"/>
                        </a:rPr>
                        <a:t>estVictoire(etat)</a:t>
                      </a:r>
                      <a:endParaRPr lang="en-US" sz="1300" dirty="0">
                        <a:latin typeface="Courier New" charset="0"/>
                        <a:ea typeface="Courier New" charset="0"/>
                        <a:cs typeface="Courier New" charset="0"/>
                      </a:endParaRPr>
                    </a:p>
                  </a:txBody>
                  <a:tcPr marL="109728" marR="109728" marT="0" marB="0" anchor="ctr">
                    <a:lnL w="9525" cap="flat" cmpd="sng" algn="ctr">
                      <a:solidFill>
                        <a:srgbClr val="D9C9EC"/>
                      </a:solidFill>
                      <a:prstDash val="solid"/>
                      <a:round/>
                      <a:headEnd type="none" w="med" len="med"/>
                      <a:tailEnd type="none" w="med" len="med"/>
                    </a:lnL>
                    <a:lnR w="9525" cap="flat" cmpd="sng" algn="ctr">
                      <a:solidFill>
                        <a:srgbClr val="D9C9EC"/>
                      </a:solidFill>
                      <a:prstDash val="solid"/>
                      <a:round/>
                      <a:headEnd type="none" w="med" len="med"/>
                      <a:tailEnd type="none" w="med" len="med"/>
                    </a:lnR>
                    <a:lnT w="9525" cap="flat" cmpd="sng" algn="ctr">
                      <a:solidFill>
                        <a:srgbClr val="D9C9EC"/>
                      </a:solidFill>
                      <a:prstDash val="solid"/>
                      <a:round/>
                      <a:headEnd type="none" w="med" len="med"/>
                      <a:tailEnd type="none" w="med" len="med"/>
                    </a:lnT>
                    <a:lnB w="9525" cap="flat" cmpd="sng" algn="ctr">
                      <a:solidFill>
                        <a:srgbClr val="D9C9EC"/>
                      </a:solidFill>
                      <a:prstDash val="solid"/>
                      <a:round/>
                      <a:headEnd type="none" w="med" len="med"/>
                      <a:tailEnd type="none" w="med" len="med"/>
                    </a:lnB>
                    <a:solidFill>
                      <a:schemeClr val="bg2"/>
                    </a:solidFill>
                  </a:tcPr>
                </a:tc>
              </a:tr>
            </a:tbl>
          </a:graphicData>
        </a:graphic>
      </p:graphicFrame>
      <p:sp>
        <p:nvSpPr>
          <p:cNvPr id="35" name="Text 32"/>
          <p:cNvSpPr txBox="1"/>
          <p:nvPr/>
        </p:nvSpPr>
        <p:spPr>
          <a:xfrm>
            <a:off x="5394960" y="5257800"/>
            <a:ext cx="6217920" cy="731520"/>
          </a:xfrm>
          <a:prstGeom prst="rect">
            <a:avLst/>
          </a:prstGeom>
          <a:noFill/>
          <a:ln/>
        </p:spPr>
        <p:txBody>
          <a:bodyPr wrap="square" lIns="0" tIns="0" rIns="0" bIns="0" rtlCol="0" anchor="t"/>
          <a:lstStyle/>
          <a:p>
            <a:pPr indent="0" marL="0">
              <a:buNone/>
            </a:pPr>
            <a:r>
              <a:rPr lang="en-US" sz="1500" b="1" dirty="0">
                <a:solidFill>
                  <a:schemeClr val="tx2"/>
                </a:solidFill>
              </a:rPr>
              <a:t>Un état = un pas du joueur : la longueur d'une solution est le nombre de mouvements.</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424160" cy="777240"/>
          </a:xfrm>
          <a:prstGeom prst="rect">
            <a:avLst/>
          </a:prstGeom>
          <a:noFill/>
          <a:ln/>
        </p:spPr>
        <p:txBody>
          <a:bodyPr wrap="square" lIns="0" tIns="0" rIns="0" bIns="0" rtlCol="0" anchor="ctr"/>
          <a:lstStyle/>
          <a:p>
            <a:pPr algn="l" indent="0" marL="0">
              <a:buNone/>
            </a:pPr>
            <a:r>
              <a:rPr lang="en-US" sz="3200" b="1" dirty="0">
                <a:solidFill>
                  <a:schemeClr val="tx1"/>
                </a:solidFill>
              </a:rPr>
              <a:t>États visités : une table de hachage écrite à la main</a:t>
            </a:r>
            <a:endParaRPr lang="en-US" sz="3200" dirty="0"/>
          </a:p>
        </p:txBody>
      </p:sp>
      <p:sp>
        <p:nvSpPr>
          <p:cNvPr id="3" name="Text 1"/>
          <p:cNvSpPr/>
          <p:nvPr/>
        </p:nvSpPr>
        <p:spPr>
          <a:xfrm>
            <a:off x="822960" y="2103120"/>
            <a:ext cx="868680" cy="685800"/>
          </a:xfrm>
          <a:prstGeom prst="rect">
            <a:avLst/>
          </a:prstGeom>
          <a:solidFill>
            <a:schemeClr val="bg1"/>
          </a:solidFill>
          <a:ln w="12700">
            <a:solidFill>
              <a:schemeClr val="accent2"/>
            </a:solidFill>
          </a:ln>
        </p:spPr>
        <p:txBody>
          <a:bodyPr wrap="square" lIns="0" tIns="0" rIns="0" bIns="0" rtlCol="0" anchor="ctr"/>
          <a:lstStyle/>
          <a:p>
            <a:pPr algn="ctr" indent="0" marL="0">
              <a:buNone/>
            </a:pPr>
            <a:endParaRPr lang="en-US" sz="1200" dirty="0"/>
          </a:p>
        </p:txBody>
      </p:sp>
      <p:sp>
        <p:nvSpPr>
          <p:cNvPr id="4" name="Text 2"/>
          <p:cNvSpPr txBox="1"/>
          <p:nvPr/>
        </p:nvSpPr>
        <p:spPr>
          <a:xfrm>
            <a:off x="822960" y="2834640"/>
            <a:ext cx="86868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ourier New" pitchFamily="34" charset="0"/>
                <a:ea typeface="Courier New" pitchFamily="34" charset="-122"/>
                <a:cs typeface="Courier New" pitchFamily="34" charset="-120"/>
              </a:rPr>
              <a:t>0</a:t>
            </a:r>
            <a:endParaRPr lang="en-US" sz="1200" dirty="0"/>
          </a:p>
        </p:txBody>
      </p:sp>
      <p:sp>
        <p:nvSpPr>
          <p:cNvPr id="5" name="Text 3"/>
          <p:cNvSpPr/>
          <p:nvPr/>
        </p:nvSpPr>
        <p:spPr>
          <a:xfrm>
            <a:off x="1691640" y="2103120"/>
            <a:ext cx="868680" cy="685800"/>
          </a:xfrm>
          <a:prstGeom prst="rect">
            <a:avLst/>
          </a:prstGeom>
          <a:solidFill>
            <a:schemeClr val="bg2"/>
          </a:solidFill>
          <a:ln w="12700">
            <a:solidFill>
              <a:schemeClr val="accent2"/>
            </a:solidFill>
          </a:ln>
        </p:spPr>
        <p:txBody>
          <a:bodyPr wrap="square" lIns="0" tIns="0" rIns="0" bIns="0" rtlCol="0" anchor="ctr"/>
          <a:lstStyle/>
          <a:p>
            <a:pPr algn="ctr" indent="0" marL="0">
              <a:buNone/>
            </a:pPr>
            <a:r>
              <a:rPr lang="en-US" sz="1200" dirty="0">
                <a:solidFill>
                  <a:schemeClr val="tx1"/>
                </a:solidFill>
              </a:rPr>
              <a:t>état A</a:t>
            </a:r>
            <a:endParaRPr lang="en-US" sz="1200" dirty="0"/>
          </a:p>
        </p:txBody>
      </p:sp>
      <p:sp>
        <p:nvSpPr>
          <p:cNvPr id="6" name="Text 4"/>
          <p:cNvSpPr txBox="1"/>
          <p:nvPr/>
        </p:nvSpPr>
        <p:spPr>
          <a:xfrm>
            <a:off x="1691640" y="2834640"/>
            <a:ext cx="86868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ourier New" pitchFamily="34" charset="0"/>
                <a:ea typeface="Courier New" pitchFamily="34" charset="-122"/>
                <a:cs typeface="Courier New" pitchFamily="34" charset="-120"/>
              </a:rPr>
              <a:t>1</a:t>
            </a:r>
            <a:endParaRPr lang="en-US" sz="1200" dirty="0"/>
          </a:p>
        </p:txBody>
      </p:sp>
      <p:sp>
        <p:nvSpPr>
          <p:cNvPr id="7" name="Text 5"/>
          <p:cNvSpPr/>
          <p:nvPr/>
        </p:nvSpPr>
        <p:spPr>
          <a:xfrm>
            <a:off x="2560320" y="2103120"/>
            <a:ext cx="868680" cy="685800"/>
          </a:xfrm>
          <a:prstGeom prst="rect">
            <a:avLst/>
          </a:prstGeom>
          <a:solidFill>
            <a:schemeClr val="bg1"/>
          </a:solidFill>
          <a:ln w="12700">
            <a:solidFill>
              <a:schemeClr val="accent2"/>
            </a:solidFill>
          </a:ln>
        </p:spPr>
        <p:txBody>
          <a:bodyPr wrap="square" lIns="0" tIns="0" rIns="0" bIns="0" rtlCol="0" anchor="ctr"/>
          <a:lstStyle/>
          <a:p>
            <a:pPr algn="ctr" indent="0" marL="0">
              <a:buNone/>
            </a:pPr>
            <a:endParaRPr lang="en-US" sz="1200" dirty="0"/>
          </a:p>
        </p:txBody>
      </p:sp>
      <p:sp>
        <p:nvSpPr>
          <p:cNvPr id="8" name="Text 6"/>
          <p:cNvSpPr txBox="1"/>
          <p:nvPr/>
        </p:nvSpPr>
        <p:spPr>
          <a:xfrm>
            <a:off x="2560320" y="2834640"/>
            <a:ext cx="86868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ourier New" pitchFamily="34" charset="0"/>
                <a:ea typeface="Courier New" pitchFamily="34" charset="-122"/>
                <a:cs typeface="Courier New" pitchFamily="34" charset="-120"/>
              </a:rPr>
              <a:t>2</a:t>
            </a:r>
            <a:endParaRPr lang="en-US" sz="1200" dirty="0"/>
          </a:p>
        </p:txBody>
      </p:sp>
      <p:sp>
        <p:nvSpPr>
          <p:cNvPr id="9" name="Text 7"/>
          <p:cNvSpPr/>
          <p:nvPr/>
        </p:nvSpPr>
        <p:spPr>
          <a:xfrm>
            <a:off x="3429000" y="2103120"/>
            <a:ext cx="868680" cy="685800"/>
          </a:xfrm>
          <a:prstGeom prst="rect">
            <a:avLst/>
          </a:prstGeom>
          <a:solidFill>
            <a:schemeClr val="bg2"/>
          </a:solidFill>
          <a:ln w="12700">
            <a:solidFill>
              <a:schemeClr val="accent2"/>
            </a:solidFill>
          </a:ln>
        </p:spPr>
        <p:txBody>
          <a:bodyPr wrap="square" lIns="0" tIns="0" rIns="0" bIns="0" rtlCol="0" anchor="ctr"/>
          <a:lstStyle/>
          <a:p>
            <a:pPr algn="ctr" indent="0" marL="0">
              <a:buNone/>
            </a:pPr>
            <a:r>
              <a:rPr lang="en-US" sz="1200" dirty="0">
                <a:solidFill>
                  <a:schemeClr val="tx1"/>
                </a:solidFill>
              </a:rPr>
              <a:t>état B</a:t>
            </a:r>
            <a:endParaRPr lang="en-US" sz="1200" dirty="0"/>
          </a:p>
        </p:txBody>
      </p:sp>
      <p:sp>
        <p:nvSpPr>
          <p:cNvPr id="10" name="Text 8"/>
          <p:cNvSpPr txBox="1"/>
          <p:nvPr/>
        </p:nvSpPr>
        <p:spPr>
          <a:xfrm>
            <a:off x="3429000" y="2834640"/>
            <a:ext cx="86868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ourier New" pitchFamily="34" charset="0"/>
                <a:ea typeface="Courier New" pitchFamily="34" charset="-122"/>
                <a:cs typeface="Courier New" pitchFamily="34" charset="-120"/>
              </a:rPr>
              <a:t>3</a:t>
            </a:r>
            <a:endParaRPr lang="en-US" sz="1200" dirty="0"/>
          </a:p>
        </p:txBody>
      </p:sp>
      <p:sp>
        <p:nvSpPr>
          <p:cNvPr id="11" name="Text 9"/>
          <p:cNvSpPr/>
          <p:nvPr/>
        </p:nvSpPr>
        <p:spPr>
          <a:xfrm>
            <a:off x="4297680" y="2103120"/>
            <a:ext cx="868680" cy="685800"/>
          </a:xfrm>
          <a:prstGeom prst="rect">
            <a:avLst/>
          </a:prstGeom>
          <a:solidFill>
            <a:schemeClr val="bg2"/>
          </a:solidFill>
          <a:ln w="12700">
            <a:solidFill>
              <a:schemeClr val="accent2"/>
            </a:solidFill>
          </a:ln>
        </p:spPr>
        <p:txBody>
          <a:bodyPr wrap="square" lIns="0" tIns="0" rIns="0" bIns="0" rtlCol="0" anchor="ctr"/>
          <a:lstStyle/>
          <a:p>
            <a:pPr algn="ctr" indent="0" marL="0">
              <a:buNone/>
            </a:pPr>
            <a:r>
              <a:rPr lang="en-US" sz="1200" dirty="0">
                <a:solidFill>
                  <a:schemeClr val="tx1"/>
                </a:solidFill>
              </a:rPr>
              <a:t>état C</a:t>
            </a:r>
            <a:endParaRPr lang="en-US" sz="1200" dirty="0"/>
          </a:p>
        </p:txBody>
      </p:sp>
      <p:sp>
        <p:nvSpPr>
          <p:cNvPr id="12" name="Text 10"/>
          <p:cNvSpPr txBox="1"/>
          <p:nvPr/>
        </p:nvSpPr>
        <p:spPr>
          <a:xfrm>
            <a:off x="4297680" y="2834640"/>
            <a:ext cx="86868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ourier New" pitchFamily="34" charset="0"/>
                <a:ea typeface="Courier New" pitchFamily="34" charset="-122"/>
                <a:cs typeface="Courier New" pitchFamily="34" charset="-120"/>
              </a:rPr>
              <a:t>4</a:t>
            </a:r>
            <a:endParaRPr lang="en-US" sz="1200" dirty="0"/>
          </a:p>
        </p:txBody>
      </p:sp>
      <p:sp>
        <p:nvSpPr>
          <p:cNvPr id="13" name="Text 11"/>
          <p:cNvSpPr/>
          <p:nvPr/>
        </p:nvSpPr>
        <p:spPr>
          <a:xfrm>
            <a:off x="5166360" y="2103120"/>
            <a:ext cx="868680" cy="685800"/>
          </a:xfrm>
          <a:prstGeom prst="rect">
            <a:avLst/>
          </a:prstGeom>
          <a:solidFill>
            <a:schemeClr val="bg1"/>
          </a:solidFill>
          <a:ln w="12700">
            <a:solidFill>
              <a:schemeClr val="accent2"/>
            </a:solidFill>
          </a:ln>
        </p:spPr>
        <p:txBody>
          <a:bodyPr wrap="square" lIns="0" tIns="0" rIns="0" bIns="0" rtlCol="0" anchor="ctr"/>
          <a:lstStyle/>
          <a:p>
            <a:pPr algn="ctr" indent="0" marL="0">
              <a:buNone/>
            </a:pPr>
            <a:endParaRPr lang="en-US" sz="1200" dirty="0"/>
          </a:p>
        </p:txBody>
      </p:sp>
      <p:sp>
        <p:nvSpPr>
          <p:cNvPr id="14" name="Text 12"/>
          <p:cNvSpPr txBox="1"/>
          <p:nvPr/>
        </p:nvSpPr>
        <p:spPr>
          <a:xfrm>
            <a:off x="5166360" y="2834640"/>
            <a:ext cx="86868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ourier New" pitchFamily="34" charset="0"/>
                <a:ea typeface="Courier New" pitchFamily="34" charset="-122"/>
                <a:cs typeface="Courier New" pitchFamily="34" charset="-120"/>
              </a:rPr>
              <a:t>5</a:t>
            </a:r>
            <a:endParaRPr lang="en-US" sz="1200" dirty="0"/>
          </a:p>
        </p:txBody>
      </p:sp>
      <p:sp>
        <p:nvSpPr>
          <p:cNvPr id="15" name="Text 13"/>
          <p:cNvSpPr/>
          <p:nvPr/>
        </p:nvSpPr>
        <p:spPr>
          <a:xfrm>
            <a:off x="6035040" y="2103120"/>
            <a:ext cx="868680" cy="685800"/>
          </a:xfrm>
          <a:prstGeom prst="rect">
            <a:avLst/>
          </a:prstGeom>
          <a:solidFill>
            <a:schemeClr val="bg1"/>
          </a:solidFill>
          <a:ln w="12700">
            <a:solidFill>
              <a:schemeClr val="accent2"/>
            </a:solidFill>
          </a:ln>
        </p:spPr>
        <p:txBody>
          <a:bodyPr wrap="square" lIns="0" tIns="0" rIns="0" bIns="0" rtlCol="0" anchor="ctr"/>
          <a:lstStyle/>
          <a:p>
            <a:pPr algn="ctr" indent="0" marL="0">
              <a:buNone/>
            </a:pPr>
            <a:endParaRPr lang="en-US" sz="1200" dirty="0"/>
          </a:p>
        </p:txBody>
      </p:sp>
      <p:sp>
        <p:nvSpPr>
          <p:cNvPr id="16" name="Text 14"/>
          <p:cNvSpPr txBox="1"/>
          <p:nvPr/>
        </p:nvSpPr>
        <p:spPr>
          <a:xfrm>
            <a:off x="6035040" y="2834640"/>
            <a:ext cx="86868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ourier New" pitchFamily="34" charset="0"/>
                <a:ea typeface="Courier New" pitchFamily="34" charset="-122"/>
                <a:cs typeface="Courier New" pitchFamily="34" charset="-120"/>
              </a:rPr>
              <a:t>6</a:t>
            </a:r>
            <a:endParaRPr lang="en-US" sz="1200" dirty="0"/>
          </a:p>
        </p:txBody>
      </p:sp>
      <p:sp>
        <p:nvSpPr>
          <p:cNvPr id="17" name="Text 15"/>
          <p:cNvSpPr/>
          <p:nvPr/>
        </p:nvSpPr>
        <p:spPr>
          <a:xfrm>
            <a:off x="6903720" y="2103120"/>
            <a:ext cx="868680" cy="685800"/>
          </a:xfrm>
          <a:prstGeom prst="rect">
            <a:avLst/>
          </a:prstGeom>
          <a:solidFill>
            <a:schemeClr val="bg1"/>
          </a:solidFill>
          <a:ln w="12700">
            <a:solidFill>
              <a:schemeClr val="accent2"/>
            </a:solidFill>
          </a:ln>
        </p:spPr>
        <p:txBody>
          <a:bodyPr wrap="square" lIns="0" tIns="0" rIns="0" bIns="0" rtlCol="0" anchor="ctr"/>
          <a:lstStyle/>
          <a:p>
            <a:pPr algn="ctr" indent="0" marL="0">
              <a:buNone/>
            </a:pPr>
            <a:endParaRPr lang="en-US" sz="1200" dirty="0"/>
          </a:p>
        </p:txBody>
      </p:sp>
      <p:sp>
        <p:nvSpPr>
          <p:cNvPr id="18" name="Text 16"/>
          <p:cNvSpPr txBox="1"/>
          <p:nvPr/>
        </p:nvSpPr>
        <p:spPr>
          <a:xfrm>
            <a:off x="6903720" y="2834640"/>
            <a:ext cx="868680" cy="274320"/>
          </a:xfrm>
          <a:prstGeom prst="rect">
            <a:avLst/>
          </a:prstGeom>
          <a:noFill/>
          <a:ln/>
        </p:spPr>
        <p:txBody>
          <a:bodyPr wrap="square" lIns="0" tIns="0" rIns="0" bIns="0" rtlCol="0" anchor="t"/>
          <a:lstStyle/>
          <a:p>
            <a:pPr algn="ctr" indent="0" marL="0">
              <a:buNone/>
            </a:pPr>
            <a:r>
              <a:rPr lang="en-US" sz="1200" dirty="0">
                <a:solidFill>
                  <a:schemeClr val="accent5"/>
                </a:solidFill>
                <a:latin typeface="Courier New" pitchFamily="34" charset="0"/>
                <a:ea typeface="Courier New" pitchFamily="34" charset="-122"/>
                <a:cs typeface="Courier New" pitchFamily="34" charset="-120"/>
              </a:rPr>
              <a:t>7</a:t>
            </a:r>
            <a:endParaRPr lang="en-US" sz="1200" dirty="0"/>
          </a:p>
        </p:txBody>
      </p:sp>
      <p:sp>
        <p:nvSpPr>
          <p:cNvPr id="19" name="Text 17"/>
          <p:cNvSpPr txBox="1"/>
          <p:nvPr/>
        </p:nvSpPr>
        <p:spPr>
          <a:xfrm>
            <a:off x="822960" y="1645920"/>
            <a:ext cx="457200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tableVisites (String[])</a:t>
            </a:r>
            <a:endParaRPr lang="en-US" sz="1400" dirty="0"/>
          </a:p>
        </p:txBody>
      </p:sp>
      <p:sp>
        <p:nvSpPr>
          <p:cNvPr id="20" name="Text 18"/>
          <p:cNvSpPr/>
          <p:nvPr/>
        </p:nvSpPr>
        <p:spPr>
          <a:xfrm>
            <a:off x="822960" y="3657600"/>
            <a:ext cx="3291840" cy="502920"/>
          </a:xfrm>
          <a:prstGeom prst="roundRect">
            <a:avLst>
              <a:gd name="adj" fmla="val 14545"/>
            </a:avLst>
          </a:prstGeom>
          <a:solidFill>
            <a:schemeClr val="tx1"/>
          </a:solidFill>
          <a:ln>
            <a:solidFill>
              <a:schemeClr val="tx1"/>
            </a:solidFill>
          </a:ln>
        </p:spPr>
        <p:txBody>
          <a:bodyPr wrap="square" lIns="0" tIns="0" rIns="0" bIns="0" rtlCol="0" anchor="ctr"/>
          <a:lstStyle/>
          <a:p>
            <a:pPr algn="ctr" indent="0" marL="0">
              <a:buNone/>
            </a:pPr>
            <a:r>
              <a:rPr lang="en-US" sz="1400" dirty="0">
                <a:solidFill>
                  <a:schemeClr val="bg1"/>
                </a:solidFill>
              </a:rPr>
              <a:t>nouvel état X → hachage = 3</a:t>
            </a:r>
            <a:endParaRPr lang="en-US" sz="1400" dirty="0"/>
          </a:p>
        </p:txBody>
      </p:sp>
      <p:sp>
        <p:nvSpPr>
          <p:cNvPr id="21" name="Shape 19"/>
          <p:cNvSpPr/>
          <p:nvPr/>
        </p:nvSpPr>
        <p:spPr>
          <a:xfrm flipV="1">
            <a:off x="3429000" y="2834640"/>
            <a:ext cx="914" cy="822960"/>
          </a:xfrm>
          <a:prstGeom prst="line">
            <a:avLst/>
          </a:prstGeom>
          <a:noFill/>
          <a:ln w="19050">
            <a:solidFill>
              <a:schemeClr val="accent3"/>
            </a:solidFill>
            <a:prstDash val="solid"/>
            <a:tailEnd type="triangle"/>
          </a:ln>
        </p:spPr>
      </p:sp>
      <p:sp>
        <p:nvSpPr>
          <p:cNvPr id="22" name="Shape 20"/>
          <p:cNvSpPr/>
          <p:nvPr/>
        </p:nvSpPr>
        <p:spPr>
          <a:xfrm>
            <a:off x="3383280" y="2606040"/>
            <a:ext cx="914400" cy="731520"/>
          </a:xfrm>
          <a:prstGeom prst="arc">
            <a:avLst>
              <a:gd name="adj1" fmla="val 12000000"/>
              <a:gd name="adj2" fmla="val 20400000"/>
            </a:avLst>
          </a:prstGeom>
          <a:ln w="19050">
            <a:solidFill>
              <a:schemeClr val="accent3"/>
            </a:solidFill>
            <a:prstDash val="solid"/>
            <a:tailEnd type="triangle"/>
          </a:ln>
        </p:spPr>
      </p:sp>
      <p:sp>
        <p:nvSpPr>
          <p:cNvPr id="23" name="Shape 21"/>
          <p:cNvSpPr/>
          <p:nvPr/>
        </p:nvSpPr>
        <p:spPr>
          <a:xfrm>
            <a:off x="4251960" y="2606040"/>
            <a:ext cx="914400" cy="731520"/>
          </a:xfrm>
          <a:prstGeom prst="arc">
            <a:avLst>
              <a:gd name="adj1" fmla="val 12000000"/>
              <a:gd name="adj2" fmla="val 20400000"/>
            </a:avLst>
          </a:prstGeom>
          <a:ln w="19050">
            <a:solidFill>
              <a:schemeClr val="accent3"/>
            </a:solidFill>
            <a:prstDash val="solid"/>
            <a:tailEnd type="triangle"/>
          </a:ln>
        </p:spPr>
      </p:sp>
      <p:sp>
        <p:nvSpPr>
          <p:cNvPr id="24" name="Text 22"/>
          <p:cNvSpPr txBox="1"/>
          <p:nvPr/>
        </p:nvSpPr>
        <p:spPr>
          <a:xfrm>
            <a:off x="4343400" y="3730752"/>
            <a:ext cx="3108960" cy="457200"/>
          </a:xfrm>
          <a:prstGeom prst="rect">
            <a:avLst/>
          </a:prstGeom>
          <a:noFill/>
          <a:ln/>
        </p:spPr>
        <p:txBody>
          <a:bodyPr wrap="square" lIns="0" tIns="0" rIns="0" bIns="0" rtlCol="0" anchor="t"/>
          <a:lstStyle/>
          <a:p>
            <a:pPr indent="0" marL="0">
              <a:buNone/>
            </a:pPr>
            <a:r>
              <a:rPr lang="en-US" sz="1300" b="1" dirty="0">
                <a:solidFill>
                  <a:schemeClr val="accent3"/>
                </a:solidFill>
              </a:rPr>
              <a:t>case 3 prise, case 4 prise → X rangé en case 5</a:t>
            </a:r>
            <a:endParaRPr lang="en-US" sz="1300" dirty="0"/>
          </a:p>
        </p:txBody>
      </p:sp>
      <p:sp>
        <p:nvSpPr>
          <p:cNvPr id="25" name="Text 23"/>
          <p:cNvSpPr/>
          <p:nvPr/>
        </p:nvSpPr>
        <p:spPr>
          <a:xfrm>
            <a:off x="8046720" y="1600200"/>
            <a:ext cx="457200" cy="45720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6" name="Text 24"/>
          <p:cNvSpPr txBox="1"/>
          <p:nvPr/>
        </p:nvSpPr>
        <p:spPr>
          <a:xfrm>
            <a:off x="8686800" y="1581912"/>
            <a:ext cx="3017520" cy="320040"/>
          </a:xfrm>
          <a:prstGeom prst="rect">
            <a:avLst/>
          </a:prstGeom>
          <a:noFill/>
          <a:ln/>
        </p:spPr>
        <p:txBody>
          <a:bodyPr wrap="square" lIns="0" tIns="0" rIns="0" bIns="0" rtlCol="0" anchor="t"/>
          <a:lstStyle/>
          <a:p>
            <a:pPr indent="0" marL="0">
              <a:buNone/>
            </a:pPr>
            <a:r>
              <a:rPr lang="en-US" sz="1700" b="1" dirty="0">
                <a:solidFill>
                  <a:schemeClr val="tx1"/>
                </a:solidFill>
              </a:rPr>
              <a:t>Hacher</a:t>
            </a:r>
            <a:endParaRPr lang="en-US" sz="1700" dirty="0"/>
          </a:p>
        </p:txBody>
      </p:sp>
      <p:sp>
        <p:nvSpPr>
          <p:cNvPr id="27" name="Text 25"/>
          <p:cNvSpPr txBox="1"/>
          <p:nvPr/>
        </p:nvSpPr>
        <p:spPr>
          <a:xfrm>
            <a:off x="8686800" y="1929384"/>
            <a:ext cx="3017520" cy="548640"/>
          </a:xfrm>
          <a:prstGeom prst="rect">
            <a:avLst/>
          </a:prstGeom>
          <a:noFill/>
          <a:ln/>
        </p:spPr>
        <p:txBody>
          <a:bodyPr wrap="square" lIns="0" tIns="0" rIns="0" bIns="0" rtlCol="0" anchor="t"/>
          <a:lstStyle/>
          <a:p>
            <a:pPr indent="0" marL="0">
              <a:buNone/>
            </a:pPr>
            <a:r>
              <a:rPr lang="en-US" sz="1300" dirty="0">
                <a:solidFill>
                  <a:schemeClr val="accent5"/>
                </a:solidFill>
              </a:rPr>
              <a:t>h = 31 × h + caractère, modulo la taille</a:t>
            </a:r>
            <a:endParaRPr lang="en-US" sz="1300" dirty="0"/>
          </a:p>
        </p:txBody>
      </p:sp>
      <p:sp>
        <p:nvSpPr>
          <p:cNvPr id="28" name="Text 26"/>
          <p:cNvSpPr/>
          <p:nvPr/>
        </p:nvSpPr>
        <p:spPr>
          <a:xfrm>
            <a:off x="8046720" y="2624328"/>
            <a:ext cx="457200" cy="45720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9" name="Text 27"/>
          <p:cNvSpPr txBox="1"/>
          <p:nvPr/>
        </p:nvSpPr>
        <p:spPr>
          <a:xfrm>
            <a:off x="8686800" y="2606040"/>
            <a:ext cx="3017520" cy="320040"/>
          </a:xfrm>
          <a:prstGeom prst="rect">
            <a:avLst/>
          </a:prstGeom>
          <a:noFill/>
          <a:ln/>
        </p:spPr>
        <p:txBody>
          <a:bodyPr wrap="square" lIns="0" tIns="0" rIns="0" bIns="0" rtlCol="0" anchor="t"/>
          <a:lstStyle/>
          <a:p>
            <a:pPr indent="0" marL="0">
              <a:buNone/>
            </a:pPr>
            <a:r>
              <a:rPr lang="en-US" sz="1700" b="1" dirty="0">
                <a:solidFill>
                  <a:schemeClr val="tx1"/>
                </a:solidFill>
              </a:rPr>
              <a:t>Sonder</a:t>
            </a:r>
            <a:endParaRPr lang="en-US" sz="1700" dirty="0"/>
          </a:p>
        </p:txBody>
      </p:sp>
      <p:sp>
        <p:nvSpPr>
          <p:cNvPr id="30" name="Text 28"/>
          <p:cNvSpPr txBox="1"/>
          <p:nvPr/>
        </p:nvSpPr>
        <p:spPr>
          <a:xfrm>
            <a:off x="8686800" y="2953512"/>
            <a:ext cx="3017520" cy="548640"/>
          </a:xfrm>
          <a:prstGeom prst="rect">
            <a:avLst/>
          </a:prstGeom>
          <a:noFill/>
          <a:ln/>
        </p:spPr>
        <p:txBody>
          <a:bodyPr wrap="square" lIns="0" tIns="0" rIns="0" bIns="0" rtlCol="0" anchor="t"/>
          <a:lstStyle/>
          <a:p>
            <a:pPr indent="0" marL="0">
              <a:buNone/>
            </a:pPr>
            <a:r>
              <a:rPr lang="en-US" sz="1300" dirty="0">
                <a:solidFill>
                  <a:schemeClr val="accent5"/>
                </a:solidFill>
              </a:rPr>
              <a:t>case occupée par un autre état → case suivante</a:t>
            </a:r>
            <a:endParaRPr lang="en-US" sz="1300" dirty="0"/>
          </a:p>
        </p:txBody>
      </p:sp>
      <p:sp>
        <p:nvSpPr>
          <p:cNvPr id="31" name="Text 29"/>
          <p:cNvSpPr/>
          <p:nvPr/>
        </p:nvSpPr>
        <p:spPr>
          <a:xfrm>
            <a:off x="8046720" y="3648456"/>
            <a:ext cx="457200" cy="45720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2" name="Text 30"/>
          <p:cNvSpPr txBox="1"/>
          <p:nvPr/>
        </p:nvSpPr>
        <p:spPr>
          <a:xfrm>
            <a:off x="8686800" y="3630168"/>
            <a:ext cx="3017520" cy="320040"/>
          </a:xfrm>
          <a:prstGeom prst="rect">
            <a:avLst/>
          </a:prstGeom>
          <a:noFill/>
          <a:ln/>
        </p:spPr>
        <p:txBody>
          <a:bodyPr wrap="square" lIns="0" tIns="0" rIns="0" bIns="0" rtlCol="0" anchor="t"/>
          <a:lstStyle/>
          <a:p>
            <a:pPr indent="0" marL="0">
              <a:buNone/>
            </a:pPr>
            <a:r>
              <a:rPr lang="en-US" sz="1700" b="1" dirty="0">
                <a:solidFill>
                  <a:schemeClr val="tx1"/>
                </a:solidFill>
              </a:rPr>
              <a:t>Conclure</a:t>
            </a:r>
            <a:endParaRPr lang="en-US" sz="1700" dirty="0"/>
          </a:p>
        </p:txBody>
      </p:sp>
      <p:sp>
        <p:nvSpPr>
          <p:cNvPr id="33" name="Text 31"/>
          <p:cNvSpPr txBox="1"/>
          <p:nvPr/>
        </p:nvSpPr>
        <p:spPr>
          <a:xfrm>
            <a:off x="8686800" y="3977640"/>
            <a:ext cx="3017520" cy="548640"/>
          </a:xfrm>
          <a:prstGeom prst="rect">
            <a:avLst/>
          </a:prstGeom>
          <a:noFill/>
          <a:ln/>
        </p:spPr>
        <p:txBody>
          <a:bodyPr wrap="square" lIns="0" tIns="0" rIns="0" bIns="0" rtlCol="0" anchor="t"/>
          <a:lstStyle/>
          <a:p>
            <a:pPr indent="0" marL="0">
              <a:buNone/>
            </a:pPr>
            <a:r>
              <a:rPr lang="en-US" sz="1300" dirty="0">
                <a:solidFill>
                  <a:schemeClr val="accent5"/>
                </a:solidFill>
              </a:rPr>
              <a:t>état trouvé = déjà visité ; case vide = on le range</a:t>
            </a:r>
            <a:endParaRPr lang="en-US" sz="1300" dirty="0"/>
          </a:p>
        </p:txBody>
      </p:sp>
      <p:sp>
        <p:nvSpPr>
          <p:cNvPr id="34" name="Text 32"/>
          <p:cNvSpPr/>
          <p:nvPr/>
        </p:nvSpPr>
        <p:spPr>
          <a:xfrm>
            <a:off x="8046720" y="4672584"/>
            <a:ext cx="457200" cy="45720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Text 33"/>
          <p:cNvSpPr txBox="1"/>
          <p:nvPr/>
        </p:nvSpPr>
        <p:spPr>
          <a:xfrm>
            <a:off x="8686800" y="4654296"/>
            <a:ext cx="3017520" cy="320040"/>
          </a:xfrm>
          <a:prstGeom prst="rect">
            <a:avLst/>
          </a:prstGeom>
          <a:noFill/>
          <a:ln/>
        </p:spPr>
        <p:txBody>
          <a:bodyPr wrap="square" lIns="0" tIns="0" rIns="0" bIns="0" rtlCol="0" anchor="t"/>
          <a:lstStyle/>
          <a:p>
            <a:pPr indent="0" marL="0">
              <a:buNone/>
            </a:pPr>
            <a:r>
              <a:rPr lang="en-US" sz="1700" b="1" dirty="0">
                <a:solidFill>
                  <a:schemeClr val="tx1"/>
                </a:solidFill>
              </a:rPr>
              <a:t>Agrandir</a:t>
            </a:r>
            <a:endParaRPr lang="en-US" sz="1700" dirty="0"/>
          </a:p>
        </p:txBody>
      </p:sp>
      <p:sp>
        <p:nvSpPr>
          <p:cNvPr id="36" name="Text 34"/>
          <p:cNvSpPr txBox="1"/>
          <p:nvPr/>
        </p:nvSpPr>
        <p:spPr>
          <a:xfrm>
            <a:off x="8686800" y="5001768"/>
            <a:ext cx="3017520" cy="548640"/>
          </a:xfrm>
          <a:prstGeom prst="rect">
            <a:avLst/>
          </a:prstGeom>
          <a:noFill/>
          <a:ln/>
        </p:spPr>
        <p:txBody>
          <a:bodyPr wrap="square" lIns="0" tIns="0" rIns="0" bIns="0" rtlCol="0" anchor="t"/>
          <a:lstStyle/>
          <a:p>
            <a:pPr indent="0" marL="0">
              <a:buNone/>
            </a:pPr>
            <a:r>
              <a:rPr lang="en-US" sz="1300" dirty="0">
                <a:solidFill>
                  <a:schemeClr val="accent5"/>
                </a:solidFill>
              </a:rPr>
              <a:t>à moitié pleine, la table double de taille</a:t>
            </a:r>
            <a:endParaRPr lang="en-US" sz="1300" dirty="0"/>
          </a:p>
        </p:txBody>
      </p:sp>
      <p:sp>
        <p:nvSpPr>
          <p:cNvPr id="37" name="pourquoi"/>
          <p:cNvSpPr/>
          <p:nvPr/>
        </p:nvSpPr>
        <p:spPr>
          <a:xfrm>
            <a:off x="822960" y="4754880"/>
            <a:ext cx="6629400" cy="1325880"/>
          </a:xfrm>
          <a:prstGeom prst="roundRect">
            <a:avLst>
              <a:gd name="adj" fmla="val 8276"/>
            </a:avLst>
          </a:prstGeom>
          <a:solidFill>
            <a:schemeClr val="bg2"/>
          </a:solidFill>
          <a:ln w="12700">
            <a:solidFill>
              <a:schemeClr val="bg2"/>
            </a:solidFill>
            <a:prstDash val="solid"/>
          </a:ln>
        </p:spPr>
      </p:sp>
      <p:sp>
        <p:nvSpPr>
          <p:cNvPr id="38" name="Text 36"/>
          <p:cNvSpPr txBox="1"/>
          <p:nvPr/>
        </p:nvSpPr>
        <p:spPr>
          <a:xfrm>
            <a:off x="1051560" y="4892040"/>
            <a:ext cx="6217920" cy="1097280"/>
          </a:xfrm>
          <a:prstGeom prst="rect">
            <a:avLst/>
          </a:prstGeom>
          <a:noFill/>
          <a:ln/>
        </p:spPr>
        <p:txBody>
          <a:bodyPr wrap="square" lIns="0" tIns="0" rIns="0" bIns="0" rtlCol="0" anchor="t"/>
          <a:lstStyle/>
          <a:p>
            <a:pPr indent="0" marL="0">
              <a:buNone/>
            </a:pPr>
            <a:r>
              <a:rPr lang="en-US" sz="1400" b="1" dirty="0">
                <a:solidFill>
                  <a:schemeClr val="tx2"/>
                </a:solidFill>
              </a:rPr>
              <a:t>Pourquoi pas une simple liste ? </a:t>
            </a:r>
            <a:pPr indent="0" marL="0">
              <a:buNone/>
            </a:pPr>
            <a:r>
              <a:rPr lang="en-US" sz="1400" dirty="0">
                <a:solidFill>
                  <a:schemeClr val="tx1"/>
                </a:solidFill>
              </a:rPr>
              <a:t>Tester « déjà vu ? » en parcourant toute la liste coûterait O(n) par état. Avec 36 000 états, le niveau 3 deviendrait inutilisable. La table répond en O(1) en moyenne.</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424160" cy="777240"/>
          </a:xfrm>
          <a:prstGeom prst="rect">
            <a:avLst/>
          </a:prstGeom>
          <a:noFill/>
          <a:ln/>
        </p:spPr>
        <p:txBody>
          <a:bodyPr wrap="square" lIns="0" tIns="0" rIns="0" bIns="0" rtlCol="0" anchor="ctr"/>
          <a:lstStyle/>
          <a:p>
            <a:pPr algn="l" indent="0" marL="0">
              <a:buNone/>
            </a:pPr>
            <a:r>
              <a:rPr lang="en-US" sz="3200" b="1" dirty="0">
                <a:solidFill>
                  <a:schemeClr val="tx1"/>
                </a:solidFill>
              </a:rPr>
              <a:t>DFS récursif : cas de base, cas récursif, arrêt</a:t>
            </a:r>
            <a:endParaRPr lang="en-US" sz="3200" dirty="0"/>
          </a:p>
        </p:txBody>
      </p:sp>
      <p:sp>
        <p:nvSpPr>
          <p:cNvPr id="3" name="Shape 1"/>
          <p:cNvSpPr/>
          <p:nvPr/>
        </p:nvSpPr>
        <p:spPr>
          <a:xfrm flipH="1">
            <a:off x="1472184" y="1892808"/>
            <a:ext cx="1097280" cy="713232"/>
          </a:xfrm>
          <a:prstGeom prst="line">
            <a:avLst/>
          </a:prstGeom>
          <a:noFill/>
          <a:ln w="25400">
            <a:solidFill>
              <a:schemeClr val="accent1"/>
            </a:solidFill>
            <a:prstDash val="solid"/>
          </a:ln>
        </p:spPr>
      </p:sp>
      <p:sp>
        <p:nvSpPr>
          <p:cNvPr id="4" name="Shape 2"/>
          <p:cNvSpPr/>
          <p:nvPr/>
        </p:nvSpPr>
        <p:spPr>
          <a:xfrm>
            <a:off x="2569464" y="1892808"/>
            <a:ext cx="914" cy="713232"/>
          </a:xfrm>
          <a:prstGeom prst="line">
            <a:avLst/>
          </a:prstGeom>
          <a:noFill/>
          <a:ln w="25400">
            <a:solidFill>
              <a:schemeClr val="accent6"/>
            </a:solidFill>
            <a:prstDash val="solid"/>
          </a:ln>
        </p:spPr>
      </p:sp>
      <p:sp>
        <p:nvSpPr>
          <p:cNvPr id="5" name="Shape 3"/>
          <p:cNvSpPr/>
          <p:nvPr/>
        </p:nvSpPr>
        <p:spPr>
          <a:xfrm>
            <a:off x="2569464" y="1892808"/>
            <a:ext cx="1097280" cy="713232"/>
          </a:xfrm>
          <a:prstGeom prst="line">
            <a:avLst/>
          </a:prstGeom>
          <a:noFill/>
          <a:ln w="25400">
            <a:solidFill>
              <a:schemeClr val="accent6"/>
            </a:solidFill>
            <a:prstDash val="solid"/>
          </a:ln>
        </p:spPr>
      </p:sp>
      <p:sp>
        <p:nvSpPr>
          <p:cNvPr id="6" name="Shape 4"/>
          <p:cNvSpPr/>
          <p:nvPr/>
        </p:nvSpPr>
        <p:spPr>
          <a:xfrm flipH="1">
            <a:off x="877824" y="3172968"/>
            <a:ext cx="594360" cy="713232"/>
          </a:xfrm>
          <a:prstGeom prst="line">
            <a:avLst/>
          </a:prstGeom>
          <a:noFill/>
          <a:ln w="25400">
            <a:solidFill>
              <a:schemeClr val="accent1"/>
            </a:solidFill>
            <a:prstDash val="solid"/>
          </a:ln>
        </p:spPr>
      </p:sp>
      <p:sp>
        <p:nvSpPr>
          <p:cNvPr id="7" name="Shape 5"/>
          <p:cNvSpPr/>
          <p:nvPr/>
        </p:nvSpPr>
        <p:spPr>
          <a:xfrm>
            <a:off x="1472184" y="3172968"/>
            <a:ext cx="548640" cy="713232"/>
          </a:xfrm>
          <a:prstGeom prst="line">
            <a:avLst/>
          </a:prstGeom>
          <a:noFill/>
          <a:ln w="25400">
            <a:solidFill>
              <a:schemeClr val="accent6"/>
            </a:solidFill>
            <a:prstDash val="solid"/>
          </a:ln>
        </p:spPr>
      </p:sp>
      <p:sp>
        <p:nvSpPr>
          <p:cNvPr id="8" name="Shape 6"/>
          <p:cNvSpPr/>
          <p:nvPr/>
        </p:nvSpPr>
        <p:spPr>
          <a:xfrm>
            <a:off x="877824" y="4453128"/>
            <a:ext cx="914" cy="667512"/>
          </a:xfrm>
          <a:prstGeom prst="line">
            <a:avLst/>
          </a:prstGeom>
          <a:noFill/>
          <a:ln w="25400">
            <a:solidFill>
              <a:schemeClr val="accent1"/>
            </a:solidFill>
            <a:prstDash val="solid"/>
          </a:ln>
        </p:spPr>
      </p:sp>
      <p:sp>
        <p:nvSpPr>
          <p:cNvPr id="9" name="Text 7"/>
          <p:cNvSpPr/>
          <p:nvPr/>
        </p:nvSpPr>
        <p:spPr>
          <a:xfrm>
            <a:off x="2286000" y="1325880"/>
            <a:ext cx="566928" cy="566928"/>
          </a:xfrm>
          <a:prstGeom prst="ellipse">
            <a:avLst/>
          </a:prstGeom>
          <a:solidFill>
            <a:schemeClr val="tx1"/>
          </a:solidFill>
          <a:ln w="15875">
            <a:solidFill>
              <a:schemeClr val="tx1"/>
            </a:solidFill>
          </a:ln>
        </p:spPr>
        <p:txBody>
          <a:bodyPr wrap="square" lIns="0" tIns="0" rIns="0" bIns="0" rtlCol="0" anchor="ctr"/>
          <a:lstStyle/>
          <a:p>
            <a:pPr algn="ctr" indent="0" marL="0">
              <a:buNone/>
            </a:pPr>
            <a:r>
              <a:rPr lang="en-US" sz="1300" b="1" dirty="0">
                <a:solidFill>
                  <a:schemeClr val="bg1"/>
                </a:solidFill>
              </a:rPr>
              <a:t>0</a:t>
            </a:r>
            <a:endParaRPr lang="en-US" sz="1300" dirty="0"/>
          </a:p>
        </p:txBody>
      </p:sp>
      <p:sp>
        <p:nvSpPr>
          <p:cNvPr id="10" name="Text 8"/>
          <p:cNvSpPr/>
          <p:nvPr/>
        </p:nvSpPr>
        <p:spPr>
          <a:xfrm>
            <a:off x="1188720" y="2606040"/>
            <a:ext cx="566928" cy="566928"/>
          </a:xfrm>
          <a:prstGeom prst="ellipse">
            <a:avLst/>
          </a:prstGeom>
          <a:solidFill>
            <a:schemeClr val="accent1"/>
          </a:solidFill>
          <a:ln w="15875">
            <a:solidFill>
              <a:schemeClr val="accent1"/>
            </a:solidFill>
          </a:ln>
        </p:spPr>
        <p:txBody>
          <a:bodyPr wrap="square" lIns="0" tIns="0" rIns="0" bIns="0" rtlCol="0" anchor="ctr"/>
          <a:lstStyle/>
          <a:p>
            <a:pPr algn="ctr" indent="0" marL="0">
              <a:buNone/>
            </a:pPr>
            <a:r>
              <a:rPr lang="en-US" sz="1300" b="1" dirty="0">
                <a:solidFill>
                  <a:schemeClr val="bg1"/>
                </a:solidFill>
              </a:rPr>
              <a:t>z</a:t>
            </a:r>
            <a:endParaRPr lang="en-US" sz="1300" dirty="0"/>
          </a:p>
        </p:txBody>
      </p:sp>
      <p:sp>
        <p:nvSpPr>
          <p:cNvPr id="11" name="Text 9"/>
          <p:cNvSpPr/>
          <p:nvPr/>
        </p:nvSpPr>
        <p:spPr>
          <a:xfrm>
            <a:off x="2286000" y="2606040"/>
            <a:ext cx="566928" cy="566928"/>
          </a:xfrm>
          <a:prstGeom prst="ellipse">
            <a:avLst/>
          </a:prstGeom>
          <a:solidFill>
            <a:schemeClr val="bg1"/>
          </a:solidFill>
          <a:ln w="15875">
            <a:solidFill>
              <a:schemeClr val="accent6"/>
            </a:solidFill>
          </a:ln>
        </p:spPr>
        <p:txBody>
          <a:bodyPr wrap="square" lIns="0" tIns="0" rIns="0" bIns="0" rtlCol="0" anchor="ctr"/>
          <a:lstStyle/>
          <a:p>
            <a:pPr algn="ctr" indent="0" marL="0">
              <a:buNone/>
            </a:pPr>
            <a:r>
              <a:rPr lang="en-US" sz="1300" b="1" dirty="0">
                <a:solidFill>
                  <a:schemeClr val="accent5"/>
                </a:solidFill>
              </a:rPr>
              <a:t>s</a:t>
            </a:r>
            <a:endParaRPr lang="en-US" sz="1300" dirty="0"/>
          </a:p>
        </p:txBody>
      </p:sp>
      <p:sp>
        <p:nvSpPr>
          <p:cNvPr id="12" name="Text 10"/>
          <p:cNvSpPr/>
          <p:nvPr/>
        </p:nvSpPr>
        <p:spPr>
          <a:xfrm>
            <a:off x="3383280" y="2606040"/>
            <a:ext cx="566928" cy="566928"/>
          </a:xfrm>
          <a:prstGeom prst="ellipse">
            <a:avLst/>
          </a:prstGeom>
          <a:solidFill>
            <a:schemeClr val="bg1"/>
          </a:solidFill>
          <a:ln w="15875">
            <a:solidFill>
              <a:schemeClr val="accent6"/>
            </a:solidFill>
          </a:ln>
        </p:spPr>
        <p:txBody>
          <a:bodyPr wrap="square" lIns="0" tIns="0" rIns="0" bIns="0" rtlCol="0" anchor="ctr"/>
          <a:lstStyle/>
          <a:p>
            <a:pPr algn="ctr" indent="0" marL="0">
              <a:buNone/>
            </a:pPr>
            <a:r>
              <a:rPr lang="en-US" sz="1300" b="1" dirty="0">
                <a:solidFill>
                  <a:schemeClr val="accent5"/>
                </a:solidFill>
              </a:rPr>
              <a:t>q</a:t>
            </a:r>
            <a:endParaRPr lang="en-US" sz="1300" dirty="0"/>
          </a:p>
        </p:txBody>
      </p:sp>
      <p:sp>
        <p:nvSpPr>
          <p:cNvPr id="13" name="Text 11"/>
          <p:cNvSpPr/>
          <p:nvPr/>
        </p:nvSpPr>
        <p:spPr>
          <a:xfrm>
            <a:off x="594360" y="3886200"/>
            <a:ext cx="566928" cy="566928"/>
          </a:xfrm>
          <a:prstGeom prst="ellipse">
            <a:avLst/>
          </a:prstGeom>
          <a:solidFill>
            <a:schemeClr val="accent1"/>
          </a:solidFill>
          <a:ln w="15875">
            <a:solidFill>
              <a:schemeClr val="accent1"/>
            </a:solidFill>
          </a:ln>
        </p:spPr>
        <p:txBody>
          <a:bodyPr wrap="square" lIns="0" tIns="0" rIns="0" bIns="0" rtlCol="0" anchor="ctr"/>
          <a:lstStyle/>
          <a:p>
            <a:pPr algn="ctr" indent="0" marL="0">
              <a:buNone/>
            </a:pPr>
            <a:r>
              <a:rPr lang="en-US" sz="1300" b="1" dirty="0">
                <a:solidFill>
                  <a:schemeClr val="bg1"/>
                </a:solidFill>
              </a:rPr>
              <a:t>z</a:t>
            </a:r>
            <a:endParaRPr lang="en-US" sz="1300" dirty="0"/>
          </a:p>
        </p:txBody>
      </p:sp>
      <p:sp>
        <p:nvSpPr>
          <p:cNvPr id="14" name="Text 12"/>
          <p:cNvSpPr/>
          <p:nvPr/>
        </p:nvSpPr>
        <p:spPr>
          <a:xfrm>
            <a:off x="1737360" y="3886200"/>
            <a:ext cx="566928" cy="566928"/>
          </a:xfrm>
          <a:prstGeom prst="ellipse">
            <a:avLst/>
          </a:prstGeom>
          <a:solidFill>
            <a:schemeClr val="accent6"/>
          </a:solidFill>
          <a:ln w="15875">
            <a:solidFill>
              <a:schemeClr val="accent6"/>
            </a:solidFill>
          </a:ln>
        </p:spPr>
        <p:txBody>
          <a:bodyPr wrap="square" lIns="0" tIns="0" rIns="0" bIns="0" rtlCol="0" anchor="ctr"/>
          <a:lstStyle/>
          <a:p>
            <a:pPr algn="ctr" indent="0" marL="0">
              <a:buNone/>
            </a:pPr>
            <a:r>
              <a:rPr lang="en-US" sz="1300" b="1" dirty="0">
                <a:solidFill>
                  <a:schemeClr val="accent5"/>
                </a:solidFill>
              </a:rPr>
              <a:t>×</a:t>
            </a:r>
            <a:endParaRPr lang="en-US" sz="1300" dirty="0"/>
          </a:p>
        </p:txBody>
      </p:sp>
      <p:sp>
        <p:nvSpPr>
          <p:cNvPr id="15" name="Text 13"/>
          <p:cNvSpPr/>
          <p:nvPr/>
        </p:nvSpPr>
        <p:spPr>
          <a:xfrm>
            <a:off x="594360" y="5120640"/>
            <a:ext cx="566928" cy="566928"/>
          </a:xfrm>
          <a:prstGeom prst="ellipse">
            <a:avLst/>
          </a:prstGeom>
          <a:solidFill>
            <a:schemeClr val="accent3"/>
          </a:solidFill>
          <a:ln w="15875">
            <a:solidFill>
              <a:schemeClr val="accent3"/>
            </a:solidFill>
          </a:ln>
        </p:spPr>
        <p:txBody>
          <a:bodyPr wrap="square" lIns="0" tIns="0" rIns="0" bIns="0" rtlCol="0" anchor="ctr"/>
          <a:lstStyle/>
          <a:p>
            <a:pPr algn="ctr" indent="0" marL="0">
              <a:buNone/>
            </a:pPr>
            <a:r>
              <a:rPr lang="en-US" sz="1300" b="1" dirty="0">
                <a:solidFill>
                  <a:schemeClr val="bg1"/>
                </a:solidFill>
              </a:rPr>
              <a:t>★</a:t>
            </a:r>
            <a:endParaRPr lang="en-US" sz="1300" dirty="0"/>
          </a:p>
        </p:txBody>
      </p:sp>
      <p:sp>
        <p:nvSpPr>
          <p:cNvPr id="16" name="Text 14"/>
          <p:cNvSpPr txBox="1"/>
          <p:nvPr/>
        </p:nvSpPr>
        <p:spPr>
          <a:xfrm>
            <a:off x="1325880" y="5257800"/>
            <a:ext cx="2377440" cy="274320"/>
          </a:xfrm>
          <a:prstGeom prst="rect">
            <a:avLst/>
          </a:prstGeom>
          <a:noFill/>
          <a:ln/>
        </p:spPr>
        <p:txBody>
          <a:bodyPr wrap="square" lIns="0" tIns="0" rIns="0" bIns="0" rtlCol="0" anchor="t"/>
          <a:lstStyle/>
          <a:p>
            <a:pPr indent="0" marL="0">
              <a:buNone/>
            </a:pPr>
            <a:r>
              <a:rPr lang="en-US" sz="1200" dirty="0">
                <a:solidFill>
                  <a:schemeClr val="accent1"/>
                </a:solidFill>
              </a:rPr>
              <a:t>branche suivie d'abord</a:t>
            </a:r>
            <a:endParaRPr lang="en-US" sz="1200" dirty="0"/>
          </a:p>
        </p:txBody>
      </p:sp>
      <p:sp>
        <p:nvSpPr>
          <p:cNvPr id="17" name="Text 15"/>
          <p:cNvSpPr txBox="1"/>
          <p:nvPr/>
        </p:nvSpPr>
        <p:spPr>
          <a:xfrm>
            <a:off x="2377440" y="4023360"/>
            <a:ext cx="1463040" cy="274320"/>
          </a:xfrm>
          <a:prstGeom prst="rect">
            <a:avLst/>
          </a:prstGeom>
          <a:noFill/>
          <a:ln/>
        </p:spPr>
        <p:txBody>
          <a:bodyPr wrap="square" lIns="0" tIns="0" rIns="0" bIns="0" rtlCol="0" anchor="t"/>
          <a:lstStyle/>
          <a:p>
            <a:pPr indent="0" marL="0">
              <a:buNone/>
            </a:pPr>
            <a:r>
              <a:rPr lang="en-US" sz="1200" dirty="0">
                <a:solidFill>
                  <a:schemeClr val="accent5"/>
                </a:solidFill>
              </a:rPr>
              <a:t>× déjà visité</a:t>
            </a:r>
            <a:endParaRPr lang="en-US" sz="1200" dirty="0"/>
          </a:p>
        </p:txBody>
      </p:sp>
      <p:sp>
        <p:nvSpPr>
          <p:cNvPr id="18" name="Text 16"/>
          <p:cNvSpPr txBox="1"/>
          <p:nvPr/>
        </p:nvSpPr>
        <p:spPr>
          <a:xfrm>
            <a:off x="1325880" y="5577840"/>
            <a:ext cx="2834640" cy="548640"/>
          </a:xfrm>
          <a:prstGeom prst="rect">
            <a:avLst/>
          </a:prstGeom>
          <a:noFill/>
          <a:ln/>
        </p:spPr>
        <p:txBody>
          <a:bodyPr wrap="square" lIns="0" tIns="0" rIns="0" bIns="0" rtlCol="0" anchor="t"/>
          <a:lstStyle/>
          <a:p>
            <a:pPr indent="0" marL="0">
              <a:buNone/>
            </a:pPr>
            <a:r>
              <a:rPr lang="en-US" sz="1200" dirty="0">
                <a:solidFill>
                  <a:schemeClr val="accent5"/>
                </a:solidFill>
              </a:rPr>
              <a:t>s, q : explorés seulement si la branche z échoue</a:t>
            </a:r>
            <a:endParaRPr lang="en-US" sz="1200" dirty="0"/>
          </a:p>
        </p:txBody>
      </p:sp>
      <p:sp>
        <p:nvSpPr>
          <p:cNvPr id="19" name="dfs-0"/>
          <p:cNvSpPr/>
          <p:nvPr/>
        </p:nvSpPr>
        <p:spPr>
          <a:xfrm>
            <a:off x="4572000" y="1325880"/>
            <a:ext cx="7040880" cy="1325880"/>
          </a:xfrm>
          <a:prstGeom prst="roundRect">
            <a:avLst>
              <a:gd name="adj" fmla="val 8276"/>
            </a:avLst>
          </a:prstGeom>
          <a:solidFill>
            <a:schemeClr val="bg2"/>
          </a:solidFill>
          <a:ln w="12700">
            <a:solidFill>
              <a:schemeClr val="bg2"/>
            </a:solidFill>
            <a:prstDash val="solid"/>
          </a:ln>
        </p:spPr>
      </p:sp>
      <p:sp>
        <p:nvSpPr>
          <p:cNvPr id="20" name="Shape 18"/>
          <p:cNvSpPr/>
          <p:nvPr/>
        </p:nvSpPr>
        <p:spPr>
          <a:xfrm>
            <a:off x="4800600" y="1527048"/>
            <a:ext cx="274320" cy="274320"/>
          </a:xfrm>
          <a:prstGeom prst="ellipse">
            <a:avLst/>
          </a:prstGeom>
          <a:solidFill>
            <a:schemeClr val="accent1"/>
          </a:solidFill>
          <a:ln w="12700">
            <a:solidFill>
              <a:schemeClr val="accent1"/>
            </a:solidFill>
            <a:prstDash val="solid"/>
          </a:ln>
        </p:spPr>
      </p:sp>
      <p:sp>
        <p:nvSpPr>
          <p:cNvPr id="21" name="Text 19"/>
          <p:cNvSpPr txBox="1"/>
          <p:nvPr/>
        </p:nvSpPr>
        <p:spPr>
          <a:xfrm>
            <a:off x="5212080" y="1481328"/>
            <a:ext cx="6217920" cy="365760"/>
          </a:xfrm>
          <a:prstGeom prst="rect">
            <a:avLst/>
          </a:prstGeom>
          <a:noFill/>
          <a:ln/>
        </p:spPr>
        <p:txBody>
          <a:bodyPr wrap="square" lIns="0" tIns="0" rIns="0" bIns="0" rtlCol="0" anchor="t"/>
          <a:lstStyle/>
          <a:p>
            <a:pPr indent="0" marL="0">
              <a:buNone/>
            </a:pPr>
            <a:r>
              <a:rPr lang="en-US" sz="1800" b="1" dirty="0">
                <a:solidFill>
                  <a:schemeClr val="tx1"/>
                </a:solidFill>
              </a:rPr>
              <a:t>Cas de base</a:t>
            </a:r>
            <a:endParaRPr lang="en-US" sz="1800" dirty="0"/>
          </a:p>
        </p:txBody>
      </p:sp>
      <p:sp>
        <p:nvSpPr>
          <p:cNvPr id="22" name="Text 20"/>
          <p:cNvSpPr txBox="1"/>
          <p:nvPr/>
        </p:nvSpPr>
        <p:spPr>
          <a:xfrm>
            <a:off x="5212080" y="1874520"/>
            <a:ext cx="6217920" cy="68580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Déjà visité</a:t>
            </a:r>
            <a:pPr indent="0" marL="0">
              <a:spcAft>
                <a:spcPts val="400"/>
              </a:spcAft>
              <a:buNone/>
            </a:pPr>
            <a:r>
              <a:rPr lang="en-US" sz="1400" dirty="0">
                <a:solidFill>
                  <a:schemeClr val="tx1"/>
                </a:solidFill>
              </a:rPr>
              <a:t> → false (pas de boucle infinie)</a:t>
            </a:r>
            <a:endParaRPr lang="en-US" sz="1400" dirty="0"/>
          </a:p>
          <a:p>
            <a:pPr indent="0" marL="0">
              <a:spcAft>
                <a:spcPts val="400"/>
              </a:spcAft>
              <a:buNone/>
            </a:pPr>
            <a:r>
              <a:rPr lang="en-US" sz="1400" b="1" dirty="0">
                <a:solidFill>
                  <a:schemeClr val="tx1"/>
                </a:solidFill>
              </a:rPr>
              <a:t>Victoire</a:t>
            </a:r>
            <a:pPr indent="0" marL="0">
              <a:spcAft>
                <a:spcPts val="400"/>
              </a:spcAft>
              <a:buNone/>
            </a:pPr>
            <a:r>
              <a:rPr lang="en-US" sz="1400" dirty="0">
                <a:solidFill>
                  <a:schemeClr val="tx1"/>
                </a:solidFill>
              </a:rPr>
              <a:t> → on recopie cheminDFS, true</a:t>
            </a:r>
            <a:endParaRPr lang="en-US" sz="1400" dirty="0"/>
          </a:p>
        </p:txBody>
      </p:sp>
      <p:sp>
        <p:nvSpPr>
          <p:cNvPr id="23" name="dfs-1"/>
          <p:cNvSpPr/>
          <p:nvPr/>
        </p:nvSpPr>
        <p:spPr>
          <a:xfrm>
            <a:off x="4572000" y="2834640"/>
            <a:ext cx="7040880" cy="1600200"/>
          </a:xfrm>
          <a:prstGeom prst="roundRect">
            <a:avLst>
              <a:gd name="adj" fmla="val 6857"/>
            </a:avLst>
          </a:prstGeom>
          <a:solidFill>
            <a:schemeClr val="bg2"/>
          </a:solidFill>
          <a:ln w="12700">
            <a:solidFill>
              <a:schemeClr val="bg2"/>
            </a:solidFill>
            <a:prstDash val="solid"/>
          </a:ln>
        </p:spPr>
      </p:sp>
      <p:sp>
        <p:nvSpPr>
          <p:cNvPr id="24" name="Shape 22"/>
          <p:cNvSpPr/>
          <p:nvPr/>
        </p:nvSpPr>
        <p:spPr>
          <a:xfrm>
            <a:off x="4800600" y="3035808"/>
            <a:ext cx="274320" cy="274320"/>
          </a:xfrm>
          <a:prstGeom prst="ellipse">
            <a:avLst/>
          </a:prstGeom>
          <a:solidFill>
            <a:schemeClr val="accent2"/>
          </a:solidFill>
          <a:ln w="12700">
            <a:solidFill>
              <a:schemeClr val="accent2"/>
            </a:solidFill>
            <a:prstDash val="solid"/>
          </a:ln>
        </p:spPr>
      </p:sp>
      <p:sp>
        <p:nvSpPr>
          <p:cNvPr id="25" name="Text 23"/>
          <p:cNvSpPr txBox="1"/>
          <p:nvPr/>
        </p:nvSpPr>
        <p:spPr>
          <a:xfrm>
            <a:off x="5212080" y="2990088"/>
            <a:ext cx="6217920" cy="365760"/>
          </a:xfrm>
          <a:prstGeom prst="rect">
            <a:avLst/>
          </a:prstGeom>
          <a:noFill/>
          <a:ln/>
        </p:spPr>
        <p:txBody>
          <a:bodyPr wrap="square" lIns="0" tIns="0" rIns="0" bIns="0" rtlCol="0" anchor="t"/>
          <a:lstStyle/>
          <a:p>
            <a:pPr indent="0" marL="0">
              <a:buNone/>
            </a:pPr>
            <a:r>
              <a:rPr lang="en-US" sz="1800" b="1" dirty="0">
                <a:solidFill>
                  <a:schemeClr val="tx1"/>
                </a:solidFill>
              </a:rPr>
              <a:t>Cas récursif</a:t>
            </a:r>
            <a:endParaRPr lang="en-US" sz="1800" dirty="0"/>
          </a:p>
        </p:txBody>
      </p:sp>
      <p:sp>
        <p:nvSpPr>
          <p:cNvPr id="26" name="Text 24"/>
          <p:cNvSpPr txBox="1"/>
          <p:nvPr/>
        </p:nvSpPr>
        <p:spPr>
          <a:xfrm>
            <a:off x="5212080" y="3383280"/>
            <a:ext cx="6217920" cy="96012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Pour z, s, q, d : si le coup est possible, on note la touche puis on appelle </a:t>
            </a:r>
            <a:pPr indent="0" marL="0">
              <a:spcAft>
                <a:spcPts val="400"/>
              </a:spcAft>
              <a:buNone/>
            </a:pPr>
            <a:r>
              <a:rPr lang="en-US" sz="1400" b="1" dirty="0">
                <a:solidFill>
                  <a:schemeClr val="tx1"/>
                </a:solidFill>
                <a:latin typeface="Courier New" pitchFamily="34" charset="0"/>
                <a:ea typeface="Courier New" pitchFamily="34" charset="-122"/>
                <a:cs typeface="Courier New" pitchFamily="34" charset="-120"/>
              </a:rPr>
              <a:t>dfs(suivant, profondeur + 1)</a:t>
            </a:r>
            <a:endParaRPr lang="en-US" sz="1400" dirty="0"/>
          </a:p>
          <a:p>
            <a:pPr indent="0" marL="0">
              <a:spcAft>
                <a:spcPts val="400"/>
              </a:spcAft>
              <a:buNone/>
            </a:pPr>
            <a:r>
              <a:rPr lang="en-US" sz="1400" dirty="0">
                <a:solidFill>
                  <a:schemeClr val="tx1"/>
                </a:solidFill>
              </a:rPr>
              <a:t>Aucune direction ne marche → false : retour arrière</a:t>
            </a:r>
            <a:endParaRPr lang="en-US" sz="1400" dirty="0"/>
          </a:p>
        </p:txBody>
      </p:sp>
      <p:sp>
        <p:nvSpPr>
          <p:cNvPr id="27" name="dfs-2"/>
          <p:cNvSpPr/>
          <p:nvPr/>
        </p:nvSpPr>
        <p:spPr>
          <a:xfrm>
            <a:off x="4572000" y="4617720"/>
            <a:ext cx="7040880" cy="1188720"/>
          </a:xfrm>
          <a:prstGeom prst="roundRect">
            <a:avLst>
              <a:gd name="adj" fmla="val 9231"/>
            </a:avLst>
          </a:prstGeom>
          <a:solidFill>
            <a:schemeClr val="bg2"/>
          </a:solidFill>
          <a:ln w="12700">
            <a:solidFill>
              <a:schemeClr val="bg2"/>
            </a:solidFill>
            <a:prstDash val="solid"/>
          </a:ln>
        </p:spPr>
      </p:sp>
      <p:sp>
        <p:nvSpPr>
          <p:cNvPr id="28" name="Shape 26"/>
          <p:cNvSpPr/>
          <p:nvPr/>
        </p:nvSpPr>
        <p:spPr>
          <a:xfrm>
            <a:off x="4800600" y="4818888"/>
            <a:ext cx="274320" cy="274320"/>
          </a:xfrm>
          <a:prstGeom prst="ellipse">
            <a:avLst/>
          </a:prstGeom>
          <a:solidFill>
            <a:schemeClr val="accent3"/>
          </a:solidFill>
          <a:ln w="12700">
            <a:solidFill>
              <a:schemeClr val="accent3"/>
            </a:solidFill>
            <a:prstDash val="solid"/>
          </a:ln>
        </p:spPr>
      </p:sp>
      <p:sp>
        <p:nvSpPr>
          <p:cNvPr id="29" name="Text 27"/>
          <p:cNvSpPr txBox="1"/>
          <p:nvPr/>
        </p:nvSpPr>
        <p:spPr>
          <a:xfrm>
            <a:off x="5212080" y="4773168"/>
            <a:ext cx="6217920" cy="365760"/>
          </a:xfrm>
          <a:prstGeom prst="rect">
            <a:avLst/>
          </a:prstGeom>
          <a:noFill/>
          <a:ln/>
        </p:spPr>
        <p:txBody>
          <a:bodyPr wrap="square" lIns="0" tIns="0" rIns="0" bIns="0" rtlCol="0" anchor="t"/>
          <a:lstStyle/>
          <a:p>
            <a:pPr indent="0" marL="0">
              <a:buNone/>
            </a:pPr>
            <a:r>
              <a:rPr lang="en-US" sz="1800" b="1" dirty="0">
                <a:solidFill>
                  <a:schemeClr val="tx1"/>
                </a:solidFill>
              </a:rPr>
              <a:t>Condition d'arrêt</a:t>
            </a:r>
            <a:endParaRPr lang="en-US" sz="1800" dirty="0"/>
          </a:p>
        </p:txBody>
      </p:sp>
      <p:sp>
        <p:nvSpPr>
          <p:cNvPr id="30" name="Text 28"/>
          <p:cNvSpPr txBox="1"/>
          <p:nvPr/>
        </p:nvSpPr>
        <p:spPr>
          <a:xfrm>
            <a:off x="5212080" y="5166360"/>
            <a:ext cx="6217920" cy="5486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Solution trouvée, ou tous les états atteignables vus, ou limite de 1 000 000 d'états</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424160" cy="777240"/>
          </a:xfrm>
          <a:prstGeom prst="rect">
            <a:avLst/>
          </a:prstGeom>
          <a:noFill/>
          <a:ln/>
        </p:spPr>
        <p:txBody>
          <a:bodyPr wrap="square" lIns="0" tIns="0" rIns="0" bIns="0" rtlCol="0" anchor="ctr"/>
          <a:lstStyle/>
          <a:p>
            <a:pPr algn="l" indent="0" marL="0">
              <a:buNone/>
            </a:pPr>
            <a:r>
              <a:rPr lang="en-US" sz="3200" b="1" dirty="0">
                <a:solidFill>
                  <a:schemeClr val="tx1"/>
                </a:solidFill>
              </a:rPr>
              <a:t>DFS : avantages et limites</a:t>
            </a:r>
            <a:endParaRPr lang="en-US" sz="3200" dirty="0"/>
          </a:p>
        </p:txBody>
      </p:sp>
      <p:sp>
        <p:nvSpPr>
          <p:cNvPr id="3" name="col-Avantages"/>
          <p:cNvSpPr/>
          <p:nvPr/>
        </p:nvSpPr>
        <p:spPr>
          <a:xfrm>
            <a:off x="548640" y="1371600"/>
            <a:ext cx="5394960" cy="3657600"/>
          </a:xfrm>
          <a:prstGeom prst="roundRect">
            <a:avLst>
              <a:gd name="adj" fmla="val 3000"/>
            </a:avLst>
          </a:prstGeom>
          <a:solidFill>
            <a:schemeClr val="bg2"/>
          </a:solidFill>
          <a:ln w="12700">
            <a:solidFill>
              <a:schemeClr val="bg2"/>
            </a:solidFill>
            <a:prstDash val="solid"/>
          </a:ln>
        </p:spPr>
      </p:sp>
      <p:sp>
        <p:nvSpPr>
          <p:cNvPr id="4" name="Text 2"/>
          <p:cNvSpPr/>
          <p:nvPr/>
        </p:nvSpPr>
        <p:spPr>
          <a:xfrm>
            <a:off x="822960" y="1600200"/>
            <a:ext cx="502920" cy="50292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Text 3"/>
          <p:cNvSpPr txBox="1"/>
          <p:nvPr/>
        </p:nvSpPr>
        <p:spPr>
          <a:xfrm>
            <a:off x="1508760" y="1645920"/>
            <a:ext cx="4114800" cy="411480"/>
          </a:xfrm>
          <a:prstGeom prst="rect">
            <a:avLst/>
          </a:prstGeom>
          <a:noFill/>
          <a:ln/>
        </p:spPr>
        <p:txBody>
          <a:bodyPr wrap="square" lIns="0" tIns="0" rIns="0" bIns="0" rtlCol="0" anchor="t"/>
          <a:lstStyle/>
          <a:p>
            <a:pPr indent="0" marL="0">
              <a:buNone/>
            </a:pPr>
            <a:r>
              <a:rPr lang="en-US" sz="2200" b="1" dirty="0">
                <a:solidFill>
                  <a:schemeClr val="tx1"/>
                </a:solidFill>
              </a:rPr>
              <a:t>Avantages</a:t>
            </a:r>
            <a:endParaRPr lang="en-US" sz="2200" dirty="0"/>
          </a:p>
        </p:txBody>
      </p:sp>
      <p:sp>
        <p:nvSpPr>
          <p:cNvPr id="6" name="Text 4"/>
          <p:cNvSpPr txBox="1"/>
          <p:nvPr/>
        </p:nvSpPr>
        <p:spPr>
          <a:xfrm>
            <a:off x="868680" y="2377440"/>
            <a:ext cx="4800600" cy="25603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Court à écrire, naturel en récursif</a:t>
            </a:r>
            <a:endParaRPr lang="en-US" sz="1500" dirty="0"/>
          </a:p>
          <a:p>
            <a:pPr marL="342900" indent="-342900">
              <a:spcAft>
                <a:spcPts val="800"/>
              </a:spcAft>
              <a:buSzPct val="100000"/>
              <a:buChar char="•"/>
            </a:pPr>
            <a:r>
              <a:rPr lang="en-US" sz="1500" dirty="0">
                <a:solidFill>
                  <a:schemeClr val="tx1"/>
                </a:solidFill>
              </a:rPr>
              <a:t>Garde en mémoire seulement le chemin courant (et les états visités)</a:t>
            </a:r>
            <a:endParaRPr lang="en-US" sz="1500" dirty="0"/>
          </a:p>
          <a:p>
            <a:pPr marL="342900" indent="-342900">
              <a:spcAft>
                <a:spcPts val="800"/>
              </a:spcAft>
              <a:buSzPct val="100000"/>
              <a:buChar char="•"/>
            </a:pPr>
            <a:r>
              <a:rPr lang="en-US" sz="1500" dirty="0">
                <a:solidFill>
                  <a:schemeClr val="tx1"/>
                </a:solidFill>
              </a:rPr>
              <a:t>Peut trouver une solution très vite : 1 056 états au niveau 4, contre 26 265 pour BFS</a:t>
            </a:r>
            <a:endParaRPr lang="en-US" sz="1500" dirty="0"/>
          </a:p>
          <a:p>
            <a:pPr marL="342900" indent="-342900">
              <a:spcAft>
                <a:spcPts val="800"/>
              </a:spcAft>
              <a:buSzPct val="100000"/>
              <a:buChar char="•"/>
            </a:pPr>
            <a:r>
              <a:rPr lang="en-US" sz="1500" dirty="0">
                <a:solidFill>
                  <a:schemeClr val="tx1"/>
                </a:solidFill>
              </a:rPr>
              <a:t>Trouve toujours une solution si elle existe (les états sont en nombre fini)</a:t>
            </a:r>
            <a:endParaRPr lang="en-US" sz="1500" dirty="0"/>
          </a:p>
        </p:txBody>
      </p:sp>
      <p:sp>
        <p:nvSpPr>
          <p:cNvPr id="7" name="col-Limites"/>
          <p:cNvSpPr/>
          <p:nvPr/>
        </p:nvSpPr>
        <p:spPr>
          <a:xfrm>
            <a:off x="6217920" y="1371600"/>
            <a:ext cx="5394960" cy="3657600"/>
          </a:xfrm>
          <a:prstGeom prst="roundRect">
            <a:avLst>
              <a:gd name="adj" fmla="val 3000"/>
            </a:avLst>
          </a:prstGeom>
          <a:solidFill>
            <a:schemeClr val="bg2"/>
          </a:solidFill>
          <a:ln w="12700">
            <a:solidFill>
              <a:schemeClr val="bg2"/>
            </a:solidFill>
            <a:prstDash val="solid"/>
          </a:ln>
        </p:spPr>
      </p:sp>
      <p:sp>
        <p:nvSpPr>
          <p:cNvPr id="8" name="Text 6"/>
          <p:cNvSpPr/>
          <p:nvPr/>
        </p:nvSpPr>
        <p:spPr>
          <a:xfrm>
            <a:off x="6492240" y="1600200"/>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Text 7"/>
          <p:cNvSpPr txBox="1"/>
          <p:nvPr/>
        </p:nvSpPr>
        <p:spPr>
          <a:xfrm>
            <a:off x="7178040" y="1645920"/>
            <a:ext cx="4114800" cy="411480"/>
          </a:xfrm>
          <a:prstGeom prst="rect">
            <a:avLst/>
          </a:prstGeom>
          <a:noFill/>
          <a:ln/>
        </p:spPr>
        <p:txBody>
          <a:bodyPr wrap="square" lIns="0" tIns="0" rIns="0" bIns="0" rtlCol="0" anchor="t"/>
          <a:lstStyle/>
          <a:p>
            <a:pPr indent="0" marL="0">
              <a:buNone/>
            </a:pPr>
            <a:r>
              <a:rPr lang="en-US" sz="2200" b="1" dirty="0">
                <a:solidFill>
                  <a:schemeClr val="tx1"/>
                </a:solidFill>
              </a:rPr>
              <a:t>Limites</a:t>
            </a:r>
            <a:endParaRPr lang="en-US" sz="2200" dirty="0"/>
          </a:p>
        </p:txBody>
      </p:sp>
      <p:sp>
        <p:nvSpPr>
          <p:cNvPr id="10" name="Text 8"/>
          <p:cNvSpPr txBox="1"/>
          <p:nvPr/>
        </p:nvSpPr>
        <p:spPr>
          <a:xfrm>
            <a:off x="6537960" y="2377440"/>
            <a:ext cx="4800600" cy="25603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La solution est rarement la plus courte : 2 791 coups au niveau 3, contre 25 pour BFS</a:t>
            </a:r>
            <a:endParaRPr lang="en-US" sz="1500" dirty="0"/>
          </a:p>
          <a:p>
            <a:pPr marL="342900" indent="-342900">
              <a:spcAft>
                <a:spcPts val="800"/>
              </a:spcAft>
              <a:buSzPct val="100000"/>
              <a:buChar char="•"/>
            </a:pPr>
            <a:r>
              <a:rPr lang="en-US" sz="1500" dirty="0">
                <a:solidFill>
                  <a:schemeClr val="tx1"/>
                </a:solidFill>
              </a:rPr>
              <a:t>La récursion peut être très profonde : le programme tourne dans un thread avec une pile de 512 Mo</a:t>
            </a:r>
            <a:endParaRPr lang="en-US" sz="1500" dirty="0"/>
          </a:p>
          <a:p>
            <a:pPr marL="342900" indent="-342900">
              <a:spcAft>
                <a:spcPts val="800"/>
              </a:spcAft>
              <a:buSzPct val="100000"/>
              <a:buChar char="•"/>
            </a:pPr>
            <a:r>
              <a:rPr lang="en-US" sz="1500" dirty="0">
                <a:solidFill>
                  <a:schemeClr val="tx1"/>
                </a:solidFill>
              </a:rPr>
              <a:t>Le résultat dépend de l'ordre z, s, q, d</a:t>
            </a:r>
            <a:endParaRPr lang="en-US" sz="1500" dirty="0"/>
          </a:p>
        </p:txBody>
      </p:sp>
      <p:sp>
        <p:nvSpPr>
          <p:cNvPr id="11" name="code"/>
          <p:cNvSpPr/>
          <p:nvPr/>
        </p:nvSpPr>
        <p:spPr>
          <a:xfrm>
            <a:off x="548640" y="5257800"/>
            <a:ext cx="11064240" cy="868680"/>
          </a:xfrm>
          <a:prstGeom prst="roundRect">
            <a:avLst>
              <a:gd name="adj" fmla="val 12632"/>
            </a:avLst>
          </a:prstGeom>
          <a:solidFill>
            <a:schemeClr val="tx1"/>
          </a:solidFill>
          <a:ln w="12700">
            <a:solidFill>
              <a:schemeClr val="tx1"/>
            </a:solidFill>
            <a:prstDash val="solid"/>
          </a:ln>
        </p:spPr>
      </p:sp>
      <p:sp>
        <p:nvSpPr>
          <p:cNvPr id="12" name="Text 10"/>
          <p:cNvSpPr txBox="1"/>
          <p:nvPr/>
        </p:nvSpPr>
        <p:spPr>
          <a:xfrm>
            <a:off x="822960" y="5440680"/>
            <a:ext cx="10607040" cy="502920"/>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Thread programme = new Thread(null, Sokoban::menuPrincipal, "sokoban", 512L * 1024 * 1024);</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424160" cy="777240"/>
          </a:xfrm>
          <a:prstGeom prst="rect">
            <a:avLst/>
          </a:prstGeom>
          <a:noFill/>
          <a:ln/>
        </p:spPr>
        <p:txBody>
          <a:bodyPr wrap="square" lIns="0" tIns="0" rIns="0" bIns="0" rtlCol="0" anchor="ctr"/>
          <a:lstStyle/>
          <a:p>
            <a:pPr algn="l" indent="0" marL="0">
              <a:buNone/>
            </a:pPr>
            <a:r>
              <a:rPr lang="en-US" sz="3200" b="1" dirty="0">
                <a:solidFill>
                  <a:schemeClr val="tx1"/>
                </a:solidFill>
              </a:rPr>
              <a:t>BFS : une file pour explorer par distance croissante</a:t>
            </a:r>
            <a:endParaRPr lang="en-US" sz="3200" dirty="0"/>
          </a:p>
        </p:txBody>
      </p:sp>
      <p:sp>
        <p:nvSpPr>
          <p:cNvPr id="3" name="Text 1"/>
          <p:cNvSpPr/>
          <p:nvPr/>
        </p:nvSpPr>
        <p:spPr>
          <a:xfrm>
            <a:off x="822960" y="2011680"/>
            <a:ext cx="914400" cy="731520"/>
          </a:xfrm>
          <a:prstGeom prst="rect">
            <a:avLst/>
          </a:prstGeom>
          <a:solidFill>
            <a:schemeClr val="tx1"/>
          </a:solidFill>
          <a:ln w="19050">
            <a:solidFill>
              <a:schemeClr val="bg1"/>
            </a:solidFill>
          </a:ln>
        </p:spPr>
        <p:txBody>
          <a:bodyPr wrap="square" lIns="0" tIns="0" rIns="0" bIns="0" rtlCol="0" anchor="ctr"/>
          <a:lstStyle/>
          <a:p>
            <a:pPr algn="ctr" indent="0" marL="0">
              <a:buNone/>
            </a:pPr>
            <a:r>
              <a:rPr lang="en-US" sz="1500" b="1" dirty="0">
                <a:solidFill>
                  <a:schemeClr val="bg1">
                    <a:alpha val="55000"/>
                  </a:schemeClr>
                </a:solidFill>
              </a:rPr>
              <a:t>e0</a:t>
            </a:r>
            <a:endParaRPr lang="en-US" sz="1500" dirty="0"/>
          </a:p>
        </p:txBody>
      </p:sp>
      <p:sp>
        <p:nvSpPr>
          <p:cNvPr id="4" name="Text 2"/>
          <p:cNvSpPr/>
          <p:nvPr/>
        </p:nvSpPr>
        <p:spPr>
          <a:xfrm>
            <a:off x="1737360" y="2011680"/>
            <a:ext cx="914400" cy="731520"/>
          </a:xfrm>
          <a:prstGeom prst="rect">
            <a:avLst/>
          </a:prstGeom>
          <a:solidFill>
            <a:schemeClr val="accent1"/>
          </a:solidFill>
          <a:ln w="19050">
            <a:solidFill>
              <a:schemeClr val="bg1"/>
            </a:solidFill>
          </a:ln>
        </p:spPr>
        <p:txBody>
          <a:bodyPr wrap="square" lIns="0" tIns="0" rIns="0" bIns="0" rtlCol="0" anchor="ctr"/>
          <a:lstStyle/>
          <a:p>
            <a:pPr algn="ctr" indent="0" marL="0">
              <a:buNone/>
            </a:pPr>
            <a:r>
              <a:rPr lang="en-US" sz="1500" b="1" dirty="0">
                <a:solidFill>
                  <a:schemeClr val="bg1">
                    <a:alpha val="55000"/>
                  </a:schemeClr>
                </a:solidFill>
              </a:rPr>
              <a:t>e1</a:t>
            </a:r>
            <a:endParaRPr lang="en-US" sz="1500" dirty="0"/>
          </a:p>
        </p:txBody>
      </p:sp>
      <p:sp>
        <p:nvSpPr>
          <p:cNvPr id="5" name="Text 3"/>
          <p:cNvSpPr/>
          <p:nvPr/>
        </p:nvSpPr>
        <p:spPr>
          <a:xfrm>
            <a:off x="2651760" y="2011680"/>
            <a:ext cx="914400" cy="731520"/>
          </a:xfrm>
          <a:prstGeom prst="rect">
            <a:avLst/>
          </a:prstGeom>
          <a:solidFill>
            <a:schemeClr val="accent1"/>
          </a:solidFill>
          <a:ln w="19050">
            <a:solidFill>
              <a:schemeClr val="bg1"/>
            </a:solidFill>
          </a:ln>
        </p:spPr>
        <p:txBody>
          <a:bodyPr wrap="square" lIns="0" tIns="0" rIns="0" bIns="0" rtlCol="0" anchor="ctr"/>
          <a:lstStyle/>
          <a:p>
            <a:pPr algn="ctr" indent="0" marL="0">
              <a:buNone/>
            </a:pPr>
            <a:r>
              <a:rPr lang="en-US" sz="1500" b="1" dirty="0">
                <a:solidFill>
                  <a:schemeClr val="bg1">
                    <a:alpha val="55000"/>
                  </a:schemeClr>
                </a:solidFill>
              </a:rPr>
              <a:t>e2</a:t>
            </a:r>
            <a:endParaRPr lang="en-US" sz="1500" dirty="0"/>
          </a:p>
        </p:txBody>
      </p:sp>
      <p:sp>
        <p:nvSpPr>
          <p:cNvPr id="6" name="Text 4"/>
          <p:cNvSpPr/>
          <p:nvPr/>
        </p:nvSpPr>
        <p:spPr>
          <a:xfrm>
            <a:off x="3566160" y="2011680"/>
            <a:ext cx="914400" cy="731520"/>
          </a:xfrm>
          <a:prstGeom prst="rect">
            <a:avLst/>
          </a:prstGeom>
          <a:solidFill>
            <a:schemeClr val="accent1"/>
          </a:solidFill>
          <a:ln w="19050">
            <a:solidFill>
              <a:schemeClr val="bg1"/>
            </a:solidFill>
          </a:ln>
        </p:spPr>
        <p:txBody>
          <a:bodyPr wrap="square" lIns="0" tIns="0" rIns="0" bIns="0" rtlCol="0" anchor="ctr"/>
          <a:lstStyle/>
          <a:p>
            <a:pPr algn="ctr" indent="0" marL="0">
              <a:buNone/>
            </a:pPr>
            <a:r>
              <a:rPr lang="en-US" sz="1500" b="1" dirty="0">
                <a:solidFill>
                  <a:schemeClr val="bg1">
                    <a:alpha val="55000"/>
                  </a:schemeClr>
                </a:solidFill>
              </a:rPr>
              <a:t>e3</a:t>
            </a:r>
            <a:endParaRPr lang="en-US" sz="1500" dirty="0"/>
          </a:p>
        </p:txBody>
      </p:sp>
      <p:sp>
        <p:nvSpPr>
          <p:cNvPr id="7" name="Text 5"/>
          <p:cNvSpPr/>
          <p:nvPr/>
        </p:nvSpPr>
        <p:spPr>
          <a:xfrm>
            <a:off x="4480560" y="2011680"/>
            <a:ext cx="914400" cy="731520"/>
          </a:xfrm>
          <a:prstGeom prst="rect">
            <a:avLst/>
          </a:prstGeom>
          <a:solidFill>
            <a:schemeClr val="accent2"/>
          </a:solidFill>
          <a:ln w="19050">
            <a:solidFill>
              <a:schemeClr val="bg1"/>
            </a:solidFill>
          </a:ln>
        </p:spPr>
        <p:txBody>
          <a:bodyPr wrap="square" lIns="0" tIns="0" rIns="0" bIns="0" rtlCol="0" anchor="ctr"/>
          <a:lstStyle/>
          <a:p>
            <a:pPr algn="ctr" indent="0" marL="0">
              <a:buNone/>
            </a:pPr>
            <a:r>
              <a:rPr lang="en-US" sz="1500" b="1" dirty="0">
                <a:solidFill>
                  <a:schemeClr val="bg1"/>
                </a:solidFill>
              </a:rPr>
              <a:t>e4</a:t>
            </a:r>
            <a:endParaRPr lang="en-US" sz="1500" dirty="0"/>
          </a:p>
        </p:txBody>
      </p:sp>
      <p:sp>
        <p:nvSpPr>
          <p:cNvPr id="8" name="Text 6"/>
          <p:cNvSpPr/>
          <p:nvPr/>
        </p:nvSpPr>
        <p:spPr>
          <a:xfrm>
            <a:off x="5394960" y="2011680"/>
            <a:ext cx="914400" cy="731520"/>
          </a:xfrm>
          <a:prstGeom prst="rect">
            <a:avLst/>
          </a:prstGeom>
          <a:solidFill>
            <a:schemeClr val="accent2"/>
          </a:solidFill>
          <a:ln w="19050">
            <a:solidFill>
              <a:schemeClr val="bg1"/>
            </a:solidFill>
          </a:ln>
        </p:spPr>
        <p:txBody>
          <a:bodyPr wrap="square" lIns="0" tIns="0" rIns="0" bIns="0" rtlCol="0" anchor="ctr"/>
          <a:lstStyle/>
          <a:p>
            <a:pPr algn="ctr" indent="0" marL="0">
              <a:buNone/>
            </a:pPr>
            <a:r>
              <a:rPr lang="en-US" sz="1500" b="1" dirty="0">
                <a:solidFill>
                  <a:schemeClr val="bg1"/>
                </a:solidFill>
              </a:rPr>
              <a:t>e5</a:t>
            </a:r>
            <a:endParaRPr lang="en-US" sz="1500" dirty="0"/>
          </a:p>
        </p:txBody>
      </p:sp>
      <p:sp>
        <p:nvSpPr>
          <p:cNvPr id="9" name="Text 7"/>
          <p:cNvSpPr/>
          <p:nvPr/>
        </p:nvSpPr>
        <p:spPr>
          <a:xfrm>
            <a:off x="6309360" y="2011680"/>
            <a:ext cx="914400" cy="731520"/>
          </a:xfrm>
          <a:prstGeom prst="rect">
            <a:avLst/>
          </a:prstGeom>
          <a:solidFill>
            <a:schemeClr val="accent2"/>
          </a:solidFill>
          <a:ln w="19050">
            <a:solidFill>
              <a:schemeClr val="bg1"/>
            </a:solidFill>
          </a:ln>
        </p:spPr>
        <p:txBody>
          <a:bodyPr wrap="square" lIns="0" tIns="0" rIns="0" bIns="0" rtlCol="0" anchor="ctr"/>
          <a:lstStyle/>
          <a:p>
            <a:pPr algn="ctr" indent="0" marL="0">
              <a:buNone/>
            </a:pPr>
            <a:r>
              <a:rPr lang="en-US" sz="1500" b="1" dirty="0">
                <a:solidFill>
                  <a:schemeClr val="bg1"/>
                </a:solidFill>
              </a:rPr>
              <a:t>e6</a:t>
            </a:r>
            <a:endParaRPr lang="en-US" sz="1500" dirty="0"/>
          </a:p>
        </p:txBody>
      </p:sp>
      <p:sp>
        <p:nvSpPr>
          <p:cNvPr id="10" name="Text 8"/>
          <p:cNvSpPr/>
          <p:nvPr/>
        </p:nvSpPr>
        <p:spPr>
          <a:xfrm>
            <a:off x="7223760" y="2011680"/>
            <a:ext cx="914400" cy="731520"/>
          </a:xfrm>
          <a:prstGeom prst="rect">
            <a:avLst/>
          </a:prstGeom>
          <a:solidFill>
            <a:schemeClr val="accent4"/>
          </a:solidFill>
          <a:ln w="19050">
            <a:solidFill>
              <a:schemeClr val="bg1"/>
            </a:solidFill>
          </a:ln>
        </p:spPr>
        <p:txBody>
          <a:bodyPr wrap="square" lIns="0" tIns="0" rIns="0" bIns="0" rtlCol="0" anchor="ctr"/>
          <a:lstStyle/>
          <a:p>
            <a:pPr algn="ctr" indent="0" marL="0">
              <a:buNone/>
            </a:pPr>
            <a:r>
              <a:rPr lang="en-US" sz="1500" b="1" dirty="0">
                <a:solidFill>
                  <a:schemeClr val="bg1"/>
                </a:solidFill>
              </a:rPr>
              <a:t>e7</a:t>
            </a:r>
            <a:endParaRPr lang="en-US" sz="1500" dirty="0"/>
          </a:p>
        </p:txBody>
      </p:sp>
      <p:sp>
        <p:nvSpPr>
          <p:cNvPr id="11" name="Text 9"/>
          <p:cNvSpPr/>
          <p:nvPr/>
        </p:nvSpPr>
        <p:spPr>
          <a:xfrm>
            <a:off x="8138160" y="2011680"/>
            <a:ext cx="914400" cy="731520"/>
          </a:xfrm>
          <a:prstGeom prst="rect">
            <a:avLst/>
          </a:prstGeom>
          <a:solidFill>
            <a:schemeClr val="bg1"/>
          </a:solidFill>
          <a:ln w="19050">
            <a:solidFill>
              <a:schemeClr val="bg1"/>
            </a:solidFill>
          </a:ln>
        </p:spPr>
        <p:txBody>
          <a:bodyPr wrap="square" lIns="0" tIns="0" rIns="0" bIns="0" rtlCol="0" anchor="ctr"/>
          <a:lstStyle/>
          <a:p>
            <a:pPr algn="ctr" indent="0" marL="0">
              <a:buNone/>
            </a:pPr>
            <a:endParaRPr lang="en-US" sz="1500" dirty="0"/>
          </a:p>
        </p:txBody>
      </p:sp>
      <p:sp>
        <p:nvSpPr>
          <p:cNvPr id="12" name="Text 10"/>
          <p:cNvSpPr/>
          <p:nvPr/>
        </p:nvSpPr>
        <p:spPr>
          <a:xfrm>
            <a:off x="9052560" y="2011680"/>
            <a:ext cx="914400" cy="731520"/>
          </a:xfrm>
          <a:prstGeom prst="rect">
            <a:avLst/>
          </a:prstGeom>
          <a:solidFill>
            <a:schemeClr val="bg1"/>
          </a:solidFill>
          <a:ln w="19050">
            <a:solidFill>
              <a:schemeClr val="bg1"/>
            </a:solidFill>
          </a:ln>
        </p:spPr>
        <p:txBody>
          <a:bodyPr wrap="square" lIns="0" tIns="0" rIns="0" bIns="0" rtlCol="0" anchor="ctr"/>
          <a:lstStyle/>
          <a:p>
            <a:pPr algn="ctr" indent="0" marL="0">
              <a:buNone/>
            </a:pPr>
            <a:endParaRPr lang="en-US" sz="1500" dirty="0"/>
          </a:p>
        </p:txBody>
      </p:sp>
      <p:sp>
        <p:nvSpPr>
          <p:cNvPr id="13" name="Shape 11"/>
          <p:cNvSpPr/>
          <p:nvPr/>
        </p:nvSpPr>
        <p:spPr>
          <a:xfrm>
            <a:off x="822960" y="2011680"/>
            <a:ext cx="9144000" cy="731520"/>
          </a:xfrm>
          <a:prstGeom prst="rect">
            <a:avLst/>
          </a:prstGeom>
          <a:ln w="12700">
            <a:solidFill>
              <a:schemeClr val="accent2"/>
            </a:solidFill>
            <a:prstDash val="solid"/>
          </a:ln>
        </p:spPr>
      </p:sp>
      <p:sp>
        <p:nvSpPr>
          <p:cNvPr id="14" name="Text 12"/>
          <p:cNvSpPr txBox="1"/>
          <p:nvPr/>
        </p:nvSpPr>
        <p:spPr>
          <a:xfrm>
            <a:off x="822960" y="1600200"/>
            <a:ext cx="274320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fileEtats</a:t>
            </a:r>
            <a:endParaRPr lang="en-US" sz="1400" dirty="0"/>
          </a:p>
        </p:txBody>
      </p:sp>
      <p:sp>
        <p:nvSpPr>
          <p:cNvPr id="15" name="Shape 13"/>
          <p:cNvSpPr/>
          <p:nvPr/>
        </p:nvSpPr>
        <p:spPr>
          <a:xfrm flipV="1">
            <a:off x="4937760" y="2788920"/>
            <a:ext cx="914" cy="640080"/>
          </a:xfrm>
          <a:prstGeom prst="line">
            <a:avLst/>
          </a:prstGeom>
          <a:noFill/>
          <a:ln w="19050">
            <a:solidFill>
              <a:schemeClr val="accent1"/>
            </a:solidFill>
            <a:prstDash val="solid"/>
            <a:tailEnd type="triangle"/>
          </a:ln>
        </p:spPr>
      </p:sp>
      <p:sp>
        <p:nvSpPr>
          <p:cNvPr id="16" name="Text 14"/>
          <p:cNvSpPr txBox="1"/>
          <p:nvPr/>
        </p:nvSpPr>
        <p:spPr>
          <a:xfrm>
            <a:off x="4023360" y="3474720"/>
            <a:ext cx="2743200" cy="274320"/>
          </a:xfrm>
          <a:prstGeom prst="rect">
            <a:avLst/>
          </a:prstGeom>
          <a:noFill/>
          <a:ln/>
        </p:spPr>
        <p:txBody>
          <a:bodyPr wrap="square" lIns="0" tIns="0" rIns="0" bIns="0" rtlCol="0" anchor="t"/>
          <a:lstStyle/>
          <a:p>
            <a:pPr algn="ctr" indent="0" marL="0">
              <a:buNone/>
            </a:pPr>
            <a:r>
              <a:rPr lang="en-US" sz="1300" b="1" dirty="0">
                <a:solidFill>
                  <a:schemeClr val="accent1"/>
                </a:solidFill>
              </a:rPr>
              <a:t>tete : prochain à défiler</a:t>
            </a:r>
            <a:endParaRPr lang="en-US" sz="1300" dirty="0"/>
          </a:p>
        </p:txBody>
      </p:sp>
      <p:sp>
        <p:nvSpPr>
          <p:cNvPr id="17" name="Shape 15"/>
          <p:cNvSpPr/>
          <p:nvPr/>
        </p:nvSpPr>
        <p:spPr>
          <a:xfrm flipV="1">
            <a:off x="8595360" y="2788920"/>
            <a:ext cx="914" cy="640080"/>
          </a:xfrm>
          <a:prstGeom prst="line">
            <a:avLst/>
          </a:prstGeom>
          <a:noFill/>
          <a:ln w="19050">
            <a:solidFill>
              <a:schemeClr val="accent3"/>
            </a:solidFill>
            <a:prstDash val="solid"/>
            <a:tailEnd type="triangle"/>
          </a:ln>
        </p:spPr>
      </p:sp>
      <p:sp>
        <p:nvSpPr>
          <p:cNvPr id="18" name="Text 16"/>
          <p:cNvSpPr txBox="1"/>
          <p:nvPr/>
        </p:nvSpPr>
        <p:spPr>
          <a:xfrm>
            <a:off x="7498080" y="3474720"/>
            <a:ext cx="2194560" cy="274320"/>
          </a:xfrm>
          <a:prstGeom prst="rect">
            <a:avLst/>
          </a:prstGeom>
          <a:noFill/>
          <a:ln/>
        </p:spPr>
        <p:txBody>
          <a:bodyPr wrap="square" lIns="0" tIns="0" rIns="0" bIns="0" rtlCol="0" anchor="t"/>
          <a:lstStyle/>
          <a:p>
            <a:pPr algn="ctr" indent="0" marL="0">
              <a:buNone/>
            </a:pPr>
            <a:r>
              <a:rPr lang="en-US" sz="1300" b="1" dirty="0">
                <a:solidFill>
                  <a:schemeClr val="accent3"/>
                </a:solidFill>
              </a:rPr>
              <a:t>fin : on enfile ici</a:t>
            </a:r>
            <a:endParaRPr lang="en-US" sz="1300" dirty="0"/>
          </a:p>
        </p:txBody>
      </p:sp>
      <p:sp>
        <p:nvSpPr>
          <p:cNvPr id="19" name="Text 17"/>
          <p:cNvSpPr txBox="1"/>
          <p:nvPr/>
        </p:nvSpPr>
        <p:spPr>
          <a:xfrm>
            <a:off x="822960" y="2788920"/>
            <a:ext cx="3566160" cy="274320"/>
          </a:xfrm>
          <a:prstGeom prst="rect">
            <a:avLst/>
          </a:prstGeom>
          <a:noFill/>
          <a:ln/>
        </p:spPr>
        <p:txBody>
          <a:bodyPr wrap="square" lIns="0" tIns="0" rIns="0" bIns="0" rtlCol="0" anchor="t"/>
          <a:lstStyle/>
          <a:p>
            <a:pPr indent="0" marL="0">
              <a:buNone/>
            </a:pPr>
            <a:r>
              <a:rPr lang="en-US" sz="1100" dirty="0">
                <a:solidFill>
                  <a:schemeClr val="accent5"/>
                </a:solidFill>
              </a:rPr>
              <a:t>déjà traités (gardés pour remonter le chemin)</a:t>
            </a:r>
            <a:endParaRPr lang="en-US" sz="1100" dirty="0"/>
          </a:p>
        </p:txBody>
      </p:sp>
      <p:sp>
        <p:nvSpPr>
          <p:cNvPr id="20" name="Shape 18"/>
          <p:cNvSpPr/>
          <p:nvPr/>
        </p:nvSpPr>
        <p:spPr>
          <a:xfrm>
            <a:off x="10241280" y="1828800"/>
            <a:ext cx="201168" cy="201168"/>
          </a:xfrm>
          <a:prstGeom prst="rect">
            <a:avLst/>
          </a:prstGeom>
          <a:solidFill>
            <a:schemeClr val="tx1"/>
          </a:solidFill>
          <a:ln w="12700">
            <a:solidFill>
              <a:schemeClr val="tx1"/>
            </a:solidFill>
            <a:prstDash val="solid"/>
          </a:ln>
        </p:spPr>
      </p:sp>
      <p:sp>
        <p:nvSpPr>
          <p:cNvPr id="21" name="Text 19"/>
          <p:cNvSpPr txBox="1"/>
          <p:nvPr/>
        </p:nvSpPr>
        <p:spPr>
          <a:xfrm>
            <a:off x="10515600" y="1801368"/>
            <a:ext cx="1371600" cy="256032"/>
          </a:xfrm>
          <a:prstGeom prst="rect">
            <a:avLst/>
          </a:prstGeom>
          <a:noFill/>
          <a:ln/>
        </p:spPr>
        <p:txBody>
          <a:bodyPr wrap="square" lIns="0" tIns="0" rIns="0" bIns="0" rtlCol="0" anchor="t"/>
          <a:lstStyle/>
          <a:p>
            <a:pPr indent="0" marL="0">
              <a:buNone/>
            </a:pPr>
            <a:r>
              <a:rPr lang="en-US" sz="1100" dirty="0">
                <a:solidFill>
                  <a:schemeClr val="accent5"/>
                </a:solidFill>
              </a:rPr>
              <a:t>distance 0</a:t>
            </a:r>
            <a:endParaRPr lang="en-US" sz="1100" dirty="0"/>
          </a:p>
        </p:txBody>
      </p:sp>
      <p:sp>
        <p:nvSpPr>
          <p:cNvPr id="22" name="Shape 20"/>
          <p:cNvSpPr/>
          <p:nvPr/>
        </p:nvSpPr>
        <p:spPr>
          <a:xfrm>
            <a:off x="10241280" y="2121408"/>
            <a:ext cx="201168" cy="201168"/>
          </a:xfrm>
          <a:prstGeom prst="rect">
            <a:avLst/>
          </a:prstGeom>
          <a:solidFill>
            <a:schemeClr val="accent1"/>
          </a:solidFill>
          <a:ln w="12700">
            <a:solidFill>
              <a:schemeClr val="accent1"/>
            </a:solidFill>
            <a:prstDash val="solid"/>
          </a:ln>
        </p:spPr>
      </p:sp>
      <p:sp>
        <p:nvSpPr>
          <p:cNvPr id="23" name="Text 21"/>
          <p:cNvSpPr txBox="1"/>
          <p:nvPr/>
        </p:nvSpPr>
        <p:spPr>
          <a:xfrm>
            <a:off x="10515600" y="2093976"/>
            <a:ext cx="1371600" cy="256032"/>
          </a:xfrm>
          <a:prstGeom prst="rect">
            <a:avLst/>
          </a:prstGeom>
          <a:noFill/>
          <a:ln/>
        </p:spPr>
        <p:txBody>
          <a:bodyPr wrap="square" lIns="0" tIns="0" rIns="0" bIns="0" rtlCol="0" anchor="t"/>
          <a:lstStyle/>
          <a:p>
            <a:pPr indent="0" marL="0">
              <a:buNone/>
            </a:pPr>
            <a:r>
              <a:rPr lang="en-US" sz="1100" dirty="0">
                <a:solidFill>
                  <a:schemeClr val="accent5"/>
                </a:solidFill>
              </a:rPr>
              <a:t>distance 1</a:t>
            </a:r>
            <a:endParaRPr lang="en-US" sz="1100" dirty="0"/>
          </a:p>
        </p:txBody>
      </p:sp>
      <p:sp>
        <p:nvSpPr>
          <p:cNvPr id="24" name="Shape 22"/>
          <p:cNvSpPr/>
          <p:nvPr/>
        </p:nvSpPr>
        <p:spPr>
          <a:xfrm>
            <a:off x="10241280" y="2414016"/>
            <a:ext cx="201168" cy="201168"/>
          </a:xfrm>
          <a:prstGeom prst="rect">
            <a:avLst/>
          </a:prstGeom>
          <a:solidFill>
            <a:schemeClr val="accent2"/>
          </a:solidFill>
          <a:ln w="12700">
            <a:solidFill>
              <a:schemeClr val="accent2"/>
            </a:solidFill>
            <a:prstDash val="solid"/>
          </a:ln>
        </p:spPr>
      </p:sp>
      <p:sp>
        <p:nvSpPr>
          <p:cNvPr id="25" name="Text 23"/>
          <p:cNvSpPr txBox="1"/>
          <p:nvPr/>
        </p:nvSpPr>
        <p:spPr>
          <a:xfrm>
            <a:off x="10515600" y="2386584"/>
            <a:ext cx="1371600" cy="256032"/>
          </a:xfrm>
          <a:prstGeom prst="rect">
            <a:avLst/>
          </a:prstGeom>
          <a:noFill/>
          <a:ln/>
        </p:spPr>
        <p:txBody>
          <a:bodyPr wrap="square" lIns="0" tIns="0" rIns="0" bIns="0" rtlCol="0" anchor="t"/>
          <a:lstStyle/>
          <a:p>
            <a:pPr indent="0" marL="0">
              <a:buNone/>
            </a:pPr>
            <a:r>
              <a:rPr lang="en-US" sz="1100" dirty="0">
                <a:solidFill>
                  <a:schemeClr val="accent5"/>
                </a:solidFill>
              </a:rPr>
              <a:t>distance 2</a:t>
            </a:r>
            <a:endParaRPr lang="en-US" sz="1100" dirty="0"/>
          </a:p>
        </p:txBody>
      </p:sp>
      <p:sp>
        <p:nvSpPr>
          <p:cNvPr id="26" name="Shape 24"/>
          <p:cNvSpPr/>
          <p:nvPr/>
        </p:nvSpPr>
        <p:spPr>
          <a:xfrm>
            <a:off x="10241280" y="2706624"/>
            <a:ext cx="201168" cy="201168"/>
          </a:xfrm>
          <a:prstGeom prst="rect">
            <a:avLst/>
          </a:prstGeom>
          <a:solidFill>
            <a:schemeClr val="accent4"/>
          </a:solidFill>
          <a:ln w="12700">
            <a:solidFill>
              <a:schemeClr val="accent4"/>
            </a:solidFill>
            <a:prstDash val="solid"/>
          </a:ln>
        </p:spPr>
      </p:sp>
      <p:sp>
        <p:nvSpPr>
          <p:cNvPr id="27" name="Text 25"/>
          <p:cNvSpPr txBox="1"/>
          <p:nvPr/>
        </p:nvSpPr>
        <p:spPr>
          <a:xfrm>
            <a:off x="10515600" y="2679192"/>
            <a:ext cx="1371600" cy="256032"/>
          </a:xfrm>
          <a:prstGeom prst="rect">
            <a:avLst/>
          </a:prstGeom>
          <a:noFill/>
          <a:ln/>
        </p:spPr>
        <p:txBody>
          <a:bodyPr wrap="square" lIns="0" tIns="0" rIns="0" bIns="0" rtlCol="0" anchor="t"/>
          <a:lstStyle/>
          <a:p>
            <a:pPr indent="0" marL="0">
              <a:buNone/>
            </a:pPr>
            <a:r>
              <a:rPr lang="en-US" sz="1100" dirty="0">
                <a:solidFill>
                  <a:schemeClr val="accent5"/>
                </a:solidFill>
              </a:rPr>
              <a:t>distance 3</a:t>
            </a:r>
            <a:endParaRPr lang="en-US" sz="1100" dirty="0"/>
          </a:p>
        </p:txBody>
      </p:sp>
      <p:sp>
        <p:nvSpPr>
          <p:cNvPr id="28" name="bfs-0"/>
          <p:cNvSpPr/>
          <p:nvPr/>
        </p:nvSpPr>
        <p:spPr>
          <a:xfrm>
            <a:off x="548640" y="4114800"/>
            <a:ext cx="3474720" cy="2011680"/>
          </a:xfrm>
          <a:prstGeom prst="roundRect">
            <a:avLst>
              <a:gd name="adj" fmla="val 5455"/>
            </a:avLst>
          </a:prstGeom>
          <a:solidFill>
            <a:schemeClr val="bg2"/>
          </a:solidFill>
          <a:ln w="12700">
            <a:solidFill>
              <a:schemeClr val="bg2"/>
            </a:solidFill>
            <a:prstDash val="solid"/>
          </a:ln>
        </p:spPr>
      </p:sp>
      <p:sp>
        <p:nvSpPr>
          <p:cNvPr id="29" name="Text 27"/>
          <p:cNvSpPr/>
          <p:nvPr/>
        </p:nvSpPr>
        <p:spPr>
          <a:xfrm>
            <a:off x="777240" y="4297680"/>
            <a:ext cx="411480" cy="41148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0" name="Text 28"/>
          <p:cNvSpPr txBox="1"/>
          <p:nvPr/>
        </p:nvSpPr>
        <p:spPr>
          <a:xfrm>
            <a:off x="1325880" y="4315968"/>
            <a:ext cx="2560320" cy="411480"/>
          </a:xfrm>
          <a:prstGeom prst="rect">
            <a:avLst/>
          </a:prstGeom>
          <a:noFill/>
          <a:ln/>
        </p:spPr>
        <p:txBody>
          <a:bodyPr wrap="square" lIns="0" tIns="0" rIns="0" bIns="0" rtlCol="0" anchor="t"/>
          <a:lstStyle/>
          <a:p>
            <a:pPr indent="0" marL="0">
              <a:buNone/>
            </a:pPr>
            <a:r>
              <a:rPr lang="en-US" sz="1600" b="1" dirty="0">
                <a:solidFill>
                  <a:schemeClr val="tx1"/>
                </a:solidFill>
              </a:rPr>
              <a:t>Trois tableaux parallèles</a:t>
            </a:r>
            <a:endParaRPr lang="en-US" sz="1600" dirty="0"/>
          </a:p>
        </p:txBody>
      </p:sp>
      <p:sp>
        <p:nvSpPr>
          <p:cNvPr id="31" name="Text 29"/>
          <p:cNvSpPr txBox="1"/>
          <p:nvPr/>
        </p:nvSpPr>
        <p:spPr>
          <a:xfrm>
            <a:off x="777240" y="4892040"/>
            <a:ext cx="3063240" cy="1143000"/>
          </a:xfrm>
          <a:prstGeom prst="rect">
            <a:avLst/>
          </a:prstGeom>
          <a:noFill/>
          <a:ln/>
        </p:spPr>
        <p:txBody>
          <a:bodyPr wrap="square" lIns="0" tIns="0" rIns="0" bIns="0" rtlCol="0" anchor="t"/>
          <a:lstStyle/>
          <a:p>
            <a:pPr indent="0" marL="0">
              <a:buNone/>
            </a:pPr>
            <a:r>
              <a:rPr lang="en-US" sz="1350" dirty="0">
                <a:solidFill>
                  <a:schemeClr val="tx1"/>
                </a:solidFill>
              </a:rPr>
              <a:t>fileEtats[i], fileParents[i] (d'où l'on vient), fileCoups[i] (touche jouée). Aucune ArrayDeque.</a:t>
            </a:r>
            <a:endParaRPr lang="en-US" sz="1350" dirty="0"/>
          </a:p>
        </p:txBody>
      </p:sp>
      <p:sp>
        <p:nvSpPr>
          <p:cNvPr id="32" name="bfs-1"/>
          <p:cNvSpPr/>
          <p:nvPr/>
        </p:nvSpPr>
        <p:spPr>
          <a:xfrm>
            <a:off x="4297680" y="4114800"/>
            <a:ext cx="3474720" cy="2011680"/>
          </a:xfrm>
          <a:prstGeom prst="roundRect">
            <a:avLst>
              <a:gd name="adj" fmla="val 5455"/>
            </a:avLst>
          </a:prstGeom>
          <a:solidFill>
            <a:schemeClr val="bg2"/>
          </a:solidFill>
          <a:ln w="12700">
            <a:solidFill>
              <a:schemeClr val="bg2"/>
            </a:solidFill>
            <a:prstDash val="solid"/>
          </a:ln>
        </p:spPr>
      </p:sp>
      <p:sp>
        <p:nvSpPr>
          <p:cNvPr id="33" name="Text 31"/>
          <p:cNvSpPr/>
          <p:nvPr/>
        </p:nvSpPr>
        <p:spPr>
          <a:xfrm>
            <a:off x="4526280" y="4297680"/>
            <a:ext cx="411480" cy="41148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4" name="Text 32"/>
          <p:cNvSpPr txBox="1"/>
          <p:nvPr/>
        </p:nvSpPr>
        <p:spPr>
          <a:xfrm>
            <a:off x="5074920" y="4315968"/>
            <a:ext cx="2560320" cy="411480"/>
          </a:xfrm>
          <a:prstGeom prst="rect">
            <a:avLst/>
          </a:prstGeom>
          <a:noFill/>
          <a:ln/>
        </p:spPr>
        <p:txBody>
          <a:bodyPr wrap="square" lIns="0" tIns="0" rIns="0" bIns="0" rtlCol="0" anchor="t"/>
          <a:lstStyle/>
          <a:p>
            <a:pPr indent="0" marL="0">
              <a:buNone/>
            </a:pPr>
            <a:r>
              <a:rPr lang="en-US" sz="1600" b="1" dirty="0">
                <a:solidFill>
                  <a:schemeClr val="tx1"/>
                </a:solidFill>
              </a:rPr>
              <a:t>Visité dès l'entrée en file</a:t>
            </a:r>
            <a:endParaRPr lang="en-US" sz="1600" dirty="0"/>
          </a:p>
        </p:txBody>
      </p:sp>
      <p:sp>
        <p:nvSpPr>
          <p:cNvPr id="35" name="Text 33"/>
          <p:cNvSpPr txBox="1"/>
          <p:nvPr/>
        </p:nvSpPr>
        <p:spPr>
          <a:xfrm>
            <a:off x="4526280" y="4892040"/>
            <a:ext cx="3063240" cy="1143000"/>
          </a:xfrm>
          <a:prstGeom prst="rect">
            <a:avLst/>
          </a:prstGeom>
          <a:noFill/>
          <a:ln/>
        </p:spPr>
        <p:txBody>
          <a:bodyPr wrap="square" lIns="0" tIns="0" rIns="0" bIns="0" rtlCol="0" anchor="t"/>
          <a:lstStyle/>
          <a:p>
            <a:pPr indent="0" marL="0">
              <a:buNone/>
            </a:pPr>
            <a:r>
              <a:rPr lang="en-US" sz="1350" dirty="0">
                <a:solidFill>
                  <a:schemeClr val="tx1"/>
                </a:solidFill>
              </a:rPr>
              <a:t>Un état n'entre qu'une fois dans la file : pas de doublons.</a:t>
            </a:r>
            <a:endParaRPr lang="en-US" sz="1350" dirty="0"/>
          </a:p>
        </p:txBody>
      </p:sp>
      <p:sp>
        <p:nvSpPr>
          <p:cNvPr id="36" name="bfs-2"/>
          <p:cNvSpPr/>
          <p:nvPr/>
        </p:nvSpPr>
        <p:spPr>
          <a:xfrm>
            <a:off x="8046720" y="4114800"/>
            <a:ext cx="3474720" cy="2011680"/>
          </a:xfrm>
          <a:prstGeom prst="roundRect">
            <a:avLst>
              <a:gd name="adj" fmla="val 5455"/>
            </a:avLst>
          </a:prstGeom>
          <a:solidFill>
            <a:schemeClr val="bg2"/>
          </a:solidFill>
          <a:ln w="12700">
            <a:solidFill>
              <a:schemeClr val="bg2"/>
            </a:solidFill>
            <a:prstDash val="solid"/>
          </a:ln>
        </p:spPr>
      </p:sp>
      <p:sp>
        <p:nvSpPr>
          <p:cNvPr id="37" name="Text 35"/>
          <p:cNvSpPr/>
          <p:nvPr/>
        </p:nvSpPr>
        <p:spPr>
          <a:xfrm>
            <a:off x="8275320" y="4297680"/>
            <a:ext cx="411480" cy="411480"/>
          </a:xfrm>
          <a:prstGeom prst="ellipse">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8" name="Text 36"/>
          <p:cNvSpPr txBox="1"/>
          <p:nvPr/>
        </p:nvSpPr>
        <p:spPr>
          <a:xfrm>
            <a:off x="8823960" y="4315968"/>
            <a:ext cx="2560320" cy="411480"/>
          </a:xfrm>
          <a:prstGeom prst="rect">
            <a:avLst/>
          </a:prstGeom>
          <a:noFill/>
          <a:ln/>
        </p:spPr>
        <p:txBody>
          <a:bodyPr wrap="square" lIns="0" tIns="0" rIns="0" bIns="0" rtlCol="0" anchor="t"/>
          <a:lstStyle/>
          <a:p>
            <a:pPr indent="0" marL="0">
              <a:buNone/>
            </a:pPr>
            <a:r>
              <a:rPr lang="en-US" sz="1600" b="1" dirty="0">
                <a:solidFill>
                  <a:schemeClr val="tx1"/>
                </a:solidFill>
              </a:rPr>
              <a:t>Solution la plus courte</a:t>
            </a:r>
            <a:endParaRPr lang="en-US" sz="1600" dirty="0"/>
          </a:p>
        </p:txBody>
      </p:sp>
      <p:sp>
        <p:nvSpPr>
          <p:cNvPr id="39" name="Text 37"/>
          <p:cNvSpPr txBox="1"/>
          <p:nvPr/>
        </p:nvSpPr>
        <p:spPr>
          <a:xfrm>
            <a:off x="8275320" y="4892040"/>
            <a:ext cx="3063240" cy="1143000"/>
          </a:xfrm>
          <a:prstGeom prst="rect">
            <a:avLst/>
          </a:prstGeom>
          <a:noFill/>
          <a:ln/>
        </p:spPr>
        <p:txBody>
          <a:bodyPr wrap="square" lIns="0" tIns="0" rIns="0" bIns="0" rtlCol="0" anchor="t"/>
          <a:lstStyle/>
          <a:p>
            <a:pPr indent="0" marL="0">
              <a:buNone/>
            </a:pPr>
            <a:r>
              <a:rPr lang="en-US" sz="1350" dirty="0">
                <a:solidFill>
                  <a:schemeClr val="tx1"/>
                </a:solidFill>
              </a:rPr>
              <a:t>Les états sortent par distance croissante. Le premier état gagnant défilé est donc le plus proche du départ.</a:t>
            </a:r>
            <a:endParaRPr lang="en-US" sz="135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424160" cy="777240"/>
          </a:xfrm>
          <a:prstGeom prst="rect">
            <a:avLst/>
          </a:prstGeom>
          <a:noFill/>
          <a:ln/>
        </p:spPr>
        <p:txBody>
          <a:bodyPr wrap="square" lIns="0" tIns="0" rIns="0" bIns="0" rtlCol="0" anchor="ctr"/>
          <a:lstStyle/>
          <a:p>
            <a:pPr algn="l" indent="0" marL="0">
              <a:buNone/>
            </a:pPr>
            <a:r>
              <a:rPr lang="en-US" sz="3200" b="1" dirty="0">
                <a:solidFill>
                  <a:schemeClr val="tx1"/>
                </a:solidFill>
              </a:rPr>
              <a:t>Comparaison : BFS trouve toujours le chemin le plus court</a:t>
            </a:r>
            <a:endParaRPr lang="en-US" sz="3200" dirty="0"/>
          </a:p>
        </p:txBody>
      </p:sp>
      <p:graphicFrame>
        <p:nvGraphicFramePr>
          <p:cNvPr id="3" name="Chart 0" descr=""/>
          <p:cNvGraphicFramePr/>
          <p:nvPr/>
        </p:nvGraphicFramePr>
        <p:xfrm>
          <a:off x="548640" y="1280160"/>
          <a:ext cx="5486400" cy="40233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172200" y="1280160"/>
          <a:ext cx="5486400" cy="4023360"/>
        </p:xfrm>
        <a:graphic xmlns:a="http://schemas.openxmlformats.org/drawingml/2006/main">
          <a:graphicData uri="http://schemas.openxmlformats.org/drawingml/2006/chart">
            <c:chart xmlns:c="http://schemas.openxmlformats.org/drawingml/2006/chart" r:id="rId2"/>
          </a:graphicData>
        </a:graphic>
      </p:graphicFrame>
      <p:sp>
        <p:nvSpPr>
          <p:cNvPr id="5" name="lecture"/>
          <p:cNvSpPr/>
          <p:nvPr/>
        </p:nvSpPr>
        <p:spPr>
          <a:xfrm>
            <a:off x="548640" y="5440680"/>
            <a:ext cx="11064240" cy="685800"/>
          </a:xfrm>
          <a:prstGeom prst="roundRect">
            <a:avLst>
              <a:gd name="adj" fmla="val 16000"/>
            </a:avLst>
          </a:prstGeom>
          <a:solidFill>
            <a:schemeClr val="bg2"/>
          </a:solidFill>
          <a:ln w="12700">
            <a:solidFill>
              <a:schemeClr val="bg2"/>
            </a:solidFill>
            <a:prstDash val="solid"/>
          </a:ln>
        </p:spPr>
      </p:sp>
      <p:sp>
        <p:nvSpPr>
          <p:cNvPr id="6" name="Text 2"/>
          <p:cNvSpPr txBox="1"/>
          <p:nvPr/>
        </p:nvSpPr>
        <p:spPr>
          <a:xfrm>
            <a:off x="822960" y="5532120"/>
            <a:ext cx="10607040" cy="502920"/>
          </a:xfrm>
          <a:prstGeom prst="rect">
            <a:avLst/>
          </a:prstGeom>
          <a:noFill/>
          <a:ln/>
        </p:spPr>
        <p:txBody>
          <a:bodyPr wrap="square" lIns="0" tIns="0" rIns="0" bIns="0" rtlCol="0" anchor="ctr"/>
          <a:lstStyle/>
          <a:p>
            <a:pPr indent="0" marL="0">
              <a:buNone/>
            </a:pPr>
            <a:r>
              <a:rPr lang="en-US" sz="1400" b="1" dirty="0">
                <a:solidFill>
                  <a:schemeClr val="tx2"/>
                </a:solidFill>
              </a:rPr>
              <a:t>À retenir : </a:t>
            </a:r>
            <a:pPr indent="0" marL="0">
              <a:buNone/>
            </a:pPr>
            <a:r>
              <a:rPr lang="en-US" sz="1400" dirty="0">
                <a:solidFill>
                  <a:schemeClr val="tx1"/>
                </a:solidFill>
              </a:rPr>
              <a:t>BFS est toujours plus court en coups. Le nombre d'états explorés, lui, n'a pas de gagnant fixe (DFS gagne au niveau 4, perd au niveau 3). Le niveau 1 donne 1 coup pour les deux.</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424160" cy="777240"/>
          </a:xfrm>
          <a:prstGeom prst="rect">
            <a:avLst/>
          </a:prstGeom>
          <a:noFill/>
          <a:ln/>
        </p:spPr>
        <p:txBody>
          <a:bodyPr wrap="square" lIns="0" tIns="0" rIns="0" bIns="0" rtlCol="0" anchor="ctr"/>
          <a:lstStyle/>
          <a:p>
            <a:pPr algn="l" indent="0" marL="0">
              <a:buNone/>
            </a:pPr>
            <a:r>
              <a:rPr lang="en-US" sz="3200" b="1" dirty="0">
                <a:solidFill>
                  <a:schemeClr val="tx1"/>
                </a:solidFill>
              </a:rPr>
              <a:t>Pourquoi les deux algorithmes divergent</a:t>
            </a:r>
            <a:endParaRPr lang="en-US" sz="3200" dirty="0"/>
          </a:p>
        </p:txBody>
      </p:sp>
      <p:sp>
        <p:nvSpPr>
          <p:cNvPr id="3" name="illu-dfs"/>
          <p:cNvSpPr/>
          <p:nvPr/>
        </p:nvSpPr>
        <p:spPr>
          <a:xfrm>
            <a:off x="548640" y="1371600"/>
            <a:ext cx="5394960" cy="3291840"/>
          </a:xfrm>
          <a:prstGeom prst="roundRect">
            <a:avLst>
              <a:gd name="adj" fmla="val 3333"/>
            </a:avLst>
          </a:prstGeom>
          <a:solidFill>
            <a:schemeClr val="bg2"/>
          </a:solidFill>
          <a:ln w="12700">
            <a:solidFill>
              <a:schemeClr val="bg2"/>
            </a:solidFill>
            <a:prstDash val="solid"/>
          </a:ln>
        </p:spPr>
      </p:sp>
      <p:sp>
        <p:nvSpPr>
          <p:cNvPr id="4" name="Text 2"/>
          <p:cNvSpPr txBox="1"/>
          <p:nvPr/>
        </p:nvSpPr>
        <p:spPr>
          <a:xfrm>
            <a:off x="822960" y="1554480"/>
            <a:ext cx="4572000" cy="365760"/>
          </a:xfrm>
          <a:prstGeom prst="rect">
            <a:avLst/>
          </a:prstGeom>
          <a:noFill/>
          <a:ln/>
        </p:spPr>
        <p:txBody>
          <a:bodyPr wrap="square" lIns="0" tIns="0" rIns="0" bIns="0" rtlCol="0" anchor="t"/>
          <a:lstStyle/>
          <a:p>
            <a:pPr indent="0" marL="0">
              <a:buNone/>
            </a:pPr>
            <a:r>
              <a:rPr lang="en-US" sz="2000" b="1" dirty="0">
                <a:solidFill>
                  <a:schemeClr val="accent3"/>
                </a:solidFill>
              </a:rPr>
              <a:t>DFS s'enfonce</a:t>
            </a:r>
            <a:endParaRPr lang="en-US" sz="2000" dirty="0"/>
          </a:p>
        </p:txBody>
      </p:sp>
      <p:sp>
        <p:nvSpPr>
          <p:cNvPr id="5" name="Shape 3"/>
          <p:cNvSpPr/>
          <p:nvPr/>
        </p:nvSpPr>
        <p:spPr>
          <a:xfrm>
            <a:off x="1005840" y="2103120"/>
            <a:ext cx="347472" cy="347472"/>
          </a:xfrm>
          <a:prstGeom prst="ellipse">
            <a:avLst/>
          </a:prstGeom>
          <a:solidFill>
            <a:schemeClr val="bg1"/>
          </a:solidFill>
          <a:ln w="19050">
            <a:solidFill>
              <a:schemeClr val="accent3"/>
            </a:solidFill>
            <a:prstDash val="solid"/>
          </a:ln>
        </p:spPr>
      </p:sp>
      <p:sp>
        <p:nvSpPr>
          <p:cNvPr id="6" name="Shape 4"/>
          <p:cNvSpPr/>
          <p:nvPr/>
        </p:nvSpPr>
        <p:spPr>
          <a:xfrm>
            <a:off x="1307592" y="2395728"/>
            <a:ext cx="429768" cy="18288"/>
          </a:xfrm>
          <a:prstGeom prst="line">
            <a:avLst/>
          </a:prstGeom>
          <a:noFill/>
          <a:ln w="19050">
            <a:solidFill>
              <a:schemeClr val="accent3"/>
            </a:solidFill>
            <a:prstDash val="solid"/>
          </a:ln>
        </p:spPr>
      </p:sp>
      <p:sp>
        <p:nvSpPr>
          <p:cNvPr id="7" name="Shape 5"/>
          <p:cNvSpPr/>
          <p:nvPr/>
        </p:nvSpPr>
        <p:spPr>
          <a:xfrm>
            <a:off x="1691640" y="2359152"/>
            <a:ext cx="347472" cy="347472"/>
          </a:xfrm>
          <a:prstGeom prst="ellipse">
            <a:avLst/>
          </a:prstGeom>
          <a:solidFill>
            <a:schemeClr val="bg1"/>
          </a:solidFill>
          <a:ln w="19050">
            <a:solidFill>
              <a:schemeClr val="accent3"/>
            </a:solidFill>
            <a:prstDash val="solid"/>
          </a:ln>
        </p:spPr>
      </p:sp>
      <p:sp>
        <p:nvSpPr>
          <p:cNvPr id="8" name="Shape 6"/>
          <p:cNvSpPr/>
          <p:nvPr/>
        </p:nvSpPr>
        <p:spPr>
          <a:xfrm>
            <a:off x="1993392" y="2651760"/>
            <a:ext cx="429768" cy="18288"/>
          </a:xfrm>
          <a:prstGeom prst="line">
            <a:avLst/>
          </a:prstGeom>
          <a:noFill/>
          <a:ln w="19050">
            <a:solidFill>
              <a:schemeClr val="accent3"/>
            </a:solidFill>
            <a:prstDash val="solid"/>
          </a:ln>
        </p:spPr>
      </p:sp>
      <p:sp>
        <p:nvSpPr>
          <p:cNvPr id="9" name="Shape 7"/>
          <p:cNvSpPr/>
          <p:nvPr/>
        </p:nvSpPr>
        <p:spPr>
          <a:xfrm>
            <a:off x="2377440" y="2615184"/>
            <a:ext cx="347472" cy="347472"/>
          </a:xfrm>
          <a:prstGeom prst="ellipse">
            <a:avLst/>
          </a:prstGeom>
          <a:solidFill>
            <a:schemeClr val="bg1"/>
          </a:solidFill>
          <a:ln w="19050">
            <a:solidFill>
              <a:schemeClr val="accent3"/>
            </a:solidFill>
            <a:prstDash val="solid"/>
          </a:ln>
        </p:spPr>
      </p:sp>
      <p:sp>
        <p:nvSpPr>
          <p:cNvPr id="10" name="Shape 8"/>
          <p:cNvSpPr/>
          <p:nvPr/>
        </p:nvSpPr>
        <p:spPr>
          <a:xfrm>
            <a:off x="2679192" y="2907792"/>
            <a:ext cx="429768" cy="18288"/>
          </a:xfrm>
          <a:prstGeom prst="line">
            <a:avLst/>
          </a:prstGeom>
          <a:noFill/>
          <a:ln w="19050">
            <a:solidFill>
              <a:schemeClr val="accent3"/>
            </a:solidFill>
            <a:prstDash val="solid"/>
          </a:ln>
        </p:spPr>
      </p:sp>
      <p:sp>
        <p:nvSpPr>
          <p:cNvPr id="11" name="Shape 9"/>
          <p:cNvSpPr/>
          <p:nvPr/>
        </p:nvSpPr>
        <p:spPr>
          <a:xfrm>
            <a:off x="3063240" y="2871216"/>
            <a:ext cx="347472" cy="347472"/>
          </a:xfrm>
          <a:prstGeom prst="ellipse">
            <a:avLst/>
          </a:prstGeom>
          <a:solidFill>
            <a:schemeClr val="bg1"/>
          </a:solidFill>
          <a:ln w="19050">
            <a:solidFill>
              <a:schemeClr val="accent3"/>
            </a:solidFill>
            <a:prstDash val="solid"/>
          </a:ln>
        </p:spPr>
      </p:sp>
      <p:sp>
        <p:nvSpPr>
          <p:cNvPr id="12" name="Shape 10"/>
          <p:cNvSpPr/>
          <p:nvPr/>
        </p:nvSpPr>
        <p:spPr>
          <a:xfrm>
            <a:off x="3364992" y="3163824"/>
            <a:ext cx="429768" cy="18288"/>
          </a:xfrm>
          <a:prstGeom prst="line">
            <a:avLst/>
          </a:prstGeom>
          <a:noFill/>
          <a:ln w="19050">
            <a:solidFill>
              <a:schemeClr val="accent3"/>
            </a:solidFill>
            <a:prstDash val="solid"/>
          </a:ln>
        </p:spPr>
      </p:sp>
      <p:sp>
        <p:nvSpPr>
          <p:cNvPr id="13" name="Shape 11"/>
          <p:cNvSpPr/>
          <p:nvPr/>
        </p:nvSpPr>
        <p:spPr>
          <a:xfrm>
            <a:off x="3749040" y="3127248"/>
            <a:ext cx="347472" cy="347472"/>
          </a:xfrm>
          <a:prstGeom prst="ellipse">
            <a:avLst/>
          </a:prstGeom>
          <a:solidFill>
            <a:schemeClr val="bg1"/>
          </a:solidFill>
          <a:ln w="19050">
            <a:solidFill>
              <a:schemeClr val="accent3"/>
            </a:solidFill>
            <a:prstDash val="solid"/>
          </a:ln>
        </p:spPr>
      </p:sp>
      <p:sp>
        <p:nvSpPr>
          <p:cNvPr id="14" name="Shape 12"/>
          <p:cNvSpPr/>
          <p:nvPr/>
        </p:nvSpPr>
        <p:spPr>
          <a:xfrm>
            <a:off x="4050792" y="3419856"/>
            <a:ext cx="429768" cy="18288"/>
          </a:xfrm>
          <a:prstGeom prst="line">
            <a:avLst/>
          </a:prstGeom>
          <a:noFill/>
          <a:ln w="19050">
            <a:solidFill>
              <a:schemeClr val="accent3"/>
            </a:solidFill>
            <a:prstDash val="solid"/>
          </a:ln>
        </p:spPr>
      </p:sp>
      <p:sp>
        <p:nvSpPr>
          <p:cNvPr id="15" name="Shape 13"/>
          <p:cNvSpPr/>
          <p:nvPr/>
        </p:nvSpPr>
        <p:spPr>
          <a:xfrm>
            <a:off x="4434840" y="3383280"/>
            <a:ext cx="347472" cy="347472"/>
          </a:xfrm>
          <a:prstGeom prst="ellipse">
            <a:avLst/>
          </a:prstGeom>
          <a:solidFill>
            <a:schemeClr val="accent3"/>
          </a:solidFill>
          <a:ln w="19050">
            <a:solidFill>
              <a:schemeClr val="accent3"/>
            </a:solidFill>
            <a:prstDash val="solid"/>
          </a:ln>
        </p:spPr>
      </p:sp>
      <p:sp>
        <p:nvSpPr>
          <p:cNvPr id="16" name="Text 14"/>
          <p:cNvSpPr txBox="1"/>
          <p:nvPr/>
        </p:nvSpPr>
        <p:spPr>
          <a:xfrm>
            <a:off x="822960" y="3886200"/>
            <a:ext cx="4846320" cy="731520"/>
          </a:xfrm>
          <a:prstGeom prst="rect">
            <a:avLst/>
          </a:prstGeom>
          <a:noFill/>
          <a:ln/>
        </p:spPr>
        <p:txBody>
          <a:bodyPr wrap="square" lIns="0" tIns="0" rIns="0" bIns="0" rtlCol="0" anchor="t"/>
          <a:lstStyle/>
          <a:p>
            <a:pPr indent="0" marL="0">
              <a:buNone/>
            </a:pPr>
            <a:r>
              <a:rPr lang="en-US" sz="1350" dirty="0">
                <a:solidFill>
                  <a:schemeClr val="tx1"/>
                </a:solidFill>
              </a:rPr>
              <a:t>Il suit une branche jusqu'au bout, puis revient en arrière. Le premier chemin gagnant rencontré est rarement le plus court.</a:t>
            </a:r>
            <a:endParaRPr lang="en-US" sz="1350" dirty="0"/>
          </a:p>
        </p:txBody>
      </p:sp>
      <p:sp>
        <p:nvSpPr>
          <p:cNvPr id="17" name="illu-bfs"/>
          <p:cNvSpPr/>
          <p:nvPr/>
        </p:nvSpPr>
        <p:spPr>
          <a:xfrm>
            <a:off x="6217920" y="1371600"/>
            <a:ext cx="5394960" cy="3291840"/>
          </a:xfrm>
          <a:prstGeom prst="roundRect">
            <a:avLst>
              <a:gd name="adj" fmla="val 3333"/>
            </a:avLst>
          </a:prstGeom>
          <a:solidFill>
            <a:schemeClr val="bg2"/>
          </a:solidFill>
          <a:ln w="12700">
            <a:solidFill>
              <a:schemeClr val="bg2"/>
            </a:solidFill>
            <a:prstDash val="solid"/>
          </a:ln>
        </p:spPr>
      </p:sp>
      <p:sp>
        <p:nvSpPr>
          <p:cNvPr id="18" name="Text 16"/>
          <p:cNvSpPr txBox="1"/>
          <p:nvPr/>
        </p:nvSpPr>
        <p:spPr>
          <a:xfrm>
            <a:off x="6492240" y="1554480"/>
            <a:ext cx="4572000" cy="365760"/>
          </a:xfrm>
          <a:prstGeom prst="rect">
            <a:avLst/>
          </a:prstGeom>
          <a:noFill/>
          <a:ln/>
        </p:spPr>
        <p:txBody>
          <a:bodyPr wrap="square" lIns="0" tIns="0" rIns="0" bIns="0" rtlCol="0" anchor="t"/>
          <a:lstStyle/>
          <a:p>
            <a:pPr indent="0" marL="0">
              <a:buNone/>
            </a:pPr>
            <a:r>
              <a:rPr lang="en-US" sz="2000" b="1" dirty="0">
                <a:solidFill>
                  <a:schemeClr val="accent1"/>
                </a:solidFill>
              </a:rPr>
              <a:t>BFS avance par couches</a:t>
            </a:r>
            <a:endParaRPr lang="en-US" sz="2000" dirty="0"/>
          </a:p>
        </p:txBody>
      </p:sp>
      <p:sp>
        <p:nvSpPr>
          <p:cNvPr id="19" name="Shape 17"/>
          <p:cNvSpPr/>
          <p:nvPr/>
        </p:nvSpPr>
        <p:spPr>
          <a:xfrm>
            <a:off x="7178040" y="1970532"/>
            <a:ext cx="3474720" cy="1911096"/>
          </a:xfrm>
          <a:prstGeom prst="ellipse">
            <a:avLst/>
          </a:prstGeom>
          <a:solidFill>
            <a:schemeClr val="bg2"/>
          </a:solidFill>
          <a:ln w="12700">
            <a:solidFill>
              <a:schemeClr val="accent1"/>
            </a:solidFill>
            <a:prstDash val="solid"/>
          </a:ln>
        </p:spPr>
      </p:sp>
      <p:sp>
        <p:nvSpPr>
          <p:cNvPr id="20" name="Shape 18"/>
          <p:cNvSpPr/>
          <p:nvPr/>
        </p:nvSpPr>
        <p:spPr>
          <a:xfrm>
            <a:off x="7680960" y="2247138"/>
            <a:ext cx="2468880" cy="1357884"/>
          </a:xfrm>
          <a:prstGeom prst="ellipse">
            <a:avLst/>
          </a:prstGeom>
          <a:solidFill>
            <a:schemeClr val="accent6"/>
          </a:solidFill>
          <a:ln w="12700">
            <a:solidFill>
              <a:schemeClr val="accent1"/>
            </a:solidFill>
            <a:prstDash val="solid"/>
          </a:ln>
        </p:spPr>
      </p:sp>
      <p:sp>
        <p:nvSpPr>
          <p:cNvPr id="21" name="Shape 19"/>
          <p:cNvSpPr/>
          <p:nvPr/>
        </p:nvSpPr>
        <p:spPr>
          <a:xfrm>
            <a:off x="8183880" y="2523744"/>
            <a:ext cx="1463040" cy="804672"/>
          </a:xfrm>
          <a:prstGeom prst="ellipse">
            <a:avLst/>
          </a:prstGeom>
          <a:solidFill>
            <a:schemeClr val="accent4"/>
          </a:solidFill>
          <a:ln w="12700">
            <a:solidFill>
              <a:schemeClr val="accent1"/>
            </a:solidFill>
            <a:prstDash val="solid"/>
          </a:ln>
        </p:spPr>
      </p:sp>
      <p:sp>
        <p:nvSpPr>
          <p:cNvPr id="22" name="Shape 20"/>
          <p:cNvSpPr/>
          <p:nvPr/>
        </p:nvSpPr>
        <p:spPr>
          <a:xfrm>
            <a:off x="8778240" y="2788920"/>
            <a:ext cx="274320" cy="274320"/>
          </a:xfrm>
          <a:prstGeom prst="ellipse">
            <a:avLst/>
          </a:prstGeom>
          <a:solidFill>
            <a:schemeClr val="tx1"/>
          </a:solidFill>
          <a:ln w="12700">
            <a:solidFill>
              <a:schemeClr val="tx1"/>
            </a:solidFill>
            <a:prstDash val="solid"/>
          </a:ln>
        </p:spPr>
      </p:sp>
      <p:sp>
        <p:nvSpPr>
          <p:cNvPr id="23" name="Text 21"/>
          <p:cNvSpPr txBox="1"/>
          <p:nvPr/>
        </p:nvSpPr>
        <p:spPr>
          <a:xfrm>
            <a:off x="6492240" y="3886200"/>
            <a:ext cx="4846320" cy="731520"/>
          </a:xfrm>
          <a:prstGeom prst="rect">
            <a:avLst/>
          </a:prstGeom>
          <a:noFill/>
          <a:ln/>
        </p:spPr>
        <p:txBody>
          <a:bodyPr wrap="square" lIns="0" tIns="0" rIns="0" bIns="0" rtlCol="0" anchor="t"/>
          <a:lstStyle/>
          <a:p>
            <a:pPr indent="0" marL="0">
              <a:buNone/>
            </a:pPr>
            <a:r>
              <a:rPr lang="en-US" sz="1350" dirty="0">
                <a:solidFill>
                  <a:schemeClr val="tx1"/>
                </a:solidFill>
              </a:rPr>
              <a:t>Il visite tous les états à 1 coup, puis à 2 coups… Il trouve donc le chemin minimal, mais doit d'abord parcourir tous les états plus proches.</a:t>
            </a:r>
            <a:endParaRPr lang="en-US" sz="1350" dirty="0"/>
          </a:p>
        </p:txBody>
      </p:sp>
      <p:sp>
        <p:nvSpPr>
          <p:cNvPr id="24" name="Text 22"/>
          <p:cNvSpPr txBox="1"/>
          <p:nvPr/>
        </p:nvSpPr>
        <p:spPr>
          <a:xfrm>
            <a:off x="548640" y="4892040"/>
            <a:ext cx="3474720" cy="685800"/>
          </a:xfrm>
          <a:prstGeom prst="rect">
            <a:avLst/>
          </a:prstGeom>
          <a:noFill/>
          <a:ln/>
        </p:spPr>
        <p:txBody>
          <a:bodyPr wrap="square" lIns="0" tIns="0" rIns="0" bIns="0" rtlCol="0" anchor="t"/>
          <a:lstStyle/>
          <a:p>
            <a:pPr algn="ctr" indent="0" marL="0">
              <a:buNone/>
            </a:pPr>
            <a:r>
              <a:rPr lang="en-US" sz="3600" b="1" dirty="0">
                <a:solidFill>
                  <a:schemeClr val="accent1"/>
                </a:solidFill>
              </a:rPr>
              <a:t>2 791 → 25</a:t>
            </a:r>
            <a:endParaRPr lang="en-US" sz="3600" dirty="0"/>
          </a:p>
        </p:txBody>
      </p:sp>
      <p:sp>
        <p:nvSpPr>
          <p:cNvPr id="25" name="Text 23"/>
          <p:cNvSpPr txBox="1"/>
          <p:nvPr/>
        </p:nvSpPr>
        <p:spPr>
          <a:xfrm>
            <a:off x="548640" y="5577840"/>
            <a:ext cx="3474720" cy="320040"/>
          </a:xfrm>
          <a:prstGeom prst="rect">
            <a:avLst/>
          </a:prstGeom>
          <a:noFill/>
          <a:ln/>
        </p:spPr>
        <p:txBody>
          <a:bodyPr wrap="square" lIns="0" tIns="0" rIns="0" bIns="0" rtlCol="0" anchor="t"/>
          <a:lstStyle/>
          <a:p>
            <a:pPr algn="ctr" indent="0" marL="0">
              <a:buNone/>
            </a:pPr>
            <a:r>
              <a:rPr lang="en-US" sz="1300" dirty="0">
                <a:solidFill>
                  <a:schemeClr val="accent5"/>
                </a:solidFill>
              </a:rPr>
              <a:t>coups au niveau 3</a:t>
            </a:r>
            <a:endParaRPr lang="en-US" sz="1300" dirty="0"/>
          </a:p>
        </p:txBody>
      </p:sp>
      <p:sp>
        <p:nvSpPr>
          <p:cNvPr id="26" name="Text 24"/>
          <p:cNvSpPr txBox="1"/>
          <p:nvPr/>
        </p:nvSpPr>
        <p:spPr>
          <a:xfrm>
            <a:off x="4297680" y="4892040"/>
            <a:ext cx="3474720" cy="685800"/>
          </a:xfrm>
          <a:prstGeom prst="rect">
            <a:avLst/>
          </a:prstGeom>
          <a:noFill/>
          <a:ln/>
        </p:spPr>
        <p:txBody>
          <a:bodyPr wrap="square" lIns="0" tIns="0" rIns="0" bIns="0" rtlCol="0" anchor="t"/>
          <a:lstStyle/>
          <a:p>
            <a:pPr algn="ctr" indent="0" marL="0">
              <a:buNone/>
            </a:pPr>
            <a:r>
              <a:rPr lang="en-US" sz="3600" b="1" dirty="0">
                <a:solidFill>
                  <a:schemeClr val="accent3"/>
                </a:solidFill>
              </a:rPr>
              <a:t>1 056</a:t>
            </a:r>
            <a:endParaRPr lang="en-US" sz="3600" dirty="0"/>
          </a:p>
        </p:txBody>
      </p:sp>
      <p:sp>
        <p:nvSpPr>
          <p:cNvPr id="27" name="Text 25"/>
          <p:cNvSpPr txBox="1"/>
          <p:nvPr/>
        </p:nvSpPr>
        <p:spPr>
          <a:xfrm>
            <a:off x="4297680" y="5577840"/>
            <a:ext cx="3474720" cy="320040"/>
          </a:xfrm>
          <a:prstGeom prst="rect">
            <a:avLst/>
          </a:prstGeom>
          <a:noFill/>
          <a:ln/>
        </p:spPr>
        <p:txBody>
          <a:bodyPr wrap="square" lIns="0" tIns="0" rIns="0" bIns="0" rtlCol="0" anchor="t"/>
          <a:lstStyle/>
          <a:p>
            <a:pPr algn="ctr" indent="0" marL="0">
              <a:buNone/>
            </a:pPr>
            <a:r>
              <a:rPr lang="en-US" sz="1300" dirty="0">
                <a:solidFill>
                  <a:schemeClr val="accent5"/>
                </a:solidFill>
              </a:rPr>
              <a:t>états DFS au niveau 4</a:t>
            </a:r>
            <a:endParaRPr lang="en-US" sz="1300" dirty="0"/>
          </a:p>
        </p:txBody>
      </p:sp>
      <p:sp>
        <p:nvSpPr>
          <p:cNvPr id="28" name="Text 26"/>
          <p:cNvSpPr txBox="1"/>
          <p:nvPr/>
        </p:nvSpPr>
        <p:spPr>
          <a:xfrm>
            <a:off x="8046720" y="4892040"/>
            <a:ext cx="3474720" cy="685800"/>
          </a:xfrm>
          <a:prstGeom prst="rect">
            <a:avLst/>
          </a:prstGeom>
          <a:noFill/>
          <a:ln/>
        </p:spPr>
        <p:txBody>
          <a:bodyPr wrap="square" lIns="0" tIns="0" rIns="0" bIns="0" rtlCol="0" anchor="t"/>
          <a:lstStyle/>
          <a:p>
            <a:pPr algn="ctr" indent="0" marL="0">
              <a:buNone/>
            </a:pPr>
            <a:r>
              <a:rPr lang="en-US" sz="3600" b="1" dirty="0">
                <a:solidFill>
                  <a:schemeClr val="accent2"/>
                </a:solidFill>
              </a:rPr>
              <a:t>26 265</a:t>
            </a:r>
            <a:endParaRPr lang="en-US" sz="3600" dirty="0"/>
          </a:p>
        </p:txBody>
      </p:sp>
      <p:sp>
        <p:nvSpPr>
          <p:cNvPr id="29" name="Text 27"/>
          <p:cNvSpPr txBox="1"/>
          <p:nvPr/>
        </p:nvSpPr>
        <p:spPr>
          <a:xfrm>
            <a:off x="8046720" y="5577840"/>
            <a:ext cx="3474720" cy="320040"/>
          </a:xfrm>
          <a:prstGeom prst="rect">
            <a:avLst/>
          </a:prstGeom>
          <a:noFill/>
          <a:ln/>
        </p:spPr>
        <p:txBody>
          <a:bodyPr wrap="square" lIns="0" tIns="0" rIns="0" bIns="0" rtlCol="0" anchor="t"/>
          <a:lstStyle/>
          <a:p>
            <a:pPr algn="ctr" indent="0" marL="0">
              <a:buNone/>
            </a:pPr>
            <a:r>
              <a:rPr lang="en-US" sz="1300" dirty="0">
                <a:solidFill>
                  <a:schemeClr val="accent5"/>
                </a:solidFill>
              </a:rPr>
              <a:t>états BFS au niveau 4</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424160" cy="777240"/>
          </a:xfrm>
          <a:prstGeom prst="rect">
            <a:avLst/>
          </a:prstGeom>
          <a:noFill/>
          <a:ln/>
        </p:spPr>
        <p:txBody>
          <a:bodyPr wrap="square" lIns="0" tIns="0" rIns="0" bIns="0" rtlCol="0" anchor="ctr"/>
          <a:lstStyle/>
          <a:p>
            <a:pPr algn="l" indent="0" marL="0">
              <a:buNone/>
            </a:pPr>
            <a:r>
              <a:rPr lang="en-US" sz="3200" b="1" dirty="0">
                <a:solidFill>
                  <a:schemeClr val="tx1"/>
                </a:solidFill>
              </a:rPr>
              <a:t>Optimisation : élaguer les coins morts</a:t>
            </a:r>
            <a:endParaRPr lang="en-US" sz="3200" dirty="0"/>
          </a:p>
        </p:txBody>
      </p:sp>
      <p:sp>
        <p:nvSpPr>
          <p:cNvPr id="3" name="Shape 1"/>
          <p:cNvSpPr/>
          <p:nvPr/>
        </p:nvSpPr>
        <p:spPr>
          <a:xfrm>
            <a:off x="731520" y="1417320"/>
            <a:ext cx="457200" cy="457200"/>
          </a:xfrm>
          <a:prstGeom prst="rect">
            <a:avLst/>
          </a:prstGeom>
          <a:solidFill>
            <a:schemeClr val="tx1"/>
          </a:solidFill>
          <a:ln w="9525">
            <a:solidFill>
              <a:schemeClr val="bg2"/>
            </a:solidFill>
            <a:prstDash val="solid"/>
          </a:ln>
        </p:spPr>
      </p:sp>
      <p:sp>
        <p:nvSpPr>
          <p:cNvPr id="4" name="Shape 2"/>
          <p:cNvSpPr/>
          <p:nvPr/>
        </p:nvSpPr>
        <p:spPr>
          <a:xfrm>
            <a:off x="1188720" y="1417320"/>
            <a:ext cx="457200" cy="457200"/>
          </a:xfrm>
          <a:prstGeom prst="rect">
            <a:avLst/>
          </a:prstGeom>
          <a:solidFill>
            <a:schemeClr val="tx1"/>
          </a:solidFill>
          <a:ln w="9525">
            <a:solidFill>
              <a:schemeClr val="bg2"/>
            </a:solidFill>
            <a:prstDash val="solid"/>
          </a:ln>
        </p:spPr>
      </p:sp>
      <p:sp>
        <p:nvSpPr>
          <p:cNvPr id="5" name="Shape 3"/>
          <p:cNvSpPr/>
          <p:nvPr/>
        </p:nvSpPr>
        <p:spPr>
          <a:xfrm>
            <a:off x="1645920" y="1417320"/>
            <a:ext cx="457200" cy="457200"/>
          </a:xfrm>
          <a:prstGeom prst="rect">
            <a:avLst/>
          </a:prstGeom>
          <a:solidFill>
            <a:schemeClr val="tx1"/>
          </a:solidFill>
          <a:ln w="9525">
            <a:solidFill>
              <a:schemeClr val="bg2"/>
            </a:solidFill>
            <a:prstDash val="solid"/>
          </a:ln>
        </p:spPr>
      </p:sp>
      <p:sp>
        <p:nvSpPr>
          <p:cNvPr id="6" name="Shape 4"/>
          <p:cNvSpPr/>
          <p:nvPr/>
        </p:nvSpPr>
        <p:spPr>
          <a:xfrm>
            <a:off x="2103120" y="1417320"/>
            <a:ext cx="457200" cy="457200"/>
          </a:xfrm>
          <a:prstGeom prst="rect">
            <a:avLst/>
          </a:prstGeom>
          <a:solidFill>
            <a:schemeClr val="tx1"/>
          </a:solidFill>
          <a:ln w="9525">
            <a:solidFill>
              <a:schemeClr val="bg2"/>
            </a:solidFill>
            <a:prstDash val="solid"/>
          </a:ln>
        </p:spPr>
      </p:sp>
      <p:sp>
        <p:nvSpPr>
          <p:cNvPr id="7" name="Shape 5"/>
          <p:cNvSpPr/>
          <p:nvPr/>
        </p:nvSpPr>
        <p:spPr>
          <a:xfrm>
            <a:off x="2560320" y="1417320"/>
            <a:ext cx="457200" cy="457200"/>
          </a:xfrm>
          <a:prstGeom prst="rect">
            <a:avLst/>
          </a:prstGeom>
          <a:solidFill>
            <a:schemeClr val="tx1"/>
          </a:solidFill>
          <a:ln w="9525">
            <a:solidFill>
              <a:schemeClr val="bg2"/>
            </a:solidFill>
            <a:prstDash val="solid"/>
          </a:ln>
        </p:spPr>
      </p:sp>
      <p:sp>
        <p:nvSpPr>
          <p:cNvPr id="8" name="Shape 6"/>
          <p:cNvSpPr/>
          <p:nvPr/>
        </p:nvSpPr>
        <p:spPr>
          <a:xfrm>
            <a:off x="3017520" y="1417320"/>
            <a:ext cx="457200" cy="457200"/>
          </a:xfrm>
          <a:prstGeom prst="rect">
            <a:avLst/>
          </a:prstGeom>
          <a:solidFill>
            <a:schemeClr val="tx1"/>
          </a:solidFill>
          <a:ln w="9525">
            <a:solidFill>
              <a:schemeClr val="bg2"/>
            </a:solidFill>
            <a:prstDash val="solid"/>
          </a:ln>
        </p:spPr>
      </p:sp>
      <p:sp>
        <p:nvSpPr>
          <p:cNvPr id="9" name="Shape 7"/>
          <p:cNvSpPr/>
          <p:nvPr/>
        </p:nvSpPr>
        <p:spPr>
          <a:xfrm>
            <a:off x="3474720" y="1417320"/>
            <a:ext cx="457200" cy="457200"/>
          </a:xfrm>
          <a:prstGeom prst="rect">
            <a:avLst/>
          </a:prstGeom>
          <a:solidFill>
            <a:schemeClr val="tx1"/>
          </a:solidFill>
          <a:ln w="9525">
            <a:solidFill>
              <a:schemeClr val="bg2"/>
            </a:solidFill>
            <a:prstDash val="solid"/>
          </a:ln>
        </p:spPr>
      </p:sp>
      <p:sp>
        <p:nvSpPr>
          <p:cNvPr id="10" name="Shape 8"/>
          <p:cNvSpPr/>
          <p:nvPr/>
        </p:nvSpPr>
        <p:spPr>
          <a:xfrm>
            <a:off x="3931920" y="1417320"/>
            <a:ext cx="457200" cy="457200"/>
          </a:xfrm>
          <a:prstGeom prst="rect">
            <a:avLst/>
          </a:prstGeom>
          <a:solidFill>
            <a:schemeClr val="tx1"/>
          </a:solidFill>
          <a:ln w="9525">
            <a:solidFill>
              <a:schemeClr val="bg2"/>
            </a:solidFill>
            <a:prstDash val="solid"/>
          </a:ln>
        </p:spPr>
      </p:sp>
      <p:sp>
        <p:nvSpPr>
          <p:cNvPr id="11" name="Shape 9"/>
          <p:cNvSpPr/>
          <p:nvPr/>
        </p:nvSpPr>
        <p:spPr>
          <a:xfrm>
            <a:off x="4389120" y="1417320"/>
            <a:ext cx="457200" cy="457200"/>
          </a:xfrm>
          <a:prstGeom prst="rect">
            <a:avLst/>
          </a:prstGeom>
          <a:solidFill>
            <a:schemeClr val="tx1"/>
          </a:solidFill>
          <a:ln w="9525">
            <a:solidFill>
              <a:schemeClr val="bg2"/>
            </a:solidFill>
            <a:prstDash val="solid"/>
          </a:ln>
        </p:spPr>
      </p:sp>
      <p:sp>
        <p:nvSpPr>
          <p:cNvPr id="12" name="Shape 10"/>
          <p:cNvSpPr/>
          <p:nvPr/>
        </p:nvSpPr>
        <p:spPr>
          <a:xfrm>
            <a:off x="731520" y="1874520"/>
            <a:ext cx="457200" cy="457200"/>
          </a:xfrm>
          <a:prstGeom prst="rect">
            <a:avLst/>
          </a:prstGeom>
          <a:solidFill>
            <a:schemeClr val="tx1"/>
          </a:solidFill>
          <a:ln w="9525">
            <a:solidFill>
              <a:schemeClr val="bg2"/>
            </a:solidFill>
            <a:prstDash val="solid"/>
          </a:ln>
        </p:spPr>
      </p:sp>
      <p:sp>
        <p:nvSpPr>
          <p:cNvPr id="13" name="Shape 11"/>
          <p:cNvSpPr/>
          <p:nvPr/>
        </p:nvSpPr>
        <p:spPr>
          <a:xfrm>
            <a:off x="1188720" y="1874520"/>
            <a:ext cx="457200" cy="457200"/>
          </a:xfrm>
          <a:prstGeom prst="rect">
            <a:avLst/>
          </a:prstGeom>
          <a:solidFill>
            <a:srgbClr val="C0392B"/>
          </a:solidFill>
          <a:ln w="12700">
            <a:solidFill>
              <a:schemeClr val="bg2"/>
            </a:solidFill>
            <a:prstDash val="solid"/>
          </a:ln>
        </p:spPr>
      </p:sp>
      <p:sp>
        <p:nvSpPr>
          <p:cNvPr id="14" name="Text 12"/>
          <p:cNvSpPr/>
          <p:nvPr/>
        </p:nvSpPr>
        <p:spPr>
          <a:xfrm>
            <a:off x="1188720" y="1874520"/>
            <a:ext cx="457200" cy="45720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5" name="Shape 13"/>
          <p:cNvSpPr/>
          <p:nvPr/>
        </p:nvSpPr>
        <p:spPr>
          <a:xfrm>
            <a:off x="1645920" y="1874520"/>
            <a:ext cx="457200" cy="457200"/>
          </a:xfrm>
          <a:prstGeom prst="rect">
            <a:avLst/>
          </a:prstGeom>
          <a:solidFill>
            <a:schemeClr val="bg2"/>
          </a:solidFill>
          <a:ln w="12700">
            <a:solidFill>
              <a:schemeClr val="bg2"/>
            </a:solidFill>
            <a:prstDash val="solid"/>
          </a:ln>
        </p:spPr>
      </p:sp>
      <p:sp>
        <p:nvSpPr>
          <p:cNvPr id="16" name="Shape 14"/>
          <p:cNvSpPr/>
          <p:nvPr/>
        </p:nvSpPr>
        <p:spPr>
          <a:xfrm>
            <a:off x="2103120" y="1874520"/>
            <a:ext cx="457200" cy="457200"/>
          </a:xfrm>
          <a:prstGeom prst="rect">
            <a:avLst/>
          </a:prstGeom>
          <a:solidFill>
            <a:srgbClr val="C0392B"/>
          </a:solidFill>
          <a:ln w="12700">
            <a:solidFill>
              <a:schemeClr val="bg2"/>
            </a:solidFill>
            <a:prstDash val="solid"/>
          </a:ln>
        </p:spPr>
      </p:sp>
      <p:sp>
        <p:nvSpPr>
          <p:cNvPr id="17" name="Text 15"/>
          <p:cNvSpPr/>
          <p:nvPr/>
        </p:nvSpPr>
        <p:spPr>
          <a:xfrm>
            <a:off x="2103120" y="1874520"/>
            <a:ext cx="457200" cy="45720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8" name="Shape 16"/>
          <p:cNvSpPr/>
          <p:nvPr/>
        </p:nvSpPr>
        <p:spPr>
          <a:xfrm>
            <a:off x="2560320" y="1874520"/>
            <a:ext cx="457200" cy="457200"/>
          </a:xfrm>
          <a:prstGeom prst="rect">
            <a:avLst/>
          </a:prstGeom>
          <a:solidFill>
            <a:schemeClr val="tx1"/>
          </a:solidFill>
          <a:ln w="9525">
            <a:solidFill>
              <a:schemeClr val="bg2"/>
            </a:solidFill>
            <a:prstDash val="solid"/>
          </a:ln>
        </p:spPr>
      </p:sp>
      <p:sp>
        <p:nvSpPr>
          <p:cNvPr id="19" name="Shape 17"/>
          <p:cNvSpPr/>
          <p:nvPr/>
        </p:nvSpPr>
        <p:spPr>
          <a:xfrm>
            <a:off x="3017520" y="1874520"/>
            <a:ext cx="457200" cy="457200"/>
          </a:xfrm>
          <a:prstGeom prst="rect">
            <a:avLst/>
          </a:prstGeom>
          <a:solidFill>
            <a:srgbClr val="C0392B"/>
          </a:solidFill>
          <a:ln w="12700">
            <a:solidFill>
              <a:schemeClr val="bg2"/>
            </a:solidFill>
            <a:prstDash val="solid"/>
          </a:ln>
        </p:spPr>
      </p:sp>
      <p:sp>
        <p:nvSpPr>
          <p:cNvPr id="20" name="Text 18"/>
          <p:cNvSpPr/>
          <p:nvPr/>
        </p:nvSpPr>
        <p:spPr>
          <a:xfrm>
            <a:off x="3017520" y="1874520"/>
            <a:ext cx="457200" cy="45720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21" name="Shape 19"/>
          <p:cNvSpPr/>
          <p:nvPr/>
        </p:nvSpPr>
        <p:spPr>
          <a:xfrm>
            <a:off x="3474720" y="1874520"/>
            <a:ext cx="457200" cy="457200"/>
          </a:xfrm>
          <a:prstGeom prst="rect">
            <a:avLst/>
          </a:prstGeom>
          <a:solidFill>
            <a:schemeClr val="bg2"/>
          </a:solidFill>
          <a:ln w="12700">
            <a:solidFill>
              <a:schemeClr val="bg2"/>
            </a:solidFill>
            <a:prstDash val="solid"/>
          </a:ln>
        </p:spPr>
      </p:sp>
      <p:sp>
        <p:nvSpPr>
          <p:cNvPr id="22" name="Shape 20"/>
          <p:cNvSpPr/>
          <p:nvPr/>
        </p:nvSpPr>
        <p:spPr>
          <a:xfrm>
            <a:off x="3931920" y="1874520"/>
            <a:ext cx="457200" cy="457200"/>
          </a:xfrm>
          <a:prstGeom prst="rect">
            <a:avLst/>
          </a:prstGeom>
          <a:solidFill>
            <a:srgbClr val="C0392B"/>
          </a:solidFill>
          <a:ln w="12700">
            <a:solidFill>
              <a:schemeClr val="bg2"/>
            </a:solidFill>
            <a:prstDash val="solid"/>
          </a:ln>
        </p:spPr>
      </p:sp>
      <p:sp>
        <p:nvSpPr>
          <p:cNvPr id="23" name="Text 21"/>
          <p:cNvSpPr/>
          <p:nvPr/>
        </p:nvSpPr>
        <p:spPr>
          <a:xfrm>
            <a:off x="3931920" y="1874520"/>
            <a:ext cx="457200" cy="45720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24" name="Shape 22"/>
          <p:cNvSpPr/>
          <p:nvPr/>
        </p:nvSpPr>
        <p:spPr>
          <a:xfrm>
            <a:off x="4389120" y="1874520"/>
            <a:ext cx="457200" cy="457200"/>
          </a:xfrm>
          <a:prstGeom prst="rect">
            <a:avLst/>
          </a:prstGeom>
          <a:solidFill>
            <a:schemeClr val="tx1"/>
          </a:solidFill>
          <a:ln w="9525">
            <a:solidFill>
              <a:schemeClr val="bg2"/>
            </a:solidFill>
            <a:prstDash val="solid"/>
          </a:ln>
        </p:spPr>
      </p:sp>
      <p:sp>
        <p:nvSpPr>
          <p:cNvPr id="25" name="Shape 23"/>
          <p:cNvSpPr/>
          <p:nvPr/>
        </p:nvSpPr>
        <p:spPr>
          <a:xfrm>
            <a:off x="731520" y="2331720"/>
            <a:ext cx="457200" cy="457200"/>
          </a:xfrm>
          <a:prstGeom prst="rect">
            <a:avLst/>
          </a:prstGeom>
          <a:solidFill>
            <a:schemeClr val="tx1"/>
          </a:solidFill>
          <a:ln w="9525">
            <a:solidFill>
              <a:schemeClr val="bg2"/>
            </a:solidFill>
            <a:prstDash val="solid"/>
          </a:ln>
        </p:spPr>
      </p:sp>
      <p:sp>
        <p:nvSpPr>
          <p:cNvPr id="26" name="Shape 24"/>
          <p:cNvSpPr/>
          <p:nvPr/>
        </p:nvSpPr>
        <p:spPr>
          <a:xfrm>
            <a:off x="1188720" y="2331720"/>
            <a:ext cx="457200" cy="457200"/>
          </a:xfrm>
          <a:prstGeom prst="rect">
            <a:avLst/>
          </a:prstGeom>
          <a:solidFill>
            <a:schemeClr val="bg2"/>
          </a:solidFill>
          <a:ln w="12700">
            <a:solidFill>
              <a:schemeClr val="bg2"/>
            </a:solidFill>
            <a:prstDash val="solid"/>
          </a:ln>
        </p:spPr>
      </p:sp>
      <p:sp>
        <p:nvSpPr>
          <p:cNvPr id="27" name="Shape 25"/>
          <p:cNvSpPr/>
          <p:nvPr/>
        </p:nvSpPr>
        <p:spPr>
          <a:xfrm>
            <a:off x="1645920" y="2331720"/>
            <a:ext cx="457200" cy="457200"/>
          </a:xfrm>
          <a:prstGeom prst="rect">
            <a:avLst/>
          </a:prstGeom>
          <a:solidFill>
            <a:schemeClr val="bg2"/>
          </a:solidFill>
          <a:ln w="12700">
            <a:solidFill>
              <a:schemeClr val="bg2"/>
            </a:solidFill>
            <a:prstDash val="solid"/>
          </a:ln>
        </p:spPr>
      </p:sp>
      <p:sp>
        <p:nvSpPr>
          <p:cNvPr id="28" name="Shape 26"/>
          <p:cNvSpPr/>
          <p:nvPr/>
        </p:nvSpPr>
        <p:spPr>
          <a:xfrm>
            <a:off x="1705356" y="2391156"/>
            <a:ext cx="338328" cy="338328"/>
          </a:xfrm>
          <a:prstGeom prst="roundRect">
            <a:avLst>
              <a:gd name="adj" fmla="val 18000"/>
            </a:avLst>
          </a:prstGeom>
          <a:solidFill>
            <a:schemeClr val="accent2"/>
          </a:solidFill>
          <a:ln w="12700">
            <a:solidFill>
              <a:schemeClr val="accent2"/>
            </a:solidFill>
            <a:prstDash val="solid"/>
          </a:ln>
        </p:spPr>
      </p:sp>
      <p:sp>
        <p:nvSpPr>
          <p:cNvPr id="29" name="Shape 27"/>
          <p:cNvSpPr/>
          <p:nvPr/>
        </p:nvSpPr>
        <p:spPr>
          <a:xfrm>
            <a:off x="2103120" y="2331720"/>
            <a:ext cx="457200" cy="457200"/>
          </a:xfrm>
          <a:prstGeom prst="rect">
            <a:avLst/>
          </a:prstGeom>
          <a:solidFill>
            <a:schemeClr val="bg2"/>
          </a:solidFill>
          <a:ln w="12700">
            <a:solidFill>
              <a:schemeClr val="bg2"/>
            </a:solidFill>
            <a:prstDash val="solid"/>
          </a:ln>
        </p:spPr>
      </p:sp>
      <p:sp>
        <p:nvSpPr>
          <p:cNvPr id="30" name="Shape 28"/>
          <p:cNvSpPr/>
          <p:nvPr/>
        </p:nvSpPr>
        <p:spPr>
          <a:xfrm>
            <a:off x="2560320" y="2331720"/>
            <a:ext cx="457200" cy="457200"/>
          </a:xfrm>
          <a:prstGeom prst="rect">
            <a:avLst/>
          </a:prstGeom>
          <a:solidFill>
            <a:schemeClr val="bg2"/>
          </a:solidFill>
          <a:ln w="12700">
            <a:solidFill>
              <a:schemeClr val="bg2"/>
            </a:solidFill>
            <a:prstDash val="solid"/>
          </a:ln>
        </p:spPr>
      </p:sp>
      <p:sp>
        <p:nvSpPr>
          <p:cNvPr id="31" name="Shape 29"/>
          <p:cNvSpPr/>
          <p:nvPr/>
        </p:nvSpPr>
        <p:spPr>
          <a:xfrm>
            <a:off x="3017520" y="2331720"/>
            <a:ext cx="457200" cy="457200"/>
          </a:xfrm>
          <a:prstGeom prst="rect">
            <a:avLst/>
          </a:prstGeom>
          <a:solidFill>
            <a:schemeClr val="bg2"/>
          </a:solidFill>
          <a:ln w="12700">
            <a:solidFill>
              <a:schemeClr val="bg2"/>
            </a:solidFill>
            <a:prstDash val="solid"/>
          </a:ln>
        </p:spPr>
      </p:sp>
      <p:sp>
        <p:nvSpPr>
          <p:cNvPr id="32" name="Shape 30"/>
          <p:cNvSpPr/>
          <p:nvPr/>
        </p:nvSpPr>
        <p:spPr>
          <a:xfrm>
            <a:off x="3474720" y="2331720"/>
            <a:ext cx="457200" cy="457200"/>
          </a:xfrm>
          <a:prstGeom prst="rect">
            <a:avLst/>
          </a:prstGeom>
          <a:solidFill>
            <a:schemeClr val="bg2"/>
          </a:solidFill>
          <a:ln w="12700">
            <a:solidFill>
              <a:schemeClr val="bg2"/>
            </a:solidFill>
            <a:prstDash val="solid"/>
          </a:ln>
        </p:spPr>
      </p:sp>
      <p:sp>
        <p:nvSpPr>
          <p:cNvPr id="33" name="Shape 31"/>
          <p:cNvSpPr/>
          <p:nvPr/>
        </p:nvSpPr>
        <p:spPr>
          <a:xfrm>
            <a:off x="3534156" y="2391156"/>
            <a:ext cx="338328" cy="338328"/>
          </a:xfrm>
          <a:prstGeom prst="roundRect">
            <a:avLst>
              <a:gd name="adj" fmla="val 18000"/>
            </a:avLst>
          </a:prstGeom>
          <a:solidFill>
            <a:schemeClr val="accent2"/>
          </a:solidFill>
          <a:ln w="12700">
            <a:solidFill>
              <a:schemeClr val="accent2"/>
            </a:solidFill>
            <a:prstDash val="solid"/>
          </a:ln>
        </p:spPr>
      </p:sp>
      <p:sp>
        <p:nvSpPr>
          <p:cNvPr id="34" name="Shape 32"/>
          <p:cNvSpPr/>
          <p:nvPr/>
        </p:nvSpPr>
        <p:spPr>
          <a:xfrm>
            <a:off x="3931920" y="2331720"/>
            <a:ext cx="457200" cy="457200"/>
          </a:xfrm>
          <a:prstGeom prst="rect">
            <a:avLst/>
          </a:prstGeom>
          <a:solidFill>
            <a:schemeClr val="bg2"/>
          </a:solidFill>
          <a:ln w="12700">
            <a:solidFill>
              <a:schemeClr val="bg2"/>
            </a:solidFill>
            <a:prstDash val="solid"/>
          </a:ln>
        </p:spPr>
      </p:sp>
      <p:sp>
        <p:nvSpPr>
          <p:cNvPr id="35" name="Shape 33"/>
          <p:cNvSpPr/>
          <p:nvPr/>
        </p:nvSpPr>
        <p:spPr>
          <a:xfrm>
            <a:off x="4389120" y="2331720"/>
            <a:ext cx="457200" cy="457200"/>
          </a:xfrm>
          <a:prstGeom prst="rect">
            <a:avLst/>
          </a:prstGeom>
          <a:solidFill>
            <a:schemeClr val="tx1"/>
          </a:solidFill>
          <a:ln w="9525">
            <a:solidFill>
              <a:schemeClr val="bg2"/>
            </a:solidFill>
            <a:prstDash val="solid"/>
          </a:ln>
        </p:spPr>
      </p:sp>
      <p:sp>
        <p:nvSpPr>
          <p:cNvPr id="36" name="Shape 34"/>
          <p:cNvSpPr/>
          <p:nvPr/>
        </p:nvSpPr>
        <p:spPr>
          <a:xfrm>
            <a:off x="731520" y="2788920"/>
            <a:ext cx="457200" cy="457200"/>
          </a:xfrm>
          <a:prstGeom prst="rect">
            <a:avLst/>
          </a:prstGeom>
          <a:solidFill>
            <a:schemeClr val="tx1"/>
          </a:solidFill>
          <a:ln w="9525">
            <a:solidFill>
              <a:schemeClr val="bg2"/>
            </a:solidFill>
            <a:prstDash val="solid"/>
          </a:ln>
        </p:spPr>
      </p:sp>
      <p:sp>
        <p:nvSpPr>
          <p:cNvPr id="37" name="Shape 35"/>
          <p:cNvSpPr/>
          <p:nvPr/>
        </p:nvSpPr>
        <p:spPr>
          <a:xfrm>
            <a:off x="1188720" y="2788920"/>
            <a:ext cx="457200" cy="457200"/>
          </a:xfrm>
          <a:prstGeom prst="rect">
            <a:avLst/>
          </a:prstGeom>
          <a:solidFill>
            <a:schemeClr val="bg2"/>
          </a:solidFill>
          <a:ln w="12700">
            <a:solidFill>
              <a:schemeClr val="bg2"/>
            </a:solidFill>
            <a:prstDash val="solid"/>
          </a:ln>
        </p:spPr>
      </p:sp>
      <p:sp>
        <p:nvSpPr>
          <p:cNvPr id="38" name="Shape 36"/>
          <p:cNvSpPr/>
          <p:nvPr/>
        </p:nvSpPr>
        <p:spPr>
          <a:xfrm>
            <a:off x="1645920" y="2788920"/>
            <a:ext cx="457200" cy="457200"/>
          </a:xfrm>
          <a:prstGeom prst="rect">
            <a:avLst/>
          </a:prstGeom>
          <a:solidFill>
            <a:schemeClr val="bg2"/>
          </a:solidFill>
          <a:ln w="12700">
            <a:solidFill>
              <a:schemeClr val="bg2"/>
            </a:solidFill>
            <a:prstDash val="solid"/>
          </a:ln>
        </p:spPr>
      </p:sp>
      <p:sp>
        <p:nvSpPr>
          <p:cNvPr id="39" name="Shape 37"/>
          <p:cNvSpPr/>
          <p:nvPr/>
        </p:nvSpPr>
        <p:spPr>
          <a:xfrm>
            <a:off x="2103120" y="2788920"/>
            <a:ext cx="457200" cy="457200"/>
          </a:xfrm>
          <a:prstGeom prst="rect">
            <a:avLst/>
          </a:prstGeom>
          <a:solidFill>
            <a:schemeClr val="tx1"/>
          </a:solidFill>
          <a:ln w="9525">
            <a:solidFill>
              <a:schemeClr val="bg2"/>
            </a:solidFill>
            <a:prstDash val="solid"/>
          </a:ln>
        </p:spPr>
      </p:sp>
      <p:sp>
        <p:nvSpPr>
          <p:cNvPr id="40" name="Shape 38"/>
          <p:cNvSpPr/>
          <p:nvPr/>
        </p:nvSpPr>
        <p:spPr>
          <a:xfrm>
            <a:off x="2560320" y="2788920"/>
            <a:ext cx="457200" cy="457200"/>
          </a:xfrm>
          <a:prstGeom prst="rect">
            <a:avLst/>
          </a:prstGeom>
          <a:solidFill>
            <a:schemeClr val="tx1"/>
          </a:solidFill>
          <a:ln w="9525">
            <a:solidFill>
              <a:schemeClr val="bg2"/>
            </a:solidFill>
            <a:prstDash val="solid"/>
          </a:ln>
        </p:spPr>
      </p:sp>
      <p:sp>
        <p:nvSpPr>
          <p:cNvPr id="41" name="Shape 39"/>
          <p:cNvSpPr/>
          <p:nvPr/>
        </p:nvSpPr>
        <p:spPr>
          <a:xfrm>
            <a:off x="3017520" y="2788920"/>
            <a:ext cx="457200" cy="457200"/>
          </a:xfrm>
          <a:prstGeom prst="rect">
            <a:avLst/>
          </a:prstGeom>
          <a:solidFill>
            <a:schemeClr val="bg2"/>
          </a:solidFill>
          <a:ln w="12700">
            <a:solidFill>
              <a:schemeClr val="bg2"/>
            </a:solidFill>
            <a:prstDash val="solid"/>
          </a:ln>
        </p:spPr>
      </p:sp>
      <p:sp>
        <p:nvSpPr>
          <p:cNvPr id="42" name="Shape 40"/>
          <p:cNvSpPr/>
          <p:nvPr/>
        </p:nvSpPr>
        <p:spPr>
          <a:xfrm>
            <a:off x="3150108" y="2921508"/>
            <a:ext cx="192024" cy="192024"/>
          </a:xfrm>
          <a:prstGeom prst="ellipse">
            <a:avLst/>
          </a:prstGeom>
          <a:solidFill>
            <a:schemeClr val="bg2"/>
          </a:solidFill>
          <a:ln w="25400">
            <a:solidFill>
              <a:schemeClr val="accent1"/>
            </a:solidFill>
            <a:prstDash val="solid"/>
          </a:ln>
        </p:spPr>
      </p:sp>
      <p:sp>
        <p:nvSpPr>
          <p:cNvPr id="43" name="Shape 41"/>
          <p:cNvSpPr/>
          <p:nvPr/>
        </p:nvSpPr>
        <p:spPr>
          <a:xfrm>
            <a:off x="3474720" y="2788920"/>
            <a:ext cx="457200" cy="457200"/>
          </a:xfrm>
          <a:prstGeom prst="rect">
            <a:avLst/>
          </a:prstGeom>
          <a:solidFill>
            <a:schemeClr val="bg2"/>
          </a:solidFill>
          <a:ln w="12700">
            <a:solidFill>
              <a:schemeClr val="bg2"/>
            </a:solidFill>
            <a:prstDash val="solid"/>
          </a:ln>
        </p:spPr>
      </p:sp>
      <p:sp>
        <p:nvSpPr>
          <p:cNvPr id="44" name="Shape 42"/>
          <p:cNvSpPr/>
          <p:nvPr/>
        </p:nvSpPr>
        <p:spPr>
          <a:xfrm>
            <a:off x="3931920" y="2788920"/>
            <a:ext cx="457200" cy="457200"/>
          </a:xfrm>
          <a:prstGeom prst="rect">
            <a:avLst/>
          </a:prstGeom>
          <a:solidFill>
            <a:schemeClr val="bg2"/>
          </a:solidFill>
          <a:ln w="12700">
            <a:solidFill>
              <a:schemeClr val="bg2"/>
            </a:solidFill>
            <a:prstDash val="solid"/>
          </a:ln>
        </p:spPr>
      </p:sp>
      <p:sp>
        <p:nvSpPr>
          <p:cNvPr id="45" name="Shape 43"/>
          <p:cNvSpPr/>
          <p:nvPr/>
        </p:nvSpPr>
        <p:spPr>
          <a:xfrm>
            <a:off x="4389120" y="2788920"/>
            <a:ext cx="457200" cy="457200"/>
          </a:xfrm>
          <a:prstGeom prst="rect">
            <a:avLst/>
          </a:prstGeom>
          <a:solidFill>
            <a:schemeClr val="tx1"/>
          </a:solidFill>
          <a:ln w="9525">
            <a:solidFill>
              <a:schemeClr val="bg2"/>
            </a:solidFill>
            <a:prstDash val="solid"/>
          </a:ln>
        </p:spPr>
      </p:sp>
      <p:sp>
        <p:nvSpPr>
          <p:cNvPr id="46" name="Shape 44"/>
          <p:cNvSpPr/>
          <p:nvPr/>
        </p:nvSpPr>
        <p:spPr>
          <a:xfrm>
            <a:off x="731520" y="3246120"/>
            <a:ext cx="457200" cy="457200"/>
          </a:xfrm>
          <a:prstGeom prst="rect">
            <a:avLst/>
          </a:prstGeom>
          <a:solidFill>
            <a:schemeClr val="tx1"/>
          </a:solidFill>
          <a:ln w="9525">
            <a:solidFill>
              <a:schemeClr val="bg2"/>
            </a:solidFill>
            <a:prstDash val="solid"/>
          </a:ln>
        </p:spPr>
      </p:sp>
      <p:sp>
        <p:nvSpPr>
          <p:cNvPr id="47" name="Shape 45"/>
          <p:cNvSpPr/>
          <p:nvPr/>
        </p:nvSpPr>
        <p:spPr>
          <a:xfrm>
            <a:off x="1188720" y="3246120"/>
            <a:ext cx="457200" cy="457200"/>
          </a:xfrm>
          <a:prstGeom prst="rect">
            <a:avLst/>
          </a:prstGeom>
          <a:solidFill>
            <a:schemeClr val="bg2"/>
          </a:solidFill>
          <a:ln w="12700">
            <a:solidFill>
              <a:schemeClr val="bg2"/>
            </a:solidFill>
            <a:prstDash val="solid"/>
          </a:ln>
        </p:spPr>
      </p:sp>
      <p:sp>
        <p:nvSpPr>
          <p:cNvPr id="48" name="Shape 46"/>
          <p:cNvSpPr/>
          <p:nvPr/>
        </p:nvSpPr>
        <p:spPr>
          <a:xfrm>
            <a:off x="1645920" y="3246120"/>
            <a:ext cx="457200" cy="457200"/>
          </a:xfrm>
          <a:prstGeom prst="rect">
            <a:avLst/>
          </a:prstGeom>
          <a:solidFill>
            <a:schemeClr val="bg2"/>
          </a:solidFill>
          <a:ln w="12700">
            <a:solidFill>
              <a:schemeClr val="bg2"/>
            </a:solidFill>
            <a:prstDash val="solid"/>
          </a:ln>
        </p:spPr>
      </p:sp>
      <p:sp>
        <p:nvSpPr>
          <p:cNvPr id="49" name="Shape 47"/>
          <p:cNvSpPr/>
          <p:nvPr/>
        </p:nvSpPr>
        <p:spPr>
          <a:xfrm>
            <a:off x="1778508" y="3378708"/>
            <a:ext cx="192024" cy="192024"/>
          </a:xfrm>
          <a:prstGeom prst="ellipse">
            <a:avLst/>
          </a:prstGeom>
          <a:solidFill>
            <a:schemeClr val="bg2"/>
          </a:solidFill>
          <a:ln w="25400">
            <a:solidFill>
              <a:schemeClr val="accent1"/>
            </a:solidFill>
            <a:prstDash val="solid"/>
          </a:ln>
        </p:spPr>
      </p:sp>
      <p:sp>
        <p:nvSpPr>
          <p:cNvPr id="50" name="Shape 48"/>
          <p:cNvSpPr/>
          <p:nvPr/>
        </p:nvSpPr>
        <p:spPr>
          <a:xfrm>
            <a:off x="2103120" y="3246120"/>
            <a:ext cx="457200" cy="457200"/>
          </a:xfrm>
          <a:prstGeom prst="rect">
            <a:avLst/>
          </a:prstGeom>
          <a:solidFill>
            <a:schemeClr val="bg2"/>
          </a:solidFill>
          <a:ln w="12700">
            <a:solidFill>
              <a:schemeClr val="bg2"/>
            </a:solidFill>
            <a:prstDash val="solid"/>
          </a:ln>
        </p:spPr>
      </p:sp>
      <p:sp>
        <p:nvSpPr>
          <p:cNvPr id="51" name="Shape 49"/>
          <p:cNvSpPr/>
          <p:nvPr/>
        </p:nvSpPr>
        <p:spPr>
          <a:xfrm>
            <a:off x="2560320" y="3246120"/>
            <a:ext cx="457200" cy="457200"/>
          </a:xfrm>
          <a:prstGeom prst="rect">
            <a:avLst/>
          </a:prstGeom>
          <a:solidFill>
            <a:schemeClr val="bg2"/>
          </a:solidFill>
          <a:ln w="12700">
            <a:solidFill>
              <a:schemeClr val="bg2"/>
            </a:solidFill>
            <a:prstDash val="solid"/>
          </a:ln>
        </p:spPr>
      </p:sp>
      <p:sp>
        <p:nvSpPr>
          <p:cNvPr id="52" name="Shape 50"/>
          <p:cNvSpPr/>
          <p:nvPr/>
        </p:nvSpPr>
        <p:spPr>
          <a:xfrm>
            <a:off x="2651760" y="3337560"/>
            <a:ext cx="274320" cy="274320"/>
          </a:xfrm>
          <a:prstGeom prst="ellipse">
            <a:avLst/>
          </a:prstGeom>
          <a:solidFill>
            <a:schemeClr val="accent3"/>
          </a:solidFill>
          <a:ln w="12700">
            <a:solidFill>
              <a:schemeClr val="accent3"/>
            </a:solidFill>
            <a:prstDash val="solid"/>
          </a:ln>
        </p:spPr>
      </p:sp>
      <p:sp>
        <p:nvSpPr>
          <p:cNvPr id="53" name="Shape 51"/>
          <p:cNvSpPr/>
          <p:nvPr/>
        </p:nvSpPr>
        <p:spPr>
          <a:xfrm>
            <a:off x="3017520" y="3246120"/>
            <a:ext cx="457200" cy="457200"/>
          </a:xfrm>
          <a:prstGeom prst="rect">
            <a:avLst/>
          </a:prstGeom>
          <a:solidFill>
            <a:schemeClr val="bg2"/>
          </a:solidFill>
          <a:ln w="12700">
            <a:solidFill>
              <a:schemeClr val="bg2"/>
            </a:solidFill>
            <a:prstDash val="solid"/>
          </a:ln>
        </p:spPr>
      </p:sp>
      <p:sp>
        <p:nvSpPr>
          <p:cNvPr id="54" name="Shape 52"/>
          <p:cNvSpPr/>
          <p:nvPr/>
        </p:nvSpPr>
        <p:spPr>
          <a:xfrm>
            <a:off x="3474720" y="3246120"/>
            <a:ext cx="457200" cy="457200"/>
          </a:xfrm>
          <a:prstGeom prst="rect">
            <a:avLst/>
          </a:prstGeom>
          <a:solidFill>
            <a:schemeClr val="bg2"/>
          </a:solidFill>
          <a:ln w="12700">
            <a:solidFill>
              <a:schemeClr val="bg2"/>
            </a:solidFill>
            <a:prstDash val="solid"/>
          </a:ln>
        </p:spPr>
      </p:sp>
      <p:sp>
        <p:nvSpPr>
          <p:cNvPr id="55" name="Shape 53"/>
          <p:cNvSpPr/>
          <p:nvPr/>
        </p:nvSpPr>
        <p:spPr>
          <a:xfrm>
            <a:off x="3607308" y="3378708"/>
            <a:ext cx="192024" cy="192024"/>
          </a:xfrm>
          <a:prstGeom prst="ellipse">
            <a:avLst/>
          </a:prstGeom>
          <a:solidFill>
            <a:schemeClr val="bg2"/>
          </a:solidFill>
          <a:ln w="25400">
            <a:solidFill>
              <a:schemeClr val="accent1"/>
            </a:solidFill>
            <a:prstDash val="solid"/>
          </a:ln>
        </p:spPr>
      </p:sp>
      <p:sp>
        <p:nvSpPr>
          <p:cNvPr id="56" name="Shape 54"/>
          <p:cNvSpPr/>
          <p:nvPr/>
        </p:nvSpPr>
        <p:spPr>
          <a:xfrm>
            <a:off x="3931920" y="3246120"/>
            <a:ext cx="457200" cy="457200"/>
          </a:xfrm>
          <a:prstGeom prst="rect">
            <a:avLst/>
          </a:prstGeom>
          <a:solidFill>
            <a:schemeClr val="bg2"/>
          </a:solidFill>
          <a:ln w="12700">
            <a:solidFill>
              <a:schemeClr val="bg2"/>
            </a:solidFill>
            <a:prstDash val="solid"/>
          </a:ln>
        </p:spPr>
      </p:sp>
      <p:sp>
        <p:nvSpPr>
          <p:cNvPr id="57" name="Shape 55"/>
          <p:cNvSpPr/>
          <p:nvPr/>
        </p:nvSpPr>
        <p:spPr>
          <a:xfrm>
            <a:off x="4389120" y="3246120"/>
            <a:ext cx="457200" cy="457200"/>
          </a:xfrm>
          <a:prstGeom prst="rect">
            <a:avLst/>
          </a:prstGeom>
          <a:solidFill>
            <a:schemeClr val="tx1"/>
          </a:solidFill>
          <a:ln w="9525">
            <a:solidFill>
              <a:schemeClr val="bg2"/>
            </a:solidFill>
            <a:prstDash val="solid"/>
          </a:ln>
        </p:spPr>
      </p:sp>
      <p:sp>
        <p:nvSpPr>
          <p:cNvPr id="58" name="Shape 56"/>
          <p:cNvSpPr/>
          <p:nvPr/>
        </p:nvSpPr>
        <p:spPr>
          <a:xfrm>
            <a:off x="731520" y="3703320"/>
            <a:ext cx="457200" cy="457200"/>
          </a:xfrm>
          <a:prstGeom prst="rect">
            <a:avLst/>
          </a:prstGeom>
          <a:solidFill>
            <a:schemeClr val="tx1"/>
          </a:solidFill>
          <a:ln w="9525">
            <a:solidFill>
              <a:schemeClr val="bg2"/>
            </a:solidFill>
            <a:prstDash val="solid"/>
          </a:ln>
        </p:spPr>
      </p:sp>
      <p:sp>
        <p:nvSpPr>
          <p:cNvPr id="59" name="Shape 57"/>
          <p:cNvSpPr/>
          <p:nvPr/>
        </p:nvSpPr>
        <p:spPr>
          <a:xfrm>
            <a:off x="1188720" y="3703320"/>
            <a:ext cx="457200" cy="457200"/>
          </a:xfrm>
          <a:prstGeom prst="rect">
            <a:avLst/>
          </a:prstGeom>
          <a:solidFill>
            <a:schemeClr val="bg2"/>
          </a:solidFill>
          <a:ln w="12700">
            <a:solidFill>
              <a:schemeClr val="bg2"/>
            </a:solidFill>
            <a:prstDash val="solid"/>
          </a:ln>
        </p:spPr>
      </p:sp>
      <p:sp>
        <p:nvSpPr>
          <p:cNvPr id="60" name="Shape 58"/>
          <p:cNvSpPr/>
          <p:nvPr/>
        </p:nvSpPr>
        <p:spPr>
          <a:xfrm>
            <a:off x="1645920" y="3703320"/>
            <a:ext cx="457200" cy="457200"/>
          </a:xfrm>
          <a:prstGeom prst="rect">
            <a:avLst/>
          </a:prstGeom>
          <a:solidFill>
            <a:schemeClr val="bg2"/>
          </a:solidFill>
          <a:ln w="12700">
            <a:solidFill>
              <a:schemeClr val="bg2"/>
            </a:solidFill>
            <a:prstDash val="solid"/>
          </a:ln>
        </p:spPr>
      </p:sp>
      <p:sp>
        <p:nvSpPr>
          <p:cNvPr id="61" name="Shape 59"/>
          <p:cNvSpPr/>
          <p:nvPr/>
        </p:nvSpPr>
        <p:spPr>
          <a:xfrm>
            <a:off x="2103120" y="3703320"/>
            <a:ext cx="457200" cy="457200"/>
          </a:xfrm>
          <a:prstGeom prst="rect">
            <a:avLst/>
          </a:prstGeom>
          <a:solidFill>
            <a:schemeClr val="bg2"/>
          </a:solidFill>
          <a:ln w="12700">
            <a:solidFill>
              <a:schemeClr val="bg2"/>
            </a:solidFill>
            <a:prstDash val="solid"/>
          </a:ln>
        </p:spPr>
      </p:sp>
      <p:sp>
        <p:nvSpPr>
          <p:cNvPr id="62" name="Shape 60"/>
          <p:cNvSpPr/>
          <p:nvPr/>
        </p:nvSpPr>
        <p:spPr>
          <a:xfrm>
            <a:off x="2162556" y="3762756"/>
            <a:ext cx="338328" cy="338328"/>
          </a:xfrm>
          <a:prstGeom prst="roundRect">
            <a:avLst>
              <a:gd name="adj" fmla="val 18000"/>
            </a:avLst>
          </a:prstGeom>
          <a:solidFill>
            <a:schemeClr val="accent2"/>
          </a:solidFill>
          <a:ln w="12700">
            <a:solidFill>
              <a:schemeClr val="accent2"/>
            </a:solidFill>
            <a:prstDash val="solid"/>
          </a:ln>
        </p:spPr>
      </p:sp>
      <p:sp>
        <p:nvSpPr>
          <p:cNvPr id="63" name="Shape 61"/>
          <p:cNvSpPr/>
          <p:nvPr/>
        </p:nvSpPr>
        <p:spPr>
          <a:xfrm>
            <a:off x="2560320" y="3703320"/>
            <a:ext cx="457200" cy="457200"/>
          </a:xfrm>
          <a:prstGeom prst="rect">
            <a:avLst/>
          </a:prstGeom>
          <a:solidFill>
            <a:schemeClr val="tx1"/>
          </a:solidFill>
          <a:ln w="9525">
            <a:solidFill>
              <a:schemeClr val="bg2"/>
            </a:solidFill>
            <a:prstDash val="solid"/>
          </a:ln>
        </p:spPr>
      </p:sp>
      <p:sp>
        <p:nvSpPr>
          <p:cNvPr id="64" name="Shape 62"/>
          <p:cNvSpPr/>
          <p:nvPr/>
        </p:nvSpPr>
        <p:spPr>
          <a:xfrm>
            <a:off x="3017520" y="3703320"/>
            <a:ext cx="457200" cy="457200"/>
          </a:xfrm>
          <a:prstGeom prst="rect">
            <a:avLst/>
          </a:prstGeom>
          <a:solidFill>
            <a:schemeClr val="tx1"/>
          </a:solidFill>
          <a:ln w="9525">
            <a:solidFill>
              <a:schemeClr val="bg2"/>
            </a:solidFill>
            <a:prstDash val="solid"/>
          </a:ln>
        </p:spPr>
      </p:sp>
      <p:sp>
        <p:nvSpPr>
          <p:cNvPr id="65" name="Shape 63"/>
          <p:cNvSpPr/>
          <p:nvPr/>
        </p:nvSpPr>
        <p:spPr>
          <a:xfrm>
            <a:off x="3474720" y="3703320"/>
            <a:ext cx="457200" cy="457200"/>
          </a:xfrm>
          <a:prstGeom prst="rect">
            <a:avLst/>
          </a:prstGeom>
          <a:solidFill>
            <a:schemeClr val="bg2"/>
          </a:solidFill>
          <a:ln w="12700">
            <a:solidFill>
              <a:schemeClr val="bg2"/>
            </a:solidFill>
            <a:prstDash val="solid"/>
          </a:ln>
        </p:spPr>
      </p:sp>
      <p:sp>
        <p:nvSpPr>
          <p:cNvPr id="66" name="Shape 64"/>
          <p:cNvSpPr/>
          <p:nvPr/>
        </p:nvSpPr>
        <p:spPr>
          <a:xfrm>
            <a:off x="3931920" y="3703320"/>
            <a:ext cx="457200" cy="457200"/>
          </a:xfrm>
          <a:prstGeom prst="rect">
            <a:avLst/>
          </a:prstGeom>
          <a:solidFill>
            <a:schemeClr val="bg2"/>
          </a:solidFill>
          <a:ln w="12700">
            <a:solidFill>
              <a:schemeClr val="bg2"/>
            </a:solidFill>
            <a:prstDash val="solid"/>
          </a:ln>
        </p:spPr>
      </p:sp>
      <p:sp>
        <p:nvSpPr>
          <p:cNvPr id="67" name="Shape 65"/>
          <p:cNvSpPr/>
          <p:nvPr/>
        </p:nvSpPr>
        <p:spPr>
          <a:xfrm>
            <a:off x="4389120" y="3703320"/>
            <a:ext cx="457200" cy="457200"/>
          </a:xfrm>
          <a:prstGeom prst="rect">
            <a:avLst/>
          </a:prstGeom>
          <a:solidFill>
            <a:schemeClr val="tx1"/>
          </a:solidFill>
          <a:ln w="9525">
            <a:solidFill>
              <a:schemeClr val="bg2"/>
            </a:solidFill>
            <a:prstDash val="solid"/>
          </a:ln>
        </p:spPr>
      </p:sp>
      <p:sp>
        <p:nvSpPr>
          <p:cNvPr id="68" name="Shape 66"/>
          <p:cNvSpPr/>
          <p:nvPr/>
        </p:nvSpPr>
        <p:spPr>
          <a:xfrm>
            <a:off x="731520" y="4160520"/>
            <a:ext cx="457200" cy="457200"/>
          </a:xfrm>
          <a:prstGeom prst="rect">
            <a:avLst/>
          </a:prstGeom>
          <a:solidFill>
            <a:schemeClr val="tx1"/>
          </a:solidFill>
          <a:ln w="9525">
            <a:solidFill>
              <a:schemeClr val="bg2"/>
            </a:solidFill>
            <a:prstDash val="solid"/>
          </a:ln>
        </p:spPr>
      </p:sp>
      <p:sp>
        <p:nvSpPr>
          <p:cNvPr id="69" name="Shape 67"/>
          <p:cNvSpPr/>
          <p:nvPr/>
        </p:nvSpPr>
        <p:spPr>
          <a:xfrm>
            <a:off x="1188720" y="4160520"/>
            <a:ext cx="457200" cy="457200"/>
          </a:xfrm>
          <a:prstGeom prst="rect">
            <a:avLst/>
          </a:prstGeom>
          <a:solidFill>
            <a:srgbClr val="C0392B"/>
          </a:solidFill>
          <a:ln w="12700">
            <a:solidFill>
              <a:schemeClr val="bg2"/>
            </a:solidFill>
            <a:prstDash val="solid"/>
          </a:ln>
        </p:spPr>
      </p:sp>
      <p:sp>
        <p:nvSpPr>
          <p:cNvPr id="70" name="Text 68"/>
          <p:cNvSpPr/>
          <p:nvPr/>
        </p:nvSpPr>
        <p:spPr>
          <a:xfrm>
            <a:off x="1188720" y="4160520"/>
            <a:ext cx="457200" cy="45720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71" name="Shape 69"/>
          <p:cNvSpPr/>
          <p:nvPr/>
        </p:nvSpPr>
        <p:spPr>
          <a:xfrm>
            <a:off x="1645920" y="4160520"/>
            <a:ext cx="457200" cy="457200"/>
          </a:xfrm>
          <a:prstGeom prst="rect">
            <a:avLst/>
          </a:prstGeom>
          <a:solidFill>
            <a:schemeClr val="bg2"/>
          </a:solidFill>
          <a:ln w="12700">
            <a:solidFill>
              <a:schemeClr val="bg2"/>
            </a:solidFill>
            <a:prstDash val="solid"/>
          </a:ln>
        </p:spPr>
      </p:sp>
      <p:sp>
        <p:nvSpPr>
          <p:cNvPr id="72" name="Shape 70"/>
          <p:cNvSpPr/>
          <p:nvPr/>
        </p:nvSpPr>
        <p:spPr>
          <a:xfrm>
            <a:off x="2103120" y="4160520"/>
            <a:ext cx="457200" cy="457200"/>
          </a:xfrm>
          <a:prstGeom prst="rect">
            <a:avLst/>
          </a:prstGeom>
          <a:solidFill>
            <a:schemeClr val="bg2"/>
          </a:solidFill>
          <a:ln w="12700">
            <a:solidFill>
              <a:schemeClr val="bg2"/>
            </a:solidFill>
            <a:prstDash val="solid"/>
          </a:ln>
        </p:spPr>
      </p:sp>
      <p:sp>
        <p:nvSpPr>
          <p:cNvPr id="73" name="Shape 71"/>
          <p:cNvSpPr/>
          <p:nvPr/>
        </p:nvSpPr>
        <p:spPr>
          <a:xfrm>
            <a:off x="2560320" y="4160520"/>
            <a:ext cx="457200" cy="457200"/>
          </a:xfrm>
          <a:prstGeom prst="rect">
            <a:avLst/>
          </a:prstGeom>
          <a:solidFill>
            <a:schemeClr val="bg2"/>
          </a:solidFill>
          <a:ln w="12700">
            <a:solidFill>
              <a:schemeClr val="bg2"/>
            </a:solidFill>
            <a:prstDash val="solid"/>
          </a:ln>
        </p:spPr>
      </p:sp>
      <p:sp>
        <p:nvSpPr>
          <p:cNvPr id="74" name="Shape 72"/>
          <p:cNvSpPr/>
          <p:nvPr/>
        </p:nvSpPr>
        <p:spPr>
          <a:xfrm>
            <a:off x="3017520" y="4160520"/>
            <a:ext cx="457200" cy="457200"/>
          </a:xfrm>
          <a:prstGeom prst="rect">
            <a:avLst/>
          </a:prstGeom>
          <a:solidFill>
            <a:schemeClr val="bg2"/>
          </a:solidFill>
          <a:ln w="12700">
            <a:solidFill>
              <a:schemeClr val="bg2"/>
            </a:solidFill>
            <a:prstDash val="solid"/>
          </a:ln>
        </p:spPr>
      </p:sp>
      <p:sp>
        <p:nvSpPr>
          <p:cNvPr id="75" name="Shape 73"/>
          <p:cNvSpPr/>
          <p:nvPr/>
        </p:nvSpPr>
        <p:spPr>
          <a:xfrm>
            <a:off x="3474720" y="4160520"/>
            <a:ext cx="457200" cy="457200"/>
          </a:xfrm>
          <a:prstGeom prst="rect">
            <a:avLst/>
          </a:prstGeom>
          <a:solidFill>
            <a:schemeClr val="bg2"/>
          </a:solidFill>
          <a:ln w="12700">
            <a:solidFill>
              <a:schemeClr val="bg2"/>
            </a:solidFill>
            <a:prstDash val="solid"/>
          </a:ln>
        </p:spPr>
      </p:sp>
      <p:sp>
        <p:nvSpPr>
          <p:cNvPr id="76" name="Shape 74"/>
          <p:cNvSpPr/>
          <p:nvPr/>
        </p:nvSpPr>
        <p:spPr>
          <a:xfrm>
            <a:off x="3931920" y="4160520"/>
            <a:ext cx="457200" cy="457200"/>
          </a:xfrm>
          <a:prstGeom prst="rect">
            <a:avLst/>
          </a:prstGeom>
          <a:solidFill>
            <a:srgbClr val="C0392B"/>
          </a:solidFill>
          <a:ln w="12700">
            <a:solidFill>
              <a:schemeClr val="bg2"/>
            </a:solidFill>
            <a:prstDash val="solid"/>
          </a:ln>
        </p:spPr>
      </p:sp>
      <p:sp>
        <p:nvSpPr>
          <p:cNvPr id="77" name="Text 75"/>
          <p:cNvSpPr/>
          <p:nvPr/>
        </p:nvSpPr>
        <p:spPr>
          <a:xfrm>
            <a:off x="3931920" y="4160520"/>
            <a:ext cx="457200" cy="45720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78" name="Shape 76"/>
          <p:cNvSpPr/>
          <p:nvPr/>
        </p:nvSpPr>
        <p:spPr>
          <a:xfrm>
            <a:off x="4389120" y="4160520"/>
            <a:ext cx="457200" cy="457200"/>
          </a:xfrm>
          <a:prstGeom prst="rect">
            <a:avLst/>
          </a:prstGeom>
          <a:solidFill>
            <a:schemeClr val="tx1"/>
          </a:solidFill>
          <a:ln w="9525">
            <a:solidFill>
              <a:schemeClr val="bg2"/>
            </a:solidFill>
            <a:prstDash val="solid"/>
          </a:ln>
        </p:spPr>
      </p:sp>
      <p:sp>
        <p:nvSpPr>
          <p:cNvPr id="79" name="Shape 77"/>
          <p:cNvSpPr/>
          <p:nvPr/>
        </p:nvSpPr>
        <p:spPr>
          <a:xfrm>
            <a:off x="731520" y="4617720"/>
            <a:ext cx="457200" cy="457200"/>
          </a:xfrm>
          <a:prstGeom prst="rect">
            <a:avLst/>
          </a:prstGeom>
          <a:solidFill>
            <a:schemeClr val="tx1"/>
          </a:solidFill>
          <a:ln w="9525">
            <a:solidFill>
              <a:schemeClr val="bg2"/>
            </a:solidFill>
            <a:prstDash val="solid"/>
          </a:ln>
        </p:spPr>
      </p:sp>
      <p:sp>
        <p:nvSpPr>
          <p:cNvPr id="80" name="Shape 78"/>
          <p:cNvSpPr/>
          <p:nvPr/>
        </p:nvSpPr>
        <p:spPr>
          <a:xfrm>
            <a:off x="1188720" y="4617720"/>
            <a:ext cx="457200" cy="457200"/>
          </a:xfrm>
          <a:prstGeom prst="rect">
            <a:avLst/>
          </a:prstGeom>
          <a:solidFill>
            <a:schemeClr val="tx1"/>
          </a:solidFill>
          <a:ln w="9525">
            <a:solidFill>
              <a:schemeClr val="bg2"/>
            </a:solidFill>
            <a:prstDash val="solid"/>
          </a:ln>
        </p:spPr>
      </p:sp>
      <p:sp>
        <p:nvSpPr>
          <p:cNvPr id="81" name="Shape 79"/>
          <p:cNvSpPr/>
          <p:nvPr/>
        </p:nvSpPr>
        <p:spPr>
          <a:xfrm>
            <a:off x="1645920" y="4617720"/>
            <a:ext cx="457200" cy="457200"/>
          </a:xfrm>
          <a:prstGeom prst="rect">
            <a:avLst/>
          </a:prstGeom>
          <a:solidFill>
            <a:schemeClr val="tx1"/>
          </a:solidFill>
          <a:ln w="9525">
            <a:solidFill>
              <a:schemeClr val="bg2"/>
            </a:solidFill>
            <a:prstDash val="solid"/>
          </a:ln>
        </p:spPr>
      </p:sp>
      <p:sp>
        <p:nvSpPr>
          <p:cNvPr id="82" name="Shape 80"/>
          <p:cNvSpPr/>
          <p:nvPr/>
        </p:nvSpPr>
        <p:spPr>
          <a:xfrm>
            <a:off x="2103120" y="4617720"/>
            <a:ext cx="457200" cy="457200"/>
          </a:xfrm>
          <a:prstGeom prst="rect">
            <a:avLst/>
          </a:prstGeom>
          <a:solidFill>
            <a:schemeClr val="tx1"/>
          </a:solidFill>
          <a:ln w="9525">
            <a:solidFill>
              <a:schemeClr val="bg2"/>
            </a:solidFill>
            <a:prstDash val="solid"/>
          </a:ln>
        </p:spPr>
      </p:sp>
      <p:sp>
        <p:nvSpPr>
          <p:cNvPr id="83" name="Shape 81"/>
          <p:cNvSpPr/>
          <p:nvPr/>
        </p:nvSpPr>
        <p:spPr>
          <a:xfrm>
            <a:off x="2560320" y="4617720"/>
            <a:ext cx="457200" cy="457200"/>
          </a:xfrm>
          <a:prstGeom prst="rect">
            <a:avLst/>
          </a:prstGeom>
          <a:solidFill>
            <a:schemeClr val="tx1"/>
          </a:solidFill>
          <a:ln w="9525">
            <a:solidFill>
              <a:schemeClr val="bg2"/>
            </a:solidFill>
            <a:prstDash val="solid"/>
          </a:ln>
        </p:spPr>
      </p:sp>
      <p:sp>
        <p:nvSpPr>
          <p:cNvPr id="84" name="Shape 82"/>
          <p:cNvSpPr/>
          <p:nvPr/>
        </p:nvSpPr>
        <p:spPr>
          <a:xfrm>
            <a:off x="3017520" y="4617720"/>
            <a:ext cx="457200" cy="457200"/>
          </a:xfrm>
          <a:prstGeom prst="rect">
            <a:avLst/>
          </a:prstGeom>
          <a:solidFill>
            <a:schemeClr val="tx1"/>
          </a:solidFill>
          <a:ln w="9525">
            <a:solidFill>
              <a:schemeClr val="bg2"/>
            </a:solidFill>
            <a:prstDash val="solid"/>
          </a:ln>
        </p:spPr>
      </p:sp>
      <p:sp>
        <p:nvSpPr>
          <p:cNvPr id="85" name="Shape 83"/>
          <p:cNvSpPr/>
          <p:nvPr/>
        </p:nvSpPr>
        <p:spPr>
          <a:xfrm>
            <a:off x="3474720" y="4617720"/>
            <a:ext cx="457200" cy="457200"/>
          </a:xfrm>
          <a:prstGeom prst="rect">
            <a:avLst/>
          </a:prstGeom>
          <a:solidFill>
            <a:schemeClr val="tx1"/>
          </a:solidFill>
          <a:ln w="9525">
            <a:solidFill>
              <a:schemeClr val="bg2"/>
            </a:solidFill>
            <a:prstDash val="solid"/>
          </a:ln>
        </p:spPr>
      </p:sp>
      <p:sp>
        <p:nvSpPr>
          <p:cNvPr id="86" name="Shape 84"/>
          <p:cNvSpPr/>
          <p:nvPr/>
        </p:nvSpPr>
        <p:spPr>
          <a:xfrm>
            <a:off x="3931920" y="4617720"/>
            <a:ext cx="457200" cy="457200"/>
          </a:xfrm>
          <a:prstGeom prst="rect">
            <a:avLst/>
          </a:prstGeom>
          <a:solidFill>
            <a:schemeClr val="tx1"/>
          </a:solidFill>
          <a:ln w="9525">
            <a:solidFill>
              <a:schemeClr val="bg2"/>
            </a:solidFill>
            <a:prstDash val="solid"/>
          </a:ln>
        </p:spPr>
      </p:sp>
      <p:sp>
        <p:nvSpPr>
          <p:cNvPr id="87" name="Shape 85"/>
          <p:cNvSpPr/>
          <p:nvPr/>
        </p:nvSpPr>
        <p:spPr>
          <a:xfrm>
            <a:off x="4389120" y="4617720"/>
            <a:ext cx="457200" cy="457200"/>
          </a:xfrm>
          <a:prstGeom prst="rect">
            <a:avLst/>
          </a:prstGeom>
          <a:solidFill>
            <a:schemeClr val="tx1"/>
          </a:solidFill>
          <a:ln w="9525">
            <a:solidFill>
              <a:schemeClr val="bg2"/>
            </a:solidFill>
            <a:prstDash val="solid"/>
          </a:ln>
        </p:spPr>
      </p:sp>
      <p:sp>
        <p:nvSpPr>
          <p:cNvPr id="88" name="Text 86"/>
          <p:cNvSpPr txBox="1"/>
          <p:nvPr/>
        </p:nvSpPr>
        <p:spPr>
          <a:xfrm>
            <a:off x="731520" y="5166360"/>
            <a:ext cx="4206240" cy="457200"/>
          </a:xfrm>
          <a:prstGeom prst="rect">
            <a:avLst/>
          </a:prstGeom>
          <a:noFill/>
          <a:ln/>
        </p:spPr>
        <p:txBody>
          <a:bodyPr wrap="square" lIns="0" tIns="0" rIns="0" bIns="0" rtlCol="0" anchor="t"/>
          <a:lstStyle/>
          <a:p>
            <a:pPr indent="0" marL="0">
              <a:buNone/>
            </a:pPr>
            <a:r>
              <a:rPr lang="en-US" sz="1300" dirty="0">
                <a:solidFill>
                  <a:schemeClr val="accent5"/>
                </a:solidFill>
              </a:rPr>
              <a:t>Niveau 3 : les cases × sont des coins sans objectif.</a:t>
            </a:r>
            <a:endParaRPr lang="en-US" sz="1300" dirty="0"/>
          </a:p>
        </p:txBody>
      </p:sp>
      <p:sp>
        <p:nvSpPr>
          <p:cNvPr id="89" name="Text 87"/>
          <p:cNvSpPr txBox="1"/>
          <p:nvPr/>
        </p:nvSpPr>
        <p:spPr>
          <a:xfrm>
            <a:off x="731520" y="5577840"/>
            <a:ext cx="4206240" cy="548640"/>
          </a:xfrm>
          <a:prstGeom prst="rect">
            <a:avLst/>
          </a:prstGeom>
          <a:noFill/>
          <a:ln/>
        </p:spPr>
        <p:txBody>
          <a:bodyPr wrap="square" lIns="0" tIns="0" rIns="0" bIns="0" rtlCol="0" anchor="t"/>
          <a:lstStyle/>
          <a:p>
            <a:pPr indent="0" marL="0">
              <a:buNone/>
            </a:pPr>
            <a:r>
              <a:rPr lang="en-US" sz="1300" dirty="0">
                <a:solidFill>
                  <a:schemeClr val="tx1"/>
                </a:solidFill>
              </a:rPr>
              <a:t>Une caisse qui y entre ne pourra plus jamais bouger : la poussée est refusée dans etatSuivant().</a:t>
            </a:r>
            <a:endParaRPr lang="en-US" sz="1300" dirty="0"/>
          </a:p>
        </p:txBody>
      </p:sp>
      <p:graphicFrame>
        <p:nvGraphicFramePr>
          <p:cNvPr id="90" name="Chart 0" descr=""/>
          <p:cNvGraphicFramePr/>
          <p:nvPr/>
        </p:nvGraphicFramePr>
        <p:xfrm>
          <a:off x="5029200" y="1280160"/>
          <a:ext cx="6583680" cy="3840480"/>
        </p:xfrm>
        <a:graphic xmlns:a="http://schemas.openxmlformats.org/drawingml/2006/main">
          <a:graphicData uri="http://schemas.openxmlformats.org/drawingml/2006/chart">
            <c:chart xmlns:c="http://schemas.openxmlformats.org/drawingml/2006/chart" r:id="rId1"/>
          </a:graphicData>
        </a:graphic>
      </p:graphicFrame>
      <p:sp>
        <p:nvSpPr>
          <p:cNvPr id="91" name="Text 88"/>
          <p:cNvSpPr txBox="1"/>
          <p:nvPr/>
        </p:nvSpPr>
        <p:spPr>
          <a:xfrm>
            <a:off x="5120640" y="5257800"/>
            <a:ext cx="2011680" cy="502920"/>
          </a:xfrm>
          <a:prstGeom prst="rect">
            <a:avLst/>
          </a:prstGeom>
          <a:noFill/>
          <a:ln/>
        </p:spPr>
        <p:txBody>
          <a:bodyPr wrap="square" lIns="0" tIns="0" rIns="0" bIns="0" rtlCol="0" anchor="t"/>
          <a:lstStyle/>
          <a:p>
            <a:pPr algn="ctr" indent="0" marL="0">
              <a:buNone/>
            </a:pPr>
            <a:r>
              <a:rPr lang="en-US" sz="2800" b="1" dirty="0">
                <a:solidFill>
                  <a:schemeClr val="accent1"/>
                </a:solidFill>
              </a:rPr>
              <a:t>−26 %</a:t>
            </a:r>
            <a:endParaRPr lang="en-US" sz="2800" dirty="0"/>
          </a:p>
        </p:txBody>
      </p:sp>
      <p:sp>
        <p:nvSpPr>
          <p:cNvPr id="92" name="Text 89"/>
          <p:cNvSpPr txBox="1"/>
          <p:nvPr/>
        </p:nvSpPr>
        <p:spPr>
          <a:xfrm>
            <a:off x="5120640" y="5760720"/>
            <a:ext cx="2011680" cy="274320"/>
          </a:xfrm>
          <a:prstGeom prst="rect">
            <a:avLst/>
          </a:prstGeom>
          <a:noFill/>
          <a:ln/>
        </p:spPr>
        <p:txBody>
          <a:bodyPr wrap="square" lIns="0" tIns="0" rIns="0" bIns="0" rtlCol="0" anchor="t"/>
          <a:lstStyle/>
          <a:p>
            <a:pPr algn="ctr" indent="0" marL="0">
              <a:buNone/>
            </a:pPr>
            <a:r>
              <a:rPr lang="en-US" sz="1200" dirty="0">
                <a:solidFill>
                  <a:schemeClr val="accent5"/>
                </a:solidFill>
              </a:rPr>
              <a:t>niveau 2</a:t>
            </a:r>
            <a:endParaRPr lang="en-US" sz="1200" dirty="0"/>
          </a:p>
        </p:txBody>
      </p:sp>
      <p:sp>
        <p:nvSpPr>
          <p:cNvPr id="93" name="Text 90"/>
          <p:cNvSpPr txBox="1"/>
          <p:nvPr/>
        </p:nvSpPr>
        <p:spPr>
          <a:xfrm>
            <a:off x="7315200" y="5257800"/>
            <a:ext cx="2011680" cy="502920"/>
          </a:xfrm>
          <a:prstGeom prst="rect">
            <a:avLst/>
          </a:prstGeom>
          <a:noFill/>
          <a:ln/>
        </p:spPr>
        <p:txBody>
          <a:bodyPr wrap="square" lIns="0" tIns="0" rIns="0" bIns="0" rtlCol="0" anchor="t"/>
          <a:lstStyle/>
          <a:p>
            <a:pPr algn="ctr" indent="0" marL="0">
              <a:buNone/>
            </a:pPr>
            <a:r>
              <a:rPr lang="en-US" sz="2800" b="1" dirty="0">
                <a:solidFill>
                  <a:schemeClr val="accent1"/>
                </a:solidFill>
              </a:rPr>
              <a:t>−31 %</a:t>
            </a:r>
            <a:endParaRPr lang="en-US" sz="2800" dirty="0"/>
          </a:p>
        </p:txBody>
      </p:sp>
      <p:sp>
        <p:nvSpPr>
          <p:cNvPr id="94" name="Text 91"/>
          <p:cNvSpPr txBox="1"/>
          <p:nvPr/>
        </p:nvSpPr>
        <p:spPr>
          <a:xfrm>
            <a:off x="7315200" y="5760720"/>
            <a:ext cx="2011680" cy="274320"/>
          </a:xfrm>
          <a:prstGeom prst="rect">
            <a:avLst/>
          </a:prstGeom>
          <a:noFill/>
          <a:ln/>
        </p:spPr>
        <p:txBody>
          <a:bodyPr wrap="square" lIns="0" tIns="0" rIns="0" bIns="0" rtlCol="0" anchor="t"/>
          <a:lstStyle/>
          <a:p>
            <a:pPr algn="ctr" indent="0" marL="0">
              <a:buNone/>
            </a:pPr>
            <a:r>
              <a:rPr lang="en-US" sz="1200" dirty="0">
                <a:solidFill>
                  <a:schemeClr val="accent5"/>
                </a:solidFill>
              </a:rPr>
              <a:t>niveau 3</a:t>
            </a:r>
            <a:endParaRPr lang="en-US" sz="1200" dirty="0"/>
          </a:p>
        </p:txBody>
      </p:sp>
      <p:sp>
        <p:nvSpPr>
          <p:cNvPr id="95" name="Text 92"/>
          <p:cNvSpPr txBox="1"/>
          <p:nvPr/>
        </p:nvSpPr>
        <p:spPr>
          <a:xfrm>
            <a:off x="9509760" y="5257800"/>
            <a:ext cx="2011680" cy="502920"/>
          </a:xfrm>
          <a:prstGeom prst="rect">
            <a:avLst/>
          </a:prstGeom>
          <a:noFill/>
          <a:ln/>
        </p:spPr>
        <p:txBody>
          <a:bodyPr wrap="square" lIns="0" tIns="0" rIns="0" bIns="0" rtlCol="0" anchor="t"/>
          <a:lstStyle/>
          <a:p>
            <a:pPr algn="ctr" indent="0" marL="0">
              <a:buNone/>
            </a:pPr>
            <a:r>
              <a:rPr lang="en-US" sz="2800" b="1" dirty="0">
                <a:solidFill>
                  <a:schemeClr val="accent1"/>
                </a:solidFill>
              </a:rPr>
              <a:t>−49 %</a:t>
            </a:r>
            <a:endParaRPr lang="en-US" sz="2800" dirty="0"/>
          </a:p>
        </p:txBody>
      </p:sp>
      <p:sp>
        <p:nvSpPr>
          <p:cNvPr id="96" name="Text 93"/>
          <p:cNvSpPr txBox="1"/>
          <p:nvPr/>
        </p:nvSpPr>
        <p:spPr>
          <a:xfrm>
            <a:off x="9509760" y="5760720"/>
            <a:ext cx="2011680" cy="274320"/>
          </a:xfrm>
          <a:prstGeom prst="rect">
            <a:avLst/>
          </a:prstGeom>
          <a:noFill/>
          <a:ln/>
        </p:spPr>
        <p:txBody>
          <a:bodyPr wrap="square" lIns="0" tIns="0" rIns="0" bIns="0" rtlCol="0" anchor="t"/>
          <a:lstStyle/>
          <a:p>
            <a:pPr algn="ctr" indent="0" marL="0">
              <a:buNone/>
            </a:pPr>
            <a:r>
              <a:rPr lang="en-US" sz="1200" dirty="0">
                <a:solidFill>
                  <a:schemeClr val="accent5"/>
                </a:solidFill>
              </a:rPr>
              <a:t>niveau 4</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424160" cy="777240"/>
          </a:xfrm>
          <a:prstGeom prst="rect">
            <a:avLst/>
          </a:prstGeom>
          <a:noFill/>
          <a:ln/>
        </p:spPr>
        <p:txBody>
          <a:bodyPr wrap="square" lIns="0" tIns="0" rIns="0" bIns="0" rtlCol="0" anchor="ctr"/>
          <a:lstStyle/>
          <a:p>
            <a:pPr algn="l" indent="0" marL="0">
              <a:buNone/>
            </a:pPr>
            <a:r>
              <a:rPr lang="en-US" sz="3200" b="1" dirty="0">
                <a:solidFill>
                  <a:schemeClr val="tx1"/>
                </a:solidFill>
              </a:rPr>
              <a:t>Complexité</a:t>
            </a:r>
            <a:endParaRPr lang="en-US" sz="3200" dirty="0"/>
          </a:p>
        </p:txBody>
      </p:sp>
      <p:sp>
        <p:nvSpPr>
          <p:cNvPr id="3" name="Text 1"/>
          <p:cNvSpPr txBox="1"/>
          <p:nvPr/>
        </p:nvSpPr>
        <p:spPr>
          <a:xfrm>
            <a:off x="548640" y="1325880"/>
            <a:ext cx="10972800" cy="365760"/>
          </a:xfrm>
          <a:prstGeom prst="rect">
            <a:avLst/>
          </a:prstGeom>
          <a:noFill/>
          <a:ln/>
        </p:spPr>
        <p:txBody>
          <a:bodyPr wrap="square" lIns="0" tIns="0" rIns="0" bIns="0" rtlCol="0" anchor="t"/>
          <a:lstStyle/>
          <a:p>
            <a:pPr indent="0" marL="0">
              <a:buNone/>
            </a:pPr>
            <a:r>
              <a:rPr lang="en-US" sz="1600" b="1" dirty="0">
                <a:solidFill>
                  <a:schemeClr val="tx2"/>
                </a:solidFill>
                <a:latin typeface="Courier New" pitchFamily="34" charset="0"/>
                <a:ea typeface="Courier New" pitchFamily="34" charset="-122"/>
                <a:cs typeface="Courier New" pitchFamily="34" charset="-120"/>
              </a:rPr>
              <a:t>N = nombre d'états atteignables      L = hauteur × largeur (taille d'un état)</a:t>
            </a:r>
            <a:endParaRPr lang="en-US" sz="1600" dirty="0"/>
          </a:p>
        </p:txBody>
      </p:sp>
      <p:sp>
        <p:nvSpPr>
          <p:cNvPr id="4" name="cplx-0"/>
          <p:cNvSpPr/>
          <p:nvPr/>
        </p:nvSpPr>
        <p:spPr>
          <a:xfrm>
            <a:off x="548640" y="2011680"/>
            <a:ext cx="3474720" cy="3017520"/>
          </a:xfrm>
          <a:prstGeom prst="roundRect">
            <a:avLst>
              <a:gd name="adj" fmla="val 3636"/>
            </a:avLst>
          </a:prstGeom>
          <a:solidFill>
            <a:schemeClr val="bg2"/>
          </a:solidFill>
          <a:ln w="12700">
            <a:solidFill>
              <a:schemeClr val="bg2"/>
            </a:solidFill>
            <a:prstDash val="solid"/>
          </a:ln>
        </p:spPr>
      </p:sp>
      <p:sp>
        <p:nvSpPr>
          <p:cNvPr id="5" name="Text 3"/>
          <p:cNvSpPr txBox="1"/>
          <p:nvPr/>
        </p:nvSpPr>
        <p:spPr>
          <a:xfrm>
            <a:off x="822960" y="2286000"/>
            <a:ext cx="2926080" cy="777240"/>
          </a:xfrm>
          <a:prstGeom prst="rect">
            <a:avLst/>
          </a:prstGeom>
          <a:noFill/>
          <a:ln/>
        </p:spPr>
        <p:txBody>
          <a:bodyPr wrap="square" lIns="0" tIns="0" rIns="0" bIns="0" rtlCol="0" anchor="t"/>
          <a:lstStyle/>
          <a:p>
            <a:pPr indent="0" marL="0">
              <a:buNone/>
            </a:pPr>
            <a:r>
              <a:rPr lang="en-US" sz="3200" b="1" dirty="0">
                <a:solidFill>
                  <a:schemeClr val="accent1"/>
                </a:solidFill>
              </a:rPr>
              <a:t>O(N × L)</a:t>
            </a:r>
            <a:endParaRPr lang="en-US" sz="3200" dirty="0"/>
          </a:p>
        </p:txBody>
      </p:sp>
      <p:sp>
        <p:nvSpPr>
          <p:cNvPr id="6" name="Text 4"/>
          <p:cNvSpPr txBox="1"/>
          <p:nvPr/>
        </p:nvSpPr>
        <p:spPr>
          <a:xfrm>
            <a:off x="822960" y="3108960"/>
            <a:ext cx="2926080" cy="365760"/>
          </a:xfrm>
          <a:prstGeom prst="rect">
            <a:avLst/>
          </a:prstGeom>
          <a:noFill/>
          <a:ln/>
        </p:spPr>
        <p:txBody>
          <a:bodyPr wrap="square" lIns="0" tIns="0" rIns="0" bIns="0" rtlCol="0" anchor="t"/>
          <a:lstStyle/>
          <a:p>
            <a:pPr indent="0" marL="0">
              <a:buNone/>
            </a:pPr>
            <a:r>
              <a:rPr lang="en-US" sz="1800" b="1" dirty="0">
                <a:solidFill>
                  <a:schemeClr val="tx1"/>
                </a:solidFill>
              </a:rPr>
              <a:t>Temps</a:t>
            </a:r>
            <a:endParaRPr lang="en-US" sz="1800" dirty="0"/>
          </a:p>
        </p:txBody>
      </p:sp>
      <p:sp>
        <p:nvSpPr>
          <p:cNvPr id="7" name="Text 5"/>
          <p:cNvSpPr txBox="1"/>
          <p:nvPr/>
        </p:nvSpPr>
        <p:spPr>
          <a:xfrm>
            <a:off x="822960" y="3611880"/>
            <a:ext cx="2926080" cy="1325880"/>
          </a:xfrm>
          <a:prstGeom prst="rect">
            <a:avLst/>
          </a:prstGeom>
          <a:noFill/>
          <a:ln/>
        </p:spPr>
        <p:txBody>
          <a:bodyPr wrap="square" lIns="0" tIns="0" rIns="0" bIns="0" rtlCol="0" anchor="t"/>
          <a:lstStyle/>
          <a:p>
            <a:pPr indent="0" marL="0">
              <a:buNone/>
            </a:pPr>
            <a:r>
              <a:rPr lang="en-US" sz="1400" dirty="0">
                <a:solidFill>
                  <a:schemeClr val="tx1"/>
                </a:solidFill>
              </a:rPr>
              <a:t>Chaque état est généré, haché et comparé en O(L), au plus une fois, avec 4 successeurs au maximum. C'est vrai pour DFS comme pour BFS.</a:t>
            </a:r>
            <a:endParaRPr lang="en-US" sz="1400" dirty="0"/>
          </a:p>
        </p:txBody>
      </p:sp>
      <p:sp>
        <p:nvSpPr>
          <p:cNvPr id="8" name="cplx-1"/>
          <p:cNvSpPr/>
          <p:nvPr/>
        </p:nvSpPr>
        <p:spPr>
          <a:xfrm>
            <a:off x="4297680" y="2011680"/>
            <a:ext cx="3474720" cy="3017520"/>
          </a:xfrm>
          <a:prstGeom prst="roundRect">
            <a:avLst>
              <a:gd name="adj" fmla="val 3636"/>
            </a:avLst>
          </a:prstGeom>
          <a:solidFill>
            <a:schemeClr val="bg2"/>
          </a:solidFill>
          <a:ln w="12700">
            <a:solidFill>
              <a:schemeClr val="bg2"/>
            </a:solidFill>
            <a:prstDash val="solid"/>
          </a:ln>
        </p:spPr>
      </p:sp>
      <p:sp>
        <p:nvSpPr>
          <p:cNvPr id="9" name="Text 7"/>
          <p:cNvSpPr txBox="1"/>
          <p:nvPr/>
        </p:nvSpPr>
        <p:spPr>
          <a:xfrm>
            <a:off x="4572000" y="2286000"/>
            <a:ext cx="2926080" cy="777240"/>
          </a:xfrm>
          <a:prstGeom prst="rect">
            <a:avLst/>
          </a:prstGeom>
          <a:noFill/>
          <a:ln/>
        </p:spPr>
        <p:txBody>
          <a:bodyPr wrap="square" lIns="0" tIns="0" rIns="0" bIns="0" rtlCol="0" anchor="t"/>
          <a:lstStyle/>
          <a:p>
            <a:pPr indent="0" marL="0">
              <a:buNone/>
            </a:pPr>
            <a:r>
              <a:rPr lang="en-US" sz="3200" b="1" dirty="0">
                <a:solidFill>
                  <a:schemeClr val="accent1"/>
                </a:solidFill>
              </a:rPr>
              <a:t>O(N × L)</a:t>
            </a:r>
            <a:endParaRPr lang="en-US" sz="3200" dirty="0"/>
          </a:p>
        </p:txBody>
      </p:sp>
      <p:sp>
        <p:nvSpPr>
          <p:cNvPr id="10" name="Text 8"/>
          <p:cNvSpPr txBox="1"/>
          <p:nvPr/>
        </p:nvSpPr>
        <p:spPr>
          <a:xfrm>
            <a:off x="4572000" y="3108960"/>
            <a:ext cx="2926080" cy="365760"/>
          </a:xfrm>
          <a:prstGeom prst="rect">
            <a:avLst/>
          </a:prstGeom>
          <a:noFill/>
          <a:ln/>
        </p:spPr>
        <p:txBody>
          <a:bodyPr wrap="square" lIns="0" tIns="0" rIns="0" bIns="0" rtlCol="0" anchor="t"/>
          <a:lstStyle/>
          <a:p>
            <a:pPr indent="0" marL="0">
              <a:buNone/>
            </a:pPr>
            <a:r>
              <a:rPr lang="en-US" sz="1800" b="1" dirty="0">
                <a:solidFill>
                  <a:schemeClr val="tx1"/>
                </a:solidFill>
              </a:rPr>
              <a:t>Mémoire</a:t>
            </a:r>
            <a:endParaRPr lang="en-US" sz="1800" dirty="0"/>
          </a:p>
        </p:txBody>
      </p:sp>
      <p:sp>
        <p:nvSpPr>
          <p:cNvPr id="11" name="Text 9"/>
          <p:cNvSpPr txBox="1"/>
          <p:nvPr/>
        </p:nvSpPr>
        <p:spPr>
          <a:xfrm>
            <a:off x="4572000" y="3611880"/>
            <a:ext cx="2926080" cy="1325880"/>
          </a:xfrm>
          <a:prstGeom prst="rect">
            <a:avLst/>
          </a:prstGeom>
          <a:noFill/>
          <a:ln/>
        </p:spPr>
        <p:txBody>
          <a:bodyPr wrap="square" lIns="0" tIns="0" rIns="0" bIns="0" rtlCol="0" anchor="t"/>
          <a:lstStyle/>
          <a:p>
            <a:pPr indent="0" marL="0">
              <a:buNone/>
            </a:pPr>
            <a:r>
              <a:rPr lang="en-US" sz="1400" dirty="0">
                <a:solidFill>
                  <a:schemeClr val="tx1"/>
                </a:solidFill>
              </a:rPr>
              <a:t>La table des visités stocke chaque état. BFS y ajoute sa file (N indices), DFS sa pile d'appels (la profondeur).</a:t>
            </a:r>
            <a:endParaRPr lang="en-US" sz="1400" dirty="0"/>
          </a:p>
        </p:txBody>
      </p:sp>
      <p:sp>
        <p:nvSpPr>
          <p:cNvPr id="12" name="cplx-2"/>
          <p:cNvSpPr/>
          <p:nvPr/>
        </p:nvSpPr>
        <p:spPr>
          <a:xfrm>
            <a:off x="8046720" y="2011680"/>
            <a:ext cx="3474720" cy="3017520"/>
          </a:xfrm>
          <a:prstGeom prst="roundRect">
            <a:avLst>
              <a:gd name="adj" fmla="val 3636"/>
            </a:avLst>
          </a:prstGeom>
          <a:solidFill>
            <a:schemeClr val="bg2"/>
          </a:solidFill>
          <a:ln w="12700">
            <a:solidFill>
              <a:schemeClr val="bg2"/>
            </a:solidFill>
            <a:prstDash val="solid"/>
          </a:ln>
        </p:spPr>
      </p:sp>
      <p:sp>
        <p:nvSpPr>
          <p:cNvPr id="13" name="Text 11"/>
          <p:cNvSpPr txBox="1"/>
          <p:nvPr/>
        </p:nvSpPr>
        <p:spPr>
          <a:xfrm>
            <a:off x="8321040" y="2286000"/>
            <a:ext cx="2926080" cy="777240"/>
          </a:xfrm>
          <a:prstGeom prst="rect">
            <a:avLst/>
          </a:prstGeom>
          <a:noFill/>
          <a:ln/>
        </p:spPr>
        <p:txBody>
          <a:bodyPr wrap="square" lIns="0" tIns="0" rIns="0" bIns="0" rtlCol="0" anchor="t"/>
          <a:lstStyle/>
          <a:p>
            <a:pPr indent="0" marL="0">
              <a:buNone/>
            </a:pPr>
            <a:r>
              <a:rPr lang="en-US" sz="3200" b="1" dirty="0">
                <a:solidFill>
                  <a:schemeClr val="accent2"/>
                </a:solidFill>
              </a:rPr>
              <a:t>exponentiel</a:t>
            </a:r>
            <a:endParaRPr lang="en-US" sz="3200" dirty="0"/>
          </a:p>
        </p:txBody>
      </p:sp>
      <p:sp>
        <p:nvSpPr>
          <p:cNvPr id="14" name="Text 12"/>
          <p:cNvSpPr txBox="1"/>
          <p:nvPr/>
        </p:nvSpPr>
        <p:spPr>
          <a:xfrm>
            <a:off x="8321040" y="3108960"/>
            <a:ext cx="2926080" cy="365760"/>
          </a:xfrm>
          <a:prstGeom prst="rect">
            <a:avLst/>
          </a:prstGeom>
          <a:noFill/>
          <a:ln/>
        </p:spPr>
        <p:txBody>
          <a:bodyPr wrap="square" lIns="0" tIns="0" rIns="0" bIns="0" rtlCol="0" anchor="t"/>
          <a:lstStyle/>
          <a:p>
            <a:pPr indent="0" marL="0">
              <a:buNone/>
            </a:pPr>
            <a:r>
              <a:rPr lang="en-US" sz="1800" b="1" dirty="0">
                <a:solidFill>
                  <a:schemeClr val="tx1"/>
                </a:solidFill>
              </a:rPr>
              <a:t>Taille de N</a:t>
            </a:r>
            <a:endParaRPr lang="en-US" sz="1800" dirty="0"/>
          </a:p>
        </p:txBody>
      </p:sp>
      <p:sp>
        <p:nvSpPr>
          <p:cNvPr id="15" name="Text 13"/>
          <p:cNvSpPr txBox="1"/>
          <p:nvPr/>
        </p:nvSpPr>
        <p:spPr>
          <a:xfrm>
            <a:off x="8321040" y="3611880"/>
            <a:ext cx="2926080" cy="1325880"/>
          </a:xfrm>
          <a:prstGeom prst="rect">
            <a:avLst/>
          </a:prstGeom>
          <a:noFill/>
          <a:ln/>
        </p:spPr>
        <p:txBody>
          <a:bodyPr wrap="square" lIns="0" tIns="0" rIns="0" bIns="0" rtlCol="0" anchor="t"/>
          <a:lstStyle/>
          <a:p>
            <a:pPr indent="0" marL="0">
              <a:buNone/>
            </a:pPr>
            <a:r>
              <a:rPr lang="en-US" sz="1400" dirty="0">
                <a:solidFill>
                  <a:schemeClr val="tx1"/>
                </a:solidFill>
              </a:rPr>
              <a:t>Avec C cases libres et k caisses, il y a jusqu'à C × (k parmi C) états. D'où la limite de 1 000 000 d'états.</a:t>
            </a:r>
            <a:endParaRPr lang="en-US" sz="1400" dirty="0"/>
          </a:p>
        </p:txBody>
      </p:sp>
      <p:sp>
        <p:nvSpPr>
          <p:cNvPr id="16" name="cle"/>
          <p:cNvSpPr/>
          <p:nvPr/>
        </p:nvSpPr>
        <p:spPr>
          <a:xfrm>
            <a:off x="548640" y="5303520"/>
            <a:ext cx="11064240" cy="777240"/>
          </a:xfrm>
          <a:prstGeom prst="roundRect">
            <a:avLst>
              <a:gd name="adj" fmla="val 14118"/>
            </a:avLst>
          </a:prstGeom>
          <a:solidFill>
            <a:schemeClr val="tx1"/>
          </a:solidFill>
          <a:ln w="12700">
            <a:solidFill>
              <a:schemeClr val="tx1"/>
            </a:solidFill>
            <a:prstDash val="solid"/>
          </a:ln>
        </p:spPr>
      </p:sp>
      <p:sp>
        <p:nvSpPr>
          <p:cNvPr id="17" name="Text 15"/>
          <p:cNvSpPr txBox="1"/>
          <p:nvPr/>
        </p:nvSpPr>
        <p:spPr>
          <a:xfrm>
            <a:off x="822960" y="5440680"/>
            <a:ext cx="10607040" cy="502920"/>
          </a:xfrm>
          <a:prstGeom prst="rect">
            <a:avLst/>
          </a:prstGeom>
          <a:noFill/>
          <a:ln/>
        </p:spPr>
        <p:txBody>
          <a:bodyPr wrap="square" lIns="0" tIns="0" rIns="0" bIns="0" rtlCol="0" anchor="ctr"/>
          <a:lstStyle/>
          <a:p>
            <a:pPr indent="0" marL="0">
              <a:buNone/>
            </a:pPr>
            <a:r>
              <a:rPr lang="en-US" sz="1500" b="1" dirty="0">
                <a:solidFill>
                  <a:schemeClr val="accent4"/>
                </a:solidFill>
              </a:rPr>
              <a:t>La clé : </a:t>
            </a:r>
            <a:pPr indent="0" marL="0">
              <a:buNone/>
            </a:pPr>
            <a:r>
              <a:rPr lang="en-US" sz="1500" dirty="0">
                <a:solidFill>
                  <a:schemeClr val="bg1"/>
                </a:solidFill>
              </a:rPr>
              <a:t>sans la table des visités, DFS bouclerait sans fin et BFS retraiterait les mêmes états. Avec elle, chaque état ne coûte qu'une fois.</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0424160" cy="777240"/>
          </a:xfrm>
          <a:prstGeom prst="rect">
            <a:avLst/>
          </a:prstGeom>
          <a:noFill/>
          <a:ln/>
        </p:spPr>
        <p:txBody>
          <a:bodyPr wrap="square" lIns="0" tIns="0" rIns="0" bIns="0" rtlCol="0" anchor="ctr"/>
          <a:lstStyle/>
          <a:p>
            <a:pPr algn="l" indent="0" marL="0">
              <a:buNone/>
            </a:pPr>
            <a:r>
              <a:rPr lang="en-US" sz="3200" b="1" dirty="0">
                <a:solidFill>
                  <a:schemeClr val="tx1"/>
                </a:solidFill>
              </a:rPr>
              <a:t>Tests et limites connues</a:t>
            </a:r>
            <a:endParaRPr lang="en-US" sz="3200" dirty="0"/>
          </a:p>
        </p:txBody>
      </p:sp>
      <p:sp>
        <p:nvSpPr>
          <p:cNvPr id="3" name="test-0"/>
          <p:cNvSpPr/>
          <p:nvPr/>
        </p:nvSpPr>
        <p:spPr>
          <a:xfrm>
            <a:off x="548640" y="1371600"/>
            <a:ext cx="5120640" cy="1645920"/>
          </a:xfrm>
          <a:prstGeom prst="roundRect">
            <a:avLst>
              <a:gd name="adj" fmla="val 6667"/>
            </a:avLst>
          </a:prstGeom>
          <a:solidFill>
            <a:schemeClr val="bg2"/>
          </a:solidFill>
          <a:ln w="12700">
            <a:solidFill>
              <a:schemeClr val="bg2"/>
            </a:solidFill>
            <a:prstDash val="solid"/>
          </a:ln>
        </p:spPr>
      </p:sp>
      <p:sp>
        <p:nvSpPr>
          <p:cNvPr id="4" name="Text 2"/>
          <p:cNvSpPr txBox="1"/>
          <p:nvPr/>
        </p:nvSpPr>
        <p:spPr>
          <a:xfrm>
            <a:off x="822960" y="1600200"/>
            <a:ext cx="1554480" cy="1097280"/>
          </a:xfrm>
          <a:prstGeom prst="rect">
            <a:avLst/>
          </a:prstGeom>
          <a:noFill/>
          <a:ln/>
        </p:spPr>
        <p:txBody>
          <a:bodyPr wrap="square" lIns="0" tIns="0" rIns="0" bIns="0" rtlCol="0" anchor="ctr"/>
          <a:lstStyle/>
          <a:p>
            <a:pPr indent="0" marL="0">
              <a:buNone/>
            </a:pPr>
            <a:r>
              <a:rPr lang="en-US" sz="6000" b="1" dirty="0">
                <a:solidFill>
                  <a:schemeClr val="accent1"/>
                </a:solidFill>
              </a:rPr>
              <a:t>72</a:t>
            </a:r>
            <a:endParaRPr lang="en-US" sz="6000" dirty="0"/>
          </a:p>
        </p:txBody>
      </p:sp>
      <p:sp>
        <p:nvSpPr>
          <p:cNvPr id="5" name="Text 3"/>
          <p:cNvSpPr txBox="1"/>
          <p:nvPr/>
        </p:nvSpPr>
        <p:spPr>
          <a:xfrm>
            <a:off x="2468880" y="1737360"/>
            <a:ext cx="3017520" cy="411480"/>
          </a:xfrm>
          <a:prstGeom prst="rect">
            <a:avLst/>
          </a:prstGeom>
          <a:noFill/>
          <a:ln/>
        </p:spPr>
        <p:txBody>
          <a:bodyPr wrap="square" lIns="0" tIns="0" rIns="0" bIns="0" rtlCol="0" anchor="t"/>
          <a:lstStyle/>
          <a:p>
            <a:pPr indent="0" marL="0">
              <a:buNone/>
            </a:pPr>
            <a:r>
              <a:rPr lang="en-US" sz="1800" b="1" dirty="0">
                <a:solidFill>
                  <a:schemeClr val="tx1"/>
                </a:solidFill>
              </a:rPr>
              <a:t>vérifications unitaires</a:t>
            </a:r>
            <a:endParaRPr lang="en-US" sz="1800" dirty="0"/>
          </a:p>
        </p:txBody>
      </p:sp>
      <p:sp>
        <p:nvSpPr>
          <p:cNvPr id="6" name="Text 4"/>
          <p:cNvSpPr txBox="1"/>
          <p:nvPr/>
        </p:nvSpPr>
        <p:spPr>
          <a:xfrm>
            <a:off x="2468880" y="2194560"/>
            <a:ext cx="3017520" cy="640080"/>
          </a:xfrm>
          <a:prstGeom prst="rect">
            <a:avLst/>
          </a:prstGeom>
          <a:noFill/>
          <a:ln/>
        </p:spPr>
        <p:txBody>
          <a:bodyPr wrap="square" lIns="0" tIns="0" rIns="0" bIns="0" rtlCol="0" anchor="t"/>
          <a:lstStyle/>
          <a:p>
            <a:pPr indent="0" marL="0">
              <a:buNone/>
            </a:pPr>
            <a:r>
              <a:rPr lang="en-US" sz="1300" dirty="0">
                <a:solidFill>
                  <a:schemeClr val="accent5"/>
                </a:solidFill>
              </a:rPr>
              <a:t>SokobanTest.java, sans framework</a:t>
            </a:r>
            <a:endParaRPr lang="en-US" sz="1300" dirty="0"/>
          </a:p>
        </p:txBody>
      </p:sp>
      <p:sp>
        <p:nvSpPr>
          <p:cNvPr id="7" name="test-1"/>
          <p:cNvSpPr/>
          <p:nvPr/>
        </p:nvSpPr>
        <p:spPr>
          <a:xfrm>
            <a:off x="548640" y="3246120"/>
            <a:ext cx="5120640" cy="1645920"/>
          </a:xfrm>
          <a:prstGeom prst="roundRect">
            <a:avLst>
              <a:gd name="adj" fmla="val 6667"/>
            </a:avLst>
          </a:prstGeom>
          <a:solidFill>
            <a:schemeClr val="bg2"/>
          </a:solidFill>
          <a:ln w="12700">
            <a:solidFill>
              <a:schemeClr val="bg2"/>
            </a:solidFill>
            <a:prstDash val="solid"/>
          </a:ln>
        </p:spPr>
      </p:sp>
      <p:sp>
        <p:nvSpPr>
          <p:cNvPr id="8" name="Text 6"/>
          <p:cNvSpPr txBox="1"/>
          <p:nvPr/>
        </p:nvSpPr>
        <p:spPr>
          <a:xfrm>
            <a:off x="822960" y="3474720"/>
            <a:ext cx="1554480" cy="1097280"/>
          </a:xfrm>
          <a:prstGeom prst="rect">
            <a:avLst/>
          </a:prstGeom>
          <a:noFill/>
          <a:ln/>
        </p:spPr>
        <p:txBody>
          <a:bodyPr wrap="square" lIns="0" tIns="0" rIns="0" bIns="0" rtlCol="0" anchor="ctr"/>
          <a:lstStyle/>
          <a:p>
            <a:pPr indent="0" marL="0">
              <a:buNone/>
            </a:pPr>
            <a:r>
              <a:rPr lang="en-US" sz="6000" b="1" dirty="0">
                <a:solidFill>
                  <a:schemeClr val="accent1"/>
                </a:solidFill>
              </a:rPr>
              <a:t>14</a:t>
            </a:r>
            <a:endParaRPr lang="en-US" sz="6000" dirty="0"/>
          </a:p>
        </p:txBody>
      </p:sp>
      <p:sp>
        <p:nvSpPr>
          <p:cNvPr id="9" name="Text 7"/>
          <p:cNvSpPr txBox="1"/>
          <p:nvPr/>
        </p:nvSpPr>
        <p:spPr>
          <a:xfrm>
            <a:off x="2468880" y="3611880"/>
            <a:ext cx="3017520" cy="411480"/>
          </a:xfrm>
          <a:prstGeom prst="rect">
            <a:avLst/>
          </a:prstGeom>
          <a:noFill/>
          <a:ln/>
        </p:spPr>
        <p:txBody>
          <a:bodyPr wrap="square" lIns="0" tIns="0" rIns="0" bIns="0" rtlCol="0" anchor="t"/>
          <a:lstStyle/>
          <a:p>
            <a:pPr indent="0" marL="0">
              <a:buNone/>
            </a:pPr>
            <a:r>
              <a:rPr lang="en-US" sz="1800" b="1" dirty="0">
                <a:solidFill>
                  <a:schemeClr val="tx1"/>
                </a:solidFill>
              </a:rPr>
              <a:t>scénarios console</a:t>
            </a:r>
            <a:endParaRPr lang="en-US" sz="1800" dirty="0"/>
          </a:p>
        </p:txBody>
      </p:sp>
      <p:sp>
        <p:nvSpPr>
          <p:cNvPr id="10" name="Text 8"/>
          <p:cNvSpPr txBox="1"/>
          <p:nvPr/>
        </p:nvSpPr>
        <p:spPr>
          <a:xfrm>
            <a:off x="2468880" y="4069080"/>
            <a:ext cx="3017520" cy="640080"/>
          </a:xfrm>
          <a:prstGeom prst="rect">
            <a:avLst/>
          </a:prstGeom>
          <a:noFill/>
          <a:ln/>
        </p:spPr>
        <p:txBody>
          <a:bodyPr wrap="square" lIns="0" tIns="0" rIns="0" bIns="0" rtlCol="0" anchor="t"/>
          <a:lstStyle/>
          <a:p>
            <a:pPr indent="0" marL="0">
              <a:buNone/>
            </a:pPr>
            <a:r>
              <a:rPr lang="en-US" sz="1300" dirty="0">
                <a:solidFill>
                  <a:schemeClr val="accent5"/>
                </a:solidFill>
              </a:rPr>
              <a:t>le vrai programme piloté par l'entrée standard</a:t>
            </a:r>
            <a:endParaRPr lang="en-US" sz="1300" dirty="0"/>
          </a:p>
        </p:txBody>
      </p:sp>
      <p:sp>
        <p:nvSpPr>
          <p:cNvPr id="11" name="Text 9"/>
          <p:cNvSpPr txBox="1"/>
          <p:nvPr/>
        </p:nvSpPr>
        <p:spPr>
          <a:xfrm>
            <a:off x="548640" y="5212080"/>
            <a:ext cx="5120640" cy="914400"/>
          </a:xfrm>
          <a:prstGeom prst="rect">
            <a:avLst/>
          </a:prstGeom>
          <a:noFill/>
          <a:ln/>
        </p:spPr>
        <p:txBody>
          <a:bodyPr wrap="square" lIns="0" tIns="0" rIns="0" bIns="0" rtlCol="0" anchor="t"/>
          <a:lstStyle/>
          <a:p>
            <a:pPr indent="0" marL="0">
              <a:buNone/>
            </a:pPr>
            <a:r>
              <a:rPr lang="en-US" sz="1300" dirty="0">
                <a:solidFill>
                  <a:schemeClr val="tx1"/>
                </a:solidFill>
              </a:rPr>
              <a:t>Chaque solution DFS et BFS est rejouée jusqu'à la victoire. L'optimalité du BFS est vérifiée au niveau 2 par une recherche exhaustive indépendante : aucune solution en 13 coups ou moins.</a:t>
            </a:r>
            <a:endParaRPr lang="en-US" sz="1300" dirty="0"/>
          </a:p>
        </p:txBody>
      </p:sp>
      <p:sp>
        <p:nvSpPr>
          <p:cNvPr id="12" name="limites"/>
          <p:cNvSpPr/>
          <p:nvPr/>
        </p:nvSpPr>
        <p:spPr>
          <a:xfrm>
            <a:off x="6035040" y="1371600"/>
            <a:ext cx="5577840" cy="4754880"/>
          </a:xfrm>
          <a:prstGeom prst="roundRect">
            <a:avLst>
              <a:gd name="adj" fmla="val 2308"/>
            </a:avLst>
          </a:prstGeom>
          <a:solidFill>
            <a:schemeClr val="tx1"/>
          </a:solidFill>
          <a:ln w="12700">
            <a:solidFill>
              <a:schemeClr val="tx1"/>
            </a:solidFill>
            <a:prstDash val="solid"/>
          </a:ln>
        </p:spPr>
      </p:sp>
      <p:sp>
        <p:nvSpPr>
          <p:cNvPr id="13" name="Text 11"/>
          <p:cNvSpPr txBox="1"/>
          <p:nvPr/>
        </p:nvSpPr>
        <p:spPr>
          <a:xfrm>
            <a:off x="6355080" y="1600200"/>
            <a:ext cx="4937760" cy="411480"/>
          </a:xfrm>
          <a:prstGeom prst="rect">
            <a:avLst/>
          </a:prstGeom>
          <a:noFill/>
          <a:ln/>
        </p:spPr>
        <p:txBody>
          <a:bodyPr wrap="square" lIns="0" tIns="0" rIns="0" bIns="0" rtlCol="0" anchor="t"/>
          <a:lstStyle/>
          <a:p>
            <a:pPr indent="0" marL="0">
              <a:buNone/>
            </a:pPr>
            <a:r>
              <a:rPr lang="en-US" sz="2200" b="1" dirty="0">
                <a:solidFill>
                  <a:schemeClr val="bg1"/>
                </a:solidFill>
              </a:rPr>
              <a:t>Limites</a:t>
            </a:r>
            <a:endParaRPr lang="en-US" sz="2200" dirty="0"/>
          </a:p>
        </p:txBody>
      </p:sp>
      <p:sp>
        <p:nvSpPr>
          <p:cNvPr id="14" name="Text 12"/>
          <p:cNvSpPr txBox="1"/>
          <p:nvPr/>
        </p:nvSpPr>
        <p:spPr>
          <a:xfrm>
            <a:off x="6355080" y="2194560"/>
            <a:ext cx="5029200" cy="37490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accent6"/>
                </a:solidFill>
              </a:rPr>
              <a:t>Arrêt à 1 000 000 d'états : au-delà, « limite atteinte »</a:t>
            </a:r>
            <a:endParaRPr lang="en-US" sz="1500" dirty="0"/>
          </a:p>
          <a:p>
            <a:pPr marL="342900" indent="-342900">
              <a:spcAft>
                <a:spcPts val="1000"/>
              </a:spcAft>
              <a:buSzPct val="100000"/>
              <a:buChar char="•"/>
            </a:pPr>
            <a:r>
              <a:rPr lang="en-US" sz="1500" dirty="0">
                <a:solidFill>
                  <a:schemeClr val="accent6"/>
                </a:solidFill>
              </a:rPr>
              <a:t>Un état = un pas : l'espace d'états grandit vite sur les grandes grilles</a:t>
            </a:r>
            <a:endParaRPr lang="en-US" sz="1500" dirty="0"/>
          </a:p>
          <a:p>
            <a:pPr marL="342900" indent="-342900">
              <a:spcAft>
                <a:spcPts val="1000"/>
              </a:spcAft>
              <a:buSzPct val="100000"/>
              <a:buChar char="•"/>
            </a:pPr>
            <a:r>
              <a:rPr lang="en-US" sz="1500" dirty="0">
                <a:solidFill>
                  <a:schemeClr val="accent6"/>
                </a:solidFill>
              </a:rPr>
              <a:t>Blocages détectés : coins seulement (pas les caisses collées entre elles)</a:t>
            </a:r>
            <a:endParaRPr lang="en-US" sz="1500" dirty="0"/>
          </a:p>
          <a:p>
            <a:pPr marL="342900" indent="-342900">
              <a:spcAft>
                <a:spcPts val="1000"/>
              </a:spcAft>
              <a:buSzPct val="100000"/>
              <a:buChar char="•"/>
            </a:pPr>
            <a:r>
              <a:rPr lang="en-US" sz="1500" dirty="0">
                <a:solidFill>
                  <a:schemeClr val="accent6"/>
                </a:solidFill>
              </a:rPr>
              <a:t>DFS dépendant d'une grande pile d'appels (512 Mo)</a:t>
            </a:r>
            <a:endParaRPr lang="en-US" sz="1500" dirty="0"/>
          </a:p>
          <a:p>
            <a:pPr marL="342900" indent="-342900">
              <a:spcAft>
                <a:spcPts val="1000"/>
              </a:spcAft>
              <a:buSzPct val="100000"/>
              <a:buChar char="•"/>
            </a:pPr>
            <a:r>
              <a:rPr lang="en-US" sz="1500" dirty="0">
                <a:solidFill>
                  <a:schemeClr val="accent6"/>
                </a:solidFill>
              </a:rPr>
              <a:t>Textes de la console sans accents, pour être lisibles partout</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035040" cy="1188720"/>
          </a:xfrm>
          <a:prstGeom prst="rect">
            <a:avLst/>
          </a:prstGeom>
          <a:noFill/>
          <a:ln/>
        </p:spPr>
        <p:txBody>
          <a:bodyPr wrap="square" lIns="0" tIns="0" rIns="0" bIns="0" rtlCol="0" anchor="b"/>
          <a:lstStyle/>
          <a:p>
            <a:pPr algn="l" indent="0" marL="0">
              <a:buNone/>
            </a:pPr>
            <a:r>
              <a:rPr lang="en-US" sz="5400" b="1" dirty="0">
                <a:solidFill>
                  <a:schemeClr val="bg1"/>
                </a:solidFill>
              </a:rPr>
              <a:t>En résumé</a:t>
            </a:r>
            <a:endParaRPr lang="en-US" sz="5400" dirty="0"/>
          </a:p>
        </p:txBody>
      </p:sp>
      <p:sp>
        <p:nvSpPr>
          <p:cNvPr id="3" name="Text 0"/>
          <p:cNvSpPr/>
          <p:nvPr>
            <p:ph idx="101" type="body" hasCustomPrompt="1"/>
          </p:nvPr>
        </p:nvSpPr>
        <p:spPr>
          <a:xfrm>
            <a:off x="640080" y="3017520"/>
            <a:ext cx="6035040" cy="1005840"/>
          </a:xfrm>
          <a:prstGeom prst="rect">
            <a:avLst/>
          </a:prstGeom>
          <a:noFill/>
          <a:ln/>
        </p:spPr>
        <p:txBody>
          <a:bodyPr wrap="square" lIns="0" tIns="0" rIns="0" bIns="0" rtlCol="0" anchor="t"/>
          <a:lstStyle/>
          <a:p>
            <a:pPr algn="l" indent="0" marL="0">
              <a:buNone/>
            </a:pPr>
            <a:r>
              <a:rPr lang="en-US" sz="2200" dirty="0">
                <a:solidFill>
                  <a:schemeClr val="accent6"/>
                </a:solidFill>
              </a:rPr>
              <a:t>Un jeu complet, deux solveurs, une comparaison chiffrée</a:t>
            </a:r>
            <a:endParaRPr lang="en-US" sz="2200" dirty="0"/>
          </a:p>
        </p:txBody>
      </p:sp>
      <p:sp>
        <p:nvSpPr>
          <p:cNvPr id="4" name="Text 2"/>
          <p:cNvSpPr txBox="1"/>
          <p:nvPr/>
        </p:nvSpPr>
        <p:spPr>
          <a:xfrm>
            <a:off x="640080" y="4069080"/>
            <a:ext cx="6035040" cy="1280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bg1"/>
                </a:solidFill>
              </a:rPr>
              <a:t>Toutes les fonctionnalités standard et avancées</a:t>
            </a:r>
            <a:endParaRPr lang="en-US" sz="1600" dirty="0"/>
          </a:p>
          <a:p>
            <a:pPr marL="342900" indent="-342900">
              <a:spcAft>
                <a:spcPts val="600"/>
              </a:spcAft>
              <a:buSzPct val="100000"/>
              <a:buChar char="•"/>
            </a:pPr>
            <a:r>
              <a:rPr lang="en-US" sz="1600" dirty="0">
                <a:solidFill>
                  <a:schemeClr val="bg1"/>
                </a:solidFill>
              </a:rPr>
              <a:t>File, pile et table de hachage écrites avec des tableaux</a:t>
            </a:r>
            <a:endParaRPr lang="en-US" sz="1600" dirty="0"/>
          </a:p>
          <a:p>
            <a:pPr marL="342900" indent="-342900">
              <a:spcAft>
                <a:spcPts val="600"/>
              </a:spcAft>
              <a:buSzPct val="100000"/>
              <a:buChar char="•"/>
            </a:pPr>
            <a:r>
              <a:rPr lang="en-US" sz="1600" dirty="0">
                <a:solidFill>
                  <a:schemeClr val="bg1"/>
                </a:solidFill>
              </a:rPr>
              <a:t>Bonus : annuler, recommencer, coins morts, élagage, temps, solution minimale</a:t>
            </a:r>
            <a:endParaRPr lang="en-US" sz="1600" dirty="0"/>
          </a:p>
        </p:txBody>
      </p:sp>
      <p:sp>
        <p:nvSpPr>
          <p:cNvPr id="5" name="demo"/>
          <p:cNvSpPr/>
          <p:nvPr/>
        </p:nvSpPr>
        <p:spPr>
          <a:xfrm>
            <a:off x="640080" y="5532120"/>
            <a:ext cx="6035040" cy="640080"/>
          </a:xfrm>
          <a:prstGeom prst="roundRect">
            <a:avLst>
              <a:gd name="adj" fmla="val 17143"/>
            </a:avLst>
          </a:prstGeom>
          <a:solidFill>
            <a:schemeClr val="tx2"/>
          </a:solidFill>
          <a:ln w="12700">
            <a:solidFill>
              <a:schemeClr val="tx2"/>
            </a:solidFill>
            <a:prstDash val="solid"/>
          </a:ln>
        </p:spPr>
      </p:sp>
      <p:sp>
        <p:nvSpPr>
          <p:cNvPr id="6" name="Text 4"/>
          <p:cNvSpPr txBox="1"/>
          <p:nvPr/>
        </p:nvSpPr>
        <p:spPr>
          <a:xfrm>
            <a:off x="868680" y="5596128"/>
            <a:ext cx="5669280" cy="502920"/>
          </a:xfrm>
          <a:prstGeom prst="rect">
            <a:avLst/>
          </a:prstGeom>
          <a:noFill/>
          <a:ln/>
        </p:spPr>
        <p:txBody>
          <a:bodyPr wrap="square" lIns="0" tIns="0" rIns="0" bIns="0" rtlCol="0" anchor="ctr"/>
          <a:lstStyle/>
          <a:p>
            <a:pPr indent="0" marL="0">
              <a:buNone/>
            </a:pPr>
            <a:r>
              <a:rPr lang="en-US" sz="1250" dirty="0">
                <a:solidFill>
                  <a:schemeClr val="bg1"/>
                </a:solidFill>
                <a:latin typeface="Courier New" pitchFamily="34" charset="0"/>
                <a:ea typeface="Courier New" pitchFamily="34" charset="-122"/>
                <a:cs typeface="Courier New" pitchFamily="34" charset="-120"/>
              </a:rPr>
              <a:t>javac -d out src/Sokoban.java &amp;&amp; java -cp out Sokoban</a:t>
            </a:r>
            <a:endParaRPr lang="en-US" sz="1250" dirty="0"/>
          </a:p>
        </p:txBody>
      </p:sp>
      <p:sp>
        <p:nvSpPr>
          <p:cNvPr id="7" name="Shape 5"/>
          <p:cNvSpPr/>
          <p:nvPr/>
        </p:nvSpPr>
        <p:spPr>
          <a:xfrm>
            <a:off x="7863840" y="1463040"/>
            <a:ext cx="512064" cy="512064"/>
          </a:xfrm>
          <a:prstGeom prst="rect">
            <a:avLst/>
          </a:prstGeom>
          <a:solidFill>
            <a:schemeClr val="tx2"/>
          </a:solidFill>
          <a:ln w="9525">
            <a:solidFill>
              <a:schemeClr val="tx1"/>
            </a:solidFill>
            <a:prstDash val="solid"/>
          </a:ln>
        </p:spPr>
      </p:sp>
      <p:sp>
        <p:nvSpPr>
          <p:cNvPr id="8" name="Shape 6"/>
          <p:cNvSpPr/>
          <p:nvPr/>
        </p:nvSpPr>
        <p:spPr>
          <a:xfrm>
            <a:off x="8375904" y="1463040"/>
            <a:ext cx="512064" cy="512064"/>
          </a:xfrm>
          <a:prstGeom prst="rect">
            <a:avLst/>
          </a:prstGeom>
          <a:solidFill>
            <a:schemeClr val="tx2"/>
          </a:solidFill>
          <a:ln w="9525">
            <a:solidFill>
              <a:schemeClr val="tx1"/>
            </a:solidFill>
            <a:prstDash val="solid"/>
          </a:ln>
        </p:spPr>
      </p:sp>
      <p:sp>
        <p:nvSpPr>
          <p:cNvPr id="9" name="Shape 7"/>
          <p:cNvSpPr/>
          <p:nvPr/>
        </p:nvSpPr>
        <p:spPr>
          <a:xfrm>
            <a:off x="8887968" y="1463040"/>
            <a:ext cx="512064" cy="512064"/>
          </a:xfrm>
          <a:prstGeom prst="rect">
            <a:avLst/>
          </a:prstGeom>
          <a:solidFill>
            <a:schemeClr val="tx2"/>
          </a:solidFill>
          <a:ln w="9525">
            <a:solidFill>
              <a:schemeClr val="tx1"/>
            </a:solidFill>
            <a:prstDash val="solid"/>
          </a:ln>
        </p:spPr>
      </p:sp>
      <p:sp>
        <p:nvSpPr>
          <p:cNvPr id="10" name="Shape 8"/>
          <p:cNvSpPr/>
          <p:nvPr/>
        </p:nvSpPr>
        <p:spPr>
          <a:xfrm>
            <a:off x="9400032" y="1463040"/>
            <a:ext cx="512064" cy="512064"/>
          </a:xfrm>
          <a:prstGeom prst="rect">
            <a:avLst/>
          </a:prstGeom>
          <a:solidFill>
            <a:schemeClr val="tx2"/>
          </a:solidFill>
          <a:ln w="9525">
            <a:solidFill>
              <a:schemeClr val="tx1"/>
            </a:solidFill>
            <a:prstDash val="solid"/>
          </a:ln>
        </p:spPr>
      </p:sp>
      <p:sp>
        <p:nvSpPr>
          <p:cNvPr id="11" name="Shape 9"/>
          <p:cNvSpPr/>
          <p:nvPr/>
        </p:nvSpPr>
        <p:spPr>
          <a:xfrm>
            <a:off x="9912096" y="1463040"/>
            <a:ext cx="512064" cy="512064"/>
          </a:xfrm>
          <a:prstGeom prst="rect">
            <a:avLst/>
          </a:prstGeom>
          <a:solidFill>
            <a:schemeClr val="tx2"/>
          </a:solidFill>
          <a:ln w="9525">
            <a:solidFill>
              <a:schemeClr val="tx1"/>
            </a:solidFill>
            <a:prstDash val="solid"/>
          </a:ln>
        </p:spPr>
      </p:sp>
      <p:sp>
        <p:nvSpPr>
          <p:cNvPr id="12" name="Shape 10"/>
          <p:cNvSpPr/>
          <p:nvPr/>
        </p:nvSpPr>
        <p:spPr>
          <a:xfrm>
            <a:off x="10424160" y="1463040"/>
            <a:ext cx="512064" cy="512064"/>
          </a:xfrm>
          <a:prstGeom prst="rect">
            <a:avLst/>
          </a:prstGeom>
          <a:solidFill>
            <a:schemeClr val="tx2"/>
          </a:solidFill>
          <a:ln w="9525">
            <a:solidFill>
              <a:schemeClr val="tx1"/>
            </a:solidFill>
            <a:prstDash val="solid"/>
          </a:ln>
        </p:spPr>
      </p:sp>
      <p:sp>
        <p:nvSpPr>
          <p:cNvPr id="13" name="Shape 11"/>
          <p:cNvSpPr/>
          <p:nvPr/>
        </p:nvSpPr>
        <p:spPr>
          <a:xfrm>
            <a:off x="10936224" y="1463040"/>
            <a:ext cx="512064" cy="512064"/>
          </a:xfrm>
          <a:prstGeom prst="rect">
            <a:avLst/>
          </a:prstGeom>
          <a:solidFill>
            <a:schemeClr val="tx2"/>
          </a:solidFill>
          <a:ln w="9525">
            <a:solidFill>
              <a:schemeClr val="tx1"/>
            </a:solidFill>
            <a:prstDash val="solid"/>
          </a:ln>
        </p:spPr>
      </p:sp>
      <p:sp>
        <p:nvSpPr>
          <p:cNvPr id="14" name="Shape 12"/>
          <p:cNvSpPr/>
          <p:nvPr/>
        </p:nvSpPr>
        <p:spPr>
          <a:xfrm>
            <a:off x="11448288" y="1463040"/>
            <a:ext cx="512064" cy="512064"/>
          </a:xfrm>
          <a:prstGeom prst="rect">
            <a:avLst/>
          </a:prstGeom>
          <a:solidFill>
            <a:schemeClr val="tx2"/>
          </a:solidFill>
          <a:ln w="9525">
            <a:solidFill>
              <a:schemeClr val="tx1"/>
            </a:solidFill>
            <a:prstDash val="solid"/>
          </a:ln>
        </p:spPr>
      </p:sp>
      <p:sp>
        <p:nvSpPr>
          <p:cNvPr id="15" name="Shape 13"/>
          <p:cNvSpPr/>
          <p:nvPr/>
        </p:nvSpPr>
        <p:spPr>
          <a:xfrm>
            <a:off x="7863840" y="1975104"/>
            <a:ext cx="512064" cy="512064"/>
          </a:xfrm>
          <a:prstGeom prst="rect">
            <a:avLst/>
          </a:prstGeom>
          <a:solidFill>
            <a:schemeClr val="tx2"/>
          </a:solidFill>
          <a:ln w="9525">
            <a:solidFill>
              <a:schemeClr val="tx1"/>
            </a:solidFill>
            <a:prstDash val="solid"/>
          </a:ln>
        </p:spPr>
      </p:sp>
      <p:sp>
        <p:nvSpPr>
          <p:cNvPr id="16" name="Shape 14"/>
          <p:cNvSpPr/>
          <p:nvPr/>
        </p:nvSpPr>
        <p:spPr>
          <a:xfrm>
            <a:off x="8375904" y="1975104"/>
            <a:ext cx="512064" cy="512064"/>
          </a:xfrm>
          <a:prstGeom prst="rect">
            <a:avLst/>
          </a:prstGeom>
          <a:solidFill>
            <a:schemeClr val="tx1"/>
          </a:solidFill>
          <a:ln w="12700">
            <a:solidFill>
              <a:schemeClr val="tx1"/>
            </a:solidFill>
            <a:prstDash val="solid"/>
          </a:ln>
        </p:spPr>
      </p:sp>
      <p:sp>
        <p:nvSpPr>
          <p:cNvPr id="17" name="Shape 15"/>
          <p:cNvSpPr/>
          <p:nvPr/>
        </p:nvSpPr>
        <p:spPr>
          <a:xfrm>
            <a:off x="8887968" y="1975104"/>
            <a:ext cx="512064" cy="512064"/>
          </a:xfrm>
          <a:prstGeom prst="rect">
            <a:avLst/>
          </a:prstGeom>
          <a:solidFill>
            <a:schemeClr val="tx1"/>
          </a:solidFill>
          <a:ln w="12700">
            <a:solidFill>
              <a:schemeClr val="tx1"/>
            </a:solidFill>
            <a:prstDash val="solid"/>
          </a:ln>
        </p:spPr>
      </p:sp>
      <p:sp>
        <p:nvSpPr>
          <p:cNvPr id="18" name="Shape 16"/>
          <p:cNvSpPr/>
          <p:nvPr/>
        </p:nvSpPr>
        <p:spPr>
          <a:xfrm>
            <a:off x="9400032" y="1975104"/>
            <a:ext cx="512064" cy="512064"/>
          </a:xfrm>
          <a:prstGeom prst="rect">
            <a:avLst/>
          </a:prstGeom>
          <a:solidFill>
            <a:schemeClr val="tx1"/>
          </a:solidFill>
          <a:ln w="12700">
            <a:solidFill>
              <a:schemeClr val="tx1"/>
            </a:solidFill>
            <a:prstDash val="solid"/>
          </a:ln>
        </p:spPr>
      </p:sp>
      <p:sp>
        <p:nvSpPr>
          <p:cNvPr id="19" name="Shape 17"/>
          <p:cNvSpPr/>
          <p:nvPr/>
        </p:nvSpPr>
        <p:spPr>
          <a:xfrm>
            <a:off x="9912096" y="1975104"/>
            <a:ext cx="512064" cy="512064"/>
          </a:xfrm>
          <a:prstGeom prst="rect">
            <a:avLst/>
          </a:prstGeom>
          <a:solidFill>
            <a:schemeClr val="tx1"/>
          </a:solidFill>
          <a:ln w="12700">
            <a:solidFill>
              <a:schemeClr val="tx1"/>
            </a:solidFill>
            <a:prstDash val="solid"/>
          </a:ln>
        </p:spPr>
      </p:sp>
      <p:sp>
        <p:nvSpPr>
          <p:cNvPr id="20" name="Shape 18"/>
          <p:cNvSpPr/>
          <p:nvPr/>
        </p:nvSpPr>
        <p:spPr>
          <a:xfrm>
            <a:off x="10424160" y="1975104"/>
            <a:ext cx="512064" cy="512064"/>
          </a:xfrm>
          <a:prstGeom prst="rect">
            <a:avLst/>
          </a:prstGeom>
          <a:solidFill>
            <a:schemeClr val="tx1"/>
          </a:solidFill>
          <a:ln w="12700">
            <a:solidFill>
              <a:schemeClr val="tx1"/>
            </a:solidFill>
            <a:prstDash val="solid"/>
          </a:ln>
        </p:spPr>
      </p:sp>
      <p:sp>
        <p:nvSpPr>
          <p:cNvPr id="21" name="Shape 19"/>
          <p:cNvSpPr/>
          <p:nvPr/>
        </p:nvSpPr>
        <p:spPr>
          <a:xfrm>
            <a:off x="10936224" y="1975104"/>
            <a:ext cx="512064" cy="512064"/>
          </a:xfrm>
          <a:prstGeom prst="rect">
            <a:avLst/>
          </a:prstGeom>
          <a:solidFill>
            <a:schemeClr val="tx1"/>
          </a:solidFill>
          <a:ln w="12700">
            <a:solidFill>
              <a:schemeClr val="tx1"/>
            </a:solidFill>
            <a:prstDash val="solid"/>
          </a:ln>
        </p:spPr>
      </p:sp>
      <p:sp>
        <p:nvSpPr>
          <p:cNvPr id="22" name="Shape 20"/>
          <p:cNvSpPr/>
          <p:nvPr/>
        </p:nvSpPr>
        <p:spPr>
          <a:xfrm>
            <a:off x="11448288" y="1975104"/>
            <a:ext cx="512064" cy="512064"/>
          </a:xfrm>
          <a:prstGeom prst="rect">
            <a:avLst/>
          </a:prstGeom>
          <a:solidFill>
            <a:schemeClr val="tx2"/>
          </a:solidFill>
          <a:ln w="9525">
            <a:solidFill>
              <a:schemeClr val="tx1"/>
            </a:solidFill>
            <a:prstDash val="solid"/>
          </a:ln>
        </p:spPr>
      </p:sp>
      <p:sp>
        <p:nvSpPr>
          <p:cNvPr id="23" name="Shape 21"/>
          <p:cNvSpPr/>
          <p:nvPr/>
        </p:nvSpPr>
        <p:spPr>
          <a:xfrm>
            <a:off x="7863840" y="2487168"/>
            <a:ext cx="512064" cy="512064"/>
          </a:xfrm>
          <a:prstGeom prst="rect">
            <a:avLst/>
          </a:prstGeom>
          <a:solidFill>
            <a:schemeClr val="tx2"/>
          </a:solidFill>
          <a:ln w="9525">
            <a:solidFill>
              <a:schemeClr val="tx1"/>
            </a:solidFill>
            <a:prstDash val="solid"/>
          </a:ln>
        </p:spPr>
      </p:sp>
      <p:sp>
        <p:nvSpPr>
          <p:cNvPr id="24" name="Shape 22"/>
          <p:cNvSpPr/>
          <p:nvPr/>
        </p:nvSpPr>
        <p:spPr>
          <a:xfrm>
            <a:off x="8375904" y="2487168"/>
            <a:ext cx="512064" cy="512064"/>
          </a:xfrm>
          <a:prstGeom prst="rect">
            <a:avLst/>
          </a:prstGeom>
          <a:solidFill>
            <a:schemeClr val="tx1"/>
          </a:solidFill>
          <a:ln w="12700">
            <a:solidFill>
              <a:schemeClr val="tx1"/>
            </a:solidFill>
            <a:prstDash val="solid"/>
          </a:ln>
        </p:spPr>
      </p:sp>
      <p:sp>
        <p:nvSpPr>
          <p:cNvPr id="25" name="Shape 23"/>
          <p:cNvSpPr/>
          <p:nvPr/>
        </p:nvSpPr>
        <p:spPr>
          <a:xfrm>
            <a:off x="8887968" y="2487168"/>
            <a:ext cx="512064" cy="512064"/>
          </a:xfrm>
          <a:prstGeom prst="rect">
            <a:avLst/>
          </a:prstGeom>
          <a:solidFill>
            <a:schemeClr val="tx1"/>
          </a:solidFill>
          <a:ln w="12700">
            <a:solidFill>
              <a:schemeClr val="tx1"/>
            </a:solidFill>
            <a:prstDash val="solid"/>
          </a:ln>
        </p:spPr>
      </p:sp>
      <p:sp>
        <p:nvSpPr>
          <p:cNvPr id="26" name="Shape 24"/>
          <p:cNvSpPr/>
          <p:nvPr/>
        </p:nvSpPr>
        <p:spPr>
          <a:xfrm>
            <a:off x="9400032" y="2487168"/>
            <a:ext cx="512064" cy="512064"/>
          </a:xfrm>
          <a:prstGeom prst="rect">
            <a:avLst/>
          </a:prstGeom>
          <a:solidFill>
            <a:schemeClr val="tx1"/>
          </a:solidFill>
          <a:ln w="12700">
            <a:solidFill>
              <a:schemeClr val="tx1"/>
            </a:solidFill>
            <a:prstDash val="solid"/>
          </a:ln>
        </p:spPr>
      </p:sp>
      <p:sp>
        <p:nvSpPr>
          <p:cNvPr id="27" name="Shape 25"/>
          <p:cNvSpPr/>
          <p:nvPr/>
        </p:nvSpPr>
        <p:spPr>
          <a:xfrm>
            <a:off x="9912096" y="2487168"/>
            <a:ext cx="512064" cy="512064"/>
          </a:xfrm>
          <a:prstGeom prst="rect">
            <a:avLst/>
          </a:prstGeom>
          <a:solidFill>
            <a:schemeClr val="tx1"/>
          </a:solidFill>
          <a:ln w="12700">
            <a:solidFill>
              <a:schemeClr val="tx1"/>
            </a:solidFill>
            <a:prstDash val="solid"/>
          </a:ln>
        </p:spPr>
      </p:sp>
      <p:sp>
        <p:nvSpPr>
          <p:cNvPr id="28" name="Shape 26"/>
          <p:cNvSpPr/>
          <p:nvPr/>
        </p:nvSpPr>
        <p:spPr>
          <a:xfrm>
            <a:off x="9978664" y="2553736"/>
            <a:ext cx="378927" cy="378927"/>
          </a:xfrm>
          <a:prstGeom prst="roundRect">
            <a:avLst>
              <a:gd name="adj" fmla="val 18000"/>
            </a:avLst>
          </a:prstGeom>
          <a:solidFill>
            <a:schemeClr val="accent4"/>
          </a:solidFill>
          <a:ln w="12700">
            <a:solidFill>
              <a:schemeClr val="accent4"/>
            </a:solidFill>
            <a:prstDash val="solid"/>
          </a:ln>
        </p:spPr>
      </p:sp>
      <p:sp>
        <p:nvSpPr>
          <p:cNvPr id="29" name="Shape 27"/>
          <p:cNvSpPr/>
          <p:nvPr/>
        </p:nvSpPr>
        <p:spPr>
          <a:xfrm>
            <a:off x="10424160" y="2487168"/>
            <a:ext cx="512064" cy="512064"/>
          </a:xfrm>
          <a:prstGeom prst="rect">
            <a:avLst/>
          </a:prstGeom>
          <a:solidFill>
            <a:schemeClr val="tx1"/>
          </a:solidFill>
          <a:ln w="12700">
            <a:solidFill>
              <a:schemeClr val="tx1"/>
            </a:solidFill>
            <a:prstDash val="solid"/>
          </a:ln>
        </p:spPr>
      </p:sp>
      <p:sp>
        <p:nvSpPr>
          <p:cNvPr id="30" name="Shape 28"/>
          <p:cNvSpPr/>
          <p:nvPr/>
        </p:nvSpPr>
        <p:spPr>
          <a:xfrm>
            <a:off x="10936224" y="2487168"/>
            <a:ext cx="512064" cy="512064"/>
          </a:xfrm>
          <a:prstGeom prst="rect">
            <a:avLst/>
          </a:prstGeom>
          <a:solidFill>
            <a:schemeClr val="tx1"/>
          </a:solidFill>
          <a:ln w="12700">
            <a:solidFill>
              <a:schemeClr val="tx1"/>
            </a:solidFill>
            <a:prstDash val="solid"/>
          </a:ln>
        </p:spPr>
      </p:sp>
      <p:sp>
        <p:nvSpPr>
          <p:cNvPr id="31" name="Shape 29"/>
          <p:cNvSpPr/>
          <p:nvPr/>
        </p:nvSpPr>
        <p:spPr>
          <a:xfrm>
            <a:off x="11448288" y="2487168"/>
            <a:ext cx="512064" cy="512064"/>
          </a:xfrm>
          <a:prstGeom prst="rect">
            <a:avLst/>
          </a:prstGeom>
          <a:solidFill>
            <a:schemeClr val="tx2"/>
          </a:solidFill>
          <a:ln w="9525">
            <a:solidFill>
              <a:schemeClr val="tx1"/>
            </a:solidFill>
            <a:prstDash val="solid"/>
          </a:ln>
        </p:spPr>
      </p:sp>
      <p:sp>
        <p:nvSpPr>
          <p:cNvPr id="32" name="Shape 30"/>
          <p:cNvSpPr/>
          <p:nvPr/>
        </p:nvSpPr>
        <p:spPr>
          <a:xfrm>
            <a:off x="7863840" y="2999232"/>
            <a:ext cx="512064" cy="512064"/>
          </a:xfrm>
          <a:prstGeom prst="rect">
            <a:avLst/>
          </a:prstGeom>
          <a:solidFill>
            <a:schemeClr val="tx2"/>
          </a:solidFill>
          <a:ln w="9525">
            <a:solidFill>
              <a:schemeClr val="tx1"/>
            </a:solidFill>
            <a:prstDash val="solid"/>
          </a:ln>
        </p:spPr>
      </p:sp>
      <p:sp>
        <p:nvSpPr>
          <p:cNvPr id="33" name="Shape 31"/>
          <p:cNvSpPr/>
          <p:nvPr/>
        </p:nvSpPr>
        <p:spPr>
          <a:xfrm>
            <a:off x="8375904" y="2999232"/>
            <a:ext cx="512064" cy="512064"/>
          </a:xfrm>
          <a:prstGeom prst="rect">
            <a:avLst/>
          </a:prstGeom>
          <a:solidFill>
            <a:schemeClr val="tx1"/>
          </a:solidFill>
          <a:ln w="12700">
            <a:solidFill>
              <a:schemeClr val="tx1"/>
            </a:solidFill>
            <a:prstDash val="solid"/>
          </a:ln>
        </p:spPr>
      </p:sp>
      <p:sp>
        <p:nvSpPr>
          <p:cNvPr id="34" name="Shape 32"/>
          <p:cNvSpPr/>
          <p:nvPr/>
        </p:nvSpPr>
        <p:spPr>
          <a:xfrm>
            <a:off x="8887968" y="2999232"/>
            <a:ext cx="512064" cy="512064"/>
          </a:xfrm>
          <a:prstGeom prst="rect">
            <a:avLst/>
          </a:prstGeom>
          <a:solidFill>
            <a:schemeClr val="tx1"/>
          </a:solidFill>
          <a:ln w="12700">
            <a:solidFill>
              <a:schemeClr val="tx1"/>
            </a:solidFill>
            <a:prstDash val="solid"/>
          </a:ln>
        </p:spPr>
      </p:sp>
      <p:sp>
        <p:nvSpPr>
          <p:cNvPr id="35" name="Shape 33"/>
          <p:cNvSpPr/>
          <p:nvPr/>
        </p:nvSpPr>
        <p:spPr>
          <a:xfrm>
            <a:off x="9400032" y="2999232"/>
            <a:ext cx="512064" cy="512064"/>
          </a:xfrm>
          <a:prstGeom prst="rect">
            <a:avLst/>
          </a:prstGeom>
          <a:solidFill>
            <a:schemeClr val="tx1"/>
          </a:solidFill>
          <a:ln w="12700">
            <a:solidFill>
              <a:schemeClr val="tx1"/>
            </a:solidFill>
            <a:prstDash val="solid"/>
          </a:ln>
        </p:spPr>
      </p:sp>
      <p:sp>
        <p:nvSpPr>
          <p:cNvPr id="36" name="Shape 34"/>
          <p:cNvSpPr/>
          <p:nvPr/>
        </p:nvSpPr>
        <p:spPr>
          <a:xfrm>
            <a:off x="9912096" y="2999232"/>
            <a:ext cx="512064" cy="512064"/>
          </a:xfrm>
          <a:prstGeom prst="rect">
            <a:avLst/>
          </a:prstGeom>
          <a:solidFill>
            <a:schemeClr val="tx1"/>
          </a:solidFill>
          <a:ln w="12700">
            <a:solidFill>
              <a:schemeClr val="tx1"/>
            </a:solidFill>
            <a:prstDash val="solid"/>
          </a:ln>
        </p:spPr>
      </p:sp>
      <p:sp>
        <p:nvSpPr>
          <p:cNvPr id="37" name="Shape 35"/>
          <p:cNvSpPr/>
          <p:nvPr/>
        </p:nvSpPr>
        <p:spPr>
          <a:xfrm>
            <a:off x="10014509" y="3101645"/>
            <a:ext cx="307238" cy="307238"/>
          </a:xfrm>
          <a:prstGeom prst="ellipse">
            <a:avLst/>
          </a:prstGeom>
          <a:solidFill>
            <a:schemeClr val="accent3"/>
          </a:solidFill>
          <a:ln w="12700">
            <a:solidFill>
              <a:schemeClr val="accent3"/>
            </a:solidFill>
            <a:prstDash val="solid"/>
          </a:ln>
        </p:spPr>
      </p:sp>
      <p:sp>
        <p:nvSpPr>
          <p:cNvPr id="38" name="Shape 36"/>
          <p:cNvSpPr/>
          <p:nvPr/>
        </p:nvSpPr>
        <p:spPr>
          <a:xfrm>
            <a:off x="10424160" y="2999232"/>
            <a:ext cx="512064" cy="512064"/>
          </a:xfrm>
          <a:prstGeom prst="rect">
            <a:avLst/>
          </a:prstGeom>
          <a:solidFill>
            <a:schemeClr val="tx1"/>
          </a:solidFill>
          <a:ln w="12700">
            <a:solidFill>
              <a:schemeClr val="tx1"/>
            </a:solidFill>
            <a:prstDash val="solid"/>
          </a:ln>
        </p:spPr>
      </p:sp>
      <p:sp>
        <p:nvSpPr>
          <p:cNvPr id="39" name="Shape 37"/>
          <p:cNvSpPr/>
          <p:nvPr/>
        </p:nvSpPr>
        <p:spPr>
          <a:xfrm>
            <a:off x="10936224" y="2999232"/>
            <a:ext cx="512064" cy="512064"/>
          </a:xfrm>
          <a:prstGeom prst="rect">
            <a:avLst/>
          </a:prstGeom>
          <a:solidFill>
            <a:schemeClr val="tx1"/>
          </a:solidFill>
          <a:ln w="12700">
            <a:solidFill>
              <a:schemeClr val="tx1"/>
            </a:solidFill>
            <a:prstDash val="solid"/>
          </a:ln>
        </p:spPr>
      </p:sp>
      <p:sp>
        <p:nvSpPr>
          <p:cNvPr id="40" name="Shape 38"/>
          <p:cNvSpPr/>
          <p:nvPr/>
        </p:nvSpPr>
        <p:spPr>
          <a:xfrm>
            <a:off x="11448288" y="2999232"/>
            <a:ext cx="512064" cy="512064"/>
          </a:xfrm>
          <a:prstGeom prst="rect">
            <a:avLst/>
          </a:prstGeom>
          <a:solidFill>
            <a:schemeClr val="tx2"/>
          </a:solidFill>
          <a:ln w="9525">
            <a:solidFill>
              <a:schemeClr val="tx1"/>
            </a:solidFill>
            <a:prstDash val="solid"/>
          </a:ln>
        </p:spPr>
      </p:sp>
      <p:sp>
        <p:nvSpPr>
          <p:cNvPr id="41" name="Shape 39"/>
          <p:cNvSpPr/>
          <p:nvPr/>
        </p:nvSpPr>
        <p:spPr>
          <a:xfrm>
            <a:off x="7863840" y="3511296"/>
            <a:ext cx="512064" cy="512064"/>
          </a:xfrm>
          <a:prstGeom prst="rect">
            <a:avLst/>
          </a:prstGeom>
          <a:solidFill>
            <a:schemeClr val="tx2"/>
          </a:solidFill>
          <a:ln w="9525">
            <a:solidFill>
              <a:schemeClr val="tx1"/>
            </a:solidFill>
            <a:prstDash val="solid"/>
          </a:ln>
        </p:spPr>
      </p:sp>
      <p:sp>
        <p:nvSpPr>
          <p:cNvPr id="42" name="Shape 40"/>
          <p:cNvSpPr/>
          <p:nvPr/>
        </p:nvSpPr>
        <p:spPr>
          <a:xfrm>
            <a:off x="8375904" y="3511296"/>
            <a:ext cx="512064" cy="512064"/>
          </a:xfrm>
          <a:prstGeom prst="rect">
            <a:avLst/>
          </a:prstGeom>
          <a:solidFill>
            <a:schemeClr val="tx1"/>
          </a:solidFill>
          <a:ln w="12700">
            <a:solidFill>
              <a:schemeClr val="tx1"/>
            </a:solidFill>
            <a:prstDash val="solid"/>
          </a:ln>
        </p:spPr>
      </p:sp>
      <p:sp>
        <p:nvSpPr>
          <p:cNvPr id="43" name="Shape 41"/>
          <p:cNvSpPr/>
          <p:nvPr/>
        </p:nvSpPr>
        <p:spPr>
          <a:xfrm>
            <a:off x="8887968" y="3511296"/>
            <a:ext cx="512064" cy="512064"/>
          </a:xfrm>
          <a:prstGeom prst="rect">
            <a:avLst/>
          </a:prstGeom>
          <a:solidFill>
            <a:schemeClr val="tx1"/>
          </a:solidFill>
          <a:ln w="12700">
            <a:solidFill>
              <a:schemeClr val="tx1"/>
            </a:solidFill>
            <a:prstDash val="solid"/>
          </a:ln>
        </p:spPr>
      </p:sp>
      <p:sp>
        <p:nvSpPr>
          <p:cNvPr id="44" name="Shape 42"/>
          <p:cNvSpPr/>
          <p:nvPr/>
        </p:nvSpPr>
        <p:spPr>
          <a:xfrm>
            <a:off x="9400032" y="3511296"/>
            <a:ext cx="512064" cy="512064"/>
          </a:xfrm>
          <a:prstGeom prst="rect">
            <a:avLst/>
          </a:prstGeom>
          <a:solidFill>
            <a:schemeClr val="tx1"/>
          </a:solidFill>
          <a:ln w="12700">
            <a:solidFill>
              <a:schemeClr val="tx1"/>
            </a:solidFill>
            <a:prstDash val="solid"/>
          </a:ln>
        </p:spPr>
      </p:sp>
      <p:sp>
        <p:nvSpPr>
          <p:cNvPr id="45" name="Shape 43"/>
          <p:cNvSpPr/>
          <p:nvPr/>
        </p:nvSpPr>
        <p:spPr>
          <a:xfrm>
            <a:off x="9912096" y="3511296"/>
            <a:ext cx="512064" cy="512064"/>
          </a:xfrm>
          <a:prstGeom prst="rect">
            <a:avLst/>
          </a:prstGeom>
          <a:solidFill>
            <a:schemeClr val="tx1"/>
          </a:solidFill>
          <a:ln w="12700">
            <a:solidFill>
              <a:schemeClr val="tx1"/>
            </a:solidFill>
            <a:prstDash val="solid"/>
          </a:ln>
        </p:spPr>
      </p:sp>
      <p:sp>
        <p:nvSpPr>
          <p:cNvPr id="46" name="Shape 44"/>
          <p:cNvSpPr/>
          <p:nvPr/>
        </p:nvSpPr>
        <p:spPr>
          <a:xfrm>
            <a:off x="10424160" y="3511296"/>
            <a:ext cx="512064" cy="512064"/>
          </a:xfrm>
          <a:prstGeom prst="rect">
            <a:avLst/>
          </a:prstGeom>
          <a:solidFill>
            <a:schemeClr val="tx1"/>
          </a:solidFill>
          <a:ln w="12700">
            <a:solidFill>
              <a:schemeClr val="tx1"/>
            </a:solidFill>
            <a:prstDash val="solid"/>
          </a:ln>
        </p:spPr>
      </p:sp>
      <p:sp>
        <p:nvSpPr>
          <p:cNvPr id="47" name="Shape 45"/>
          <p:cNvSpPr/>
          <p:nvPr/>
        </p:nvSpPr>
        <p:spPr>
          <a:xfrm>
            <a:off x="10936224" y="3511296"/>
            <a:ext cx="512064" cy="512064"/>
          </a:xfrm>
          <a:prstGeom prst="rect">
            <a:avLst/>
          </a:prstGeom>
          <a:solidFill>
            <a:schemeClr val="tx1"/>
          </a:solidFill>
          <a:ln w="12700">
            <a:solidFill>
              <a:schemeClr val="tx1"/>
            </a:solidFill>
            <a:prstDash val="solid"/>
          </a:ln>
        </p:spPr>
      </p:sp>
      <p:sp>
        <p:nvSpPr>
          <p:cNvPr id="48" name="Shape 46"/>
          <p:cNvSpPr/>
          <p:nvPr/>
        </p:nvSpPr>
        <p:spPr>
          <a:xfrm>
            <a:off x="11448288" y="3511296"/>
            <a:ext cx="512064" cy="512064"/>
          </a:xfrm>
          <a:prstGeom prst="rect">
            <a:avLst/>
          </a:prstGeom>
          <a:solidFill>
            <a:schemeClr val="tx2"/>
          </a:solidFill>
          <a:ln w="9525">
            <a:solidFill>
              <a:schemeClr val="tx1"/>
            </a:solidFill>
            <a:prstDash val="solid"/>
          </a:ln>
        </p:spPr>
      </p:sp>
      <p:sp>
        <p:nvSpPr>
          <p:cNvPr id="49" name="Shape 47"/>
          <p:cNvSpPr/>
          <p:nvPr/>
        </p:nvSpPr>
        <p:spPr>
          <a:xfrm>
            <a:off x="7863840" y="4023360"/>
            <a:ext cx="512064" cy="512064"/>
          </a:xfrm>
          <a:prstGeom prst="rect">
            <a:avLst/>
          </a:prstGeom>
          <a:solidFill>
            <a:schemeClr val="tx2"/>
          </a:solidFill>
          <a:ln w="9525">
            <a:solidFill>
              <a:schemeClr val="tx1"/>
            </a:solidFill>
            <a:prstDash val="solid"/>
          </a:ln>
        </p:spPr>
      </p:sp>
      <p:sp>
        <p:nvSpPr>
          <p:cNvPr id="50" name="Shape 48"/>
          <p:cNvSpPr/>
          <p:nvPr/>
        </p:nvSpPr>
        <p:spPr>
          <a:xfrm>
            <a:off x="8375904" y="4023360"/>
            <a:ext cx="512064" cy="512064"/>
          </a:xfrm>
          <a:prstGeom prst="rect">
            <a:avLst/>
          </a:prstGeom>
          <a:solidFill>
            <a:schemeClr val="tx1"/>
          </a:solidFill>
          <a:ln w="12700">
            <a:solidFill>
              <a:schemeClr val="tx1"/>
            </a:solidFill>
            <a:prstDash val="solid"/>
          </a:ln>
        </p:spPr>
      </p:sp>
      <p:sp>
        <p:nvSpPr>
          <p:cNvPr id="51" name="Shape 49"/>
          <p:cNvSpPr/>
          <p:nvPr/>
        </p:nvSpPr>
        <p:spPr>
          <a:xfrm>
            <a:off x="8887968" y="4023360"/>
            <a:ext cx="512064" cy="512064"/>
          </a:xfrm>
          <a:prstGeom prst="rect">
            <a:avLst/>
          </a:prstGeom>
          <a:solidFill>
            <a:schemeClr val="tx1"/>
          </a:solidFill>
          <a:ln w="12700">
            <a:solidFill>
              <a:schemeClr val="tx1"/>
            </a:solidFill>
            <a:prstDash val="solid"/>
          </a:ln>
        </p:spPr>
      </p:sp>
      <p:sp>
        <p:nvSpPr>
          <p:cNvPr id="52" name="Shape 50"/>
          <p:cNvSpPr/>
          <p:nvPr/>
        </p:nvSpPr>
        <p:spPr>
          <a:xfrm>
            <a:off x="9400032" y="4023360"/>
            <a:ext cx="512064" cy="512064"/>
          </a:xfrm>
          <a:prstGeom prst="rect">
            <a:avLst/>
          </a:prstGeom>
          <a:solidFill>
            <a:schemeClr val="tx1"/>
          </a:solidFill>
          <a:ln w="12700">
            <a:solidFill>
              <a:schemeClr val="tx1"/>
            </a:solidFill>
            <a:prstDash val="solid"/>
          </a:ln>
        </p:spPr>
      </p:sp>
      <p:sp>
        <p:nvSpPr>
          <p:cNvPr id="53" name="Shape 51"/>
          <p:cNvSpPr/>
          <p:nvPr/>
        </p:nvSpPr>
        <p:spPr>
          <a:xfrm>
            <a:off x="9912096" y="4023360"/>
            <a:ext cx="512064" cy="512064"/>
          </a:xfrm>
          <a:prstGeom prst="rect">
            <a:avLst/>
          </a:prstGeom>
          <a:solidFill>
            <a:schemeClr val="tx1"/>
          </a:solidFill>
          <a:ln w="12700">
            <a:solidFill>
              <a:schemeClr val="tx1"/>
            </a:solidFill>
            <a:prstDash val="solid"/>
          </a:ln>
        </p:spPr>
      </p:sp>
      <p:sp>
        <p:nvSpPr>
          <p:cNvPr id="54" name="Shape 52"/>
          <p:cNvSpPr/>
          <p:nvPr/>
        </p:nvSpPr>
        <p:spPr>
          <a:xfrm>
            <a:off x="10424160" y="4023360"/>
            <a:ext cx="512064" cy="512064"/>
          </a:xfrm>
          <a:prstGeom prst="rect">
            <a:avLst/>
          </a:prstGeom>
          <a:solidFill>
            <a:schemeClr val="tx1"/>
          </a:solidFill>
          <a:ln w="12700">
            <a:solidFill>
              <a:schemeClr val="tx1"/>
            </a:solidFill>
            <a:prstDash val="solid"/>
          </a:ln>
        </p:spPr>
      </p:sp>
      <p:sp>
        <p:nvSpPr>
          <p:cNvPr id="55" name="Shape 53"/>
          <p:cNvSpPr/>
          <p:nvPr/>
        </p:nvSpPr>
        <p:spPr>
          <a:xfrm>
            <a:off x="10936224" y="4023360"/>
            <a:ext cx="512064" cy="512064"/>
          </a:xfrm>
          <a:prstGeom prst="rect">
            <a:avLst/>
          </a:prstGeom>
          <a:solidFill>
            <a:schemeClr val="tx1"/>
          </a:solidFill>
          <a:ln w="12700">
            <a:solidFill>
              <a:schemeClr val="tx1"/>
            </a:solidFill>
            <a:prstDash val="solid"/>
          </a:ln>
        </p:spPr>
      </p:sp>
      <p:sp>
        <p:nvSpPr>
          <p:cNvPr id="56" name="Shape 54"/>
          <p:cNvSpPr/>
          <p:nvPr/>
        </p:nvSpPr>
        <p:spPr>
          <a:xfrm>
            <a:off x="11448288" y="4023360"/>
            <a:ext cx="512064" cy="512064"/>
          </a:xfrm>
          <a:prstGeom prst="rect">
            <a:avLst/>
          </a:prstGeom>
          <a:solidFill>
            <a:schemeClr val="tx2"/>
          </a:solidFill>
          <a:ln w="9525">
            <a:solidFill>
              <a:schemeClr val="tx1"/>
            </a:solidFill>
            <a:prstDash val="solid"/>
          </a:ln>
        </p:spPr>
      </p:sp>
      <p:sp>
        <p:nvSpPr>
          <p:cNvPr id="57" name="Shape 55"/>
          <p:cNvSpPr/>
          <p:nvPr/>
        </p:nvSpPr>
        <p:spPr>
          <a:xfrm>
            <a:off x="7863840" y="4535424"/>
            <a:ext cx="512064" cy="512064"/>
          </a:xfrm>
          <a:prstGeom prst="rect">
            <a:avLst/>
          </a:prstGeom>
          <a:solidFill>
            <a:schemeClr val="tx2"/>
          </a:solidFill>
          <a:ln w="9525">
            <a:solidFill>
              <a:schemeClr val="tx1"/>
            </a:solidFill>
            <a:prstDash val="solid"/>
          </a:ln>
        </p:spPr>
      </p:sp>
      <p:sp>
        <p:nvSpPr>
          <p:cNvPr id="58" name="Shape 56"/>
          <p:cNvSpPr/>
          <p:nvPr/>
        </p:nvSpPr>
        <p:spPr>
          <a:xfrm>
            <a:off x="8375904" y="4535424"/>
            <a:ext cx="512064" cy="512064"/>
          </a:xfrm>
          <a:prstGeom prst="rect">
            <a:avLst/>
          </a:prstGeom>
          <a:solidFill>
            <a:schemeClr val="tx2"/>
          </a:solidFill>
          <a:ln w="9525">
            <a:solidFill>
              <a:schemeClr val="tx1"/>
            </a:solidFill>
            <a:prstDash val="solid"/>
          </a:ln>
        </p:spPr>
      </p:sp>
      <p:sp>
        <p:nvSpPr>
          <p:cNvPr id="59" name="Shape 57"/>
          <p:cNvSpPr/>
          <p:nvPr/>
        </p:nvSpPr>
        <p:spPr>
          <a:xfrm>
            <a:off x="8887968" y="4535424"/>
            <a:ext cx="512064" cy="512064"/>
          </a:xfrm>
          <a:prstGeom prst="rect">
            <a:avLst/>
          </a:prstGeom>
          <a:solidFill>
            <a:schemeClr val="tx2"/>
          </a:solidFill>
          <a:ln w="9525">
            <a:solidFill>
              <a:schemeClr val="tx1"/>
            </a:solidFill>
            <a:prstDash val="solid"/>
          </a:ln>
        </p:spPr>
      </p:sp>
      <p:sp>
        <p:nvSpPr>
          <p:cNvPr id="60" name="Shape 58"/>
          <p:cNvSpPr/>
          <p:nvPr/>
        </p:nvSpPr>
        <p:spPr>
          <a:xfrm>
            <a:off x="9400032" y="4535424"/>
            <a:ext cx="512064" cy="512064"/>
          </a:xfrm>
          <a:prstGeom prst="rect">
            <a:avLst/>
          </a:prstGeom>
          <a:solidFill>
            <a:schemeClr val="tx2"/>
          </a:solidFill>
          <a:ln w="9525">
            <a:solidFill>
              <a:schemeClr val="tx1"/>
            </a:solidFill>
            <a:prstDash val="solid"/>
          </a:ln>
        </p:spPr>
      </p:sp>
      <p:sp>
        <p:nvSpPr>
          <p:cNvPr id="61" name="Shape 59"/>
          <p:cNvSpPr/>
          <p:nvPr/>
        </p:nvSpPr>
        <p:spPr>
          <a:xfrm>
            <a:off x="9912096" y="4535424"/>
            <a:ext cx="512064" cy="512064"/>
          </a:xfrm>
          <a:prstGeom prst="rect">
            <a:avLst/>
          </a:prstGeom>
          <a:solidFill>
            <a:schemeClr val="tx2"/>
          </a:solidFill>
          <a:ln w="9525">
            <a:solidFill>
              <a:schemeClr val="tx1"/>
            </a:solidFill>
            <a:prstDash val="solid"/>
          </a:ln>
        </p:spPr>
      </p:sp>
      <p:sp>
        <p:nvSpPr>
          <p:cNvPr id="62" name="Shape 60"/>
          <p:cNvSpPr/>
          <p:nvPr/>
        </p:nvSpPr>
        <p:spPr>
          <a:xfrm>
            <a:off x="10424160" y="4535424"/>
            <a:ext cx="512064" cy="512064"/>
          </a:xfrm>
          <a:prstGeom prst="rect">
            <a:avLst/>
          </a:prstGeom>
          <a:solidFill>
            <a:schemeClr val="tx2"/>
          </a:solidFill>
          <a:ln w="9525">
            <a:solidFill>
              <a:schemeClr val="tx1"/>
            </a:solidFill>
            <a:prstDash val="solid"/>
          </a:ln>
        </p:spPr>
      </p:sp>
      <p:sp>
        <p:nvSpPr>
          <p:cNvPr id="63" name="Shape 61"/>
          <p:cNvSpPr/>
          <p:nvPr/>
        </p:nvSpPr>
        <p:spPr>
          <a:xfrm>
            <a:off x="10936224" y="4535424"/>
            <a:ext cx="512064" cy="512064"/>
          </a:xfrm>
          <a:prstGeom prst="rect">
            <a:avLst/>
          </a:prstGeom>
          <a:solidFill>
            <a:schemeClr val="tx2"/>
          </a:solidFill>
          <a:ln w="9525">
            <a:solidFill>
              <a:schemeClr val="tx1"/>
            </a:solidFill>
            <a:prstDash val="solid"/>
          </a:ln>
        </p:spPr>
      </p:sp>
      <p:sp>
        <p:nvSpPr>
          <p:cNvPr id="64" name="Shape 62"/>
          <p:cNvSpPr/>
          <p:nvPr/>
        </p:nvSpPr>
        <p:spPr>
          <a:xfrm>
            <a:off x="11448288" y="4535424"/>
            <a:ext cx="512064" cy="512064"/>
          </a:xfrm>
          <a:prstGeom prst="rect">
            <a:avLst/>
          </a:prstGeom>
          <a:solidFill>
            <a:schemeClr val="tx2"/>
          </a:solidFill>
          <a:ln w="9525">
            <a:solidFill>
              <a:schemeClr val="tx1"/>
            </a:solidFill>
            <a:prstDash val="solid"/>
          </a:ln>
        </p:spPr>
      </p:sp>
      <p:sp>
        <p:nvSpPr>
          <p:cNvPr id="65" name="Text 63"/>
          <p:cNvSpPr txBox="1"/>
          <p:nvPr/>
        </p:nvSpPr>
        <p:spPr>
          <a:xfrm>
            <a:off x="7863840" y="5257800"/>
            <a:ext cx="4096512" cy="457200"/>
          </a:xfrm>
          <a:prstGeom prst="rect">
            <a:avLst/>
          </a:prstGeom>
          <a:noFill/>
          <a:ln/>
        </p:spPr>
        <p:txBody>
          <a:bodyPr wrap="square" lIns="0" tIns="0" rIns="0" bIns="0" rtlCol="0" anchor="t"/>
          <a:lstStyle/>
          <a:p>
            <a:pPr algn="ctr" indent="0" marL="0">
              <a:buNone/>
            </a:pPr>
            <a:r>
              <a:rPr lang="en-US" sz="2400" b="1" dirty="0">
                <a:solidFill>
                  <a:schemeClr val="accent4"/>
                </a:solidFill>
              </a:rPr>
              <a:t>Victoire !</a:t>
            </a:r>
            <a:endParaRPr lang="en-US" sz="2400" dirty="0"/>
          </a:p>
        </p:txBody>
      </p:sp>
    </p:spTree>
  </p:cSld>
  <p:clrMapOvr>
    <a:masterClrMapping/>
  </p:clrMapOvr>
</p:sld>
</file>

<file path=ppt/theme/theme1.xml><?xml version="1.0" encoding="utf-8"?>
<a:theme xmlns:a="http://schemas.openxmlformats.org/drawingml/2006/main" name="NACRE">
  <a:themeElements>
    <a:clrScheme name="NACRE">
      <a:dk1>
        <a:srgbClr val="2C0B44"/>
      </a:dk1>
      <a:lt1>
        <a:srgbClr val="FFFFFF"/>
      </a:lt1>
      <a:dk2>
        <a:srgbClr val="520F96"/>
      </a:dk2>
      <a:lt2>
        <a:srgbClr val="F4EEFB"/>
      </a:lt2>
      <a:accent1>
        <a:srgbClr val="6715B8"/>
      </a:accent1>
      <a:accent2>
        <a:srgbClr val="A45BE1"/>
      </a:accent2>
      <a:accent3>
        <a:srgbClr val="36A9E1"/>
      </a:accent3>
      <a:accent4>
        <a:srgbClr val="BC52F2"/>
      </a:accent4>
      <a:accent5>
        <a:srgbClr val="63507C"/>
      </a:accent5>
      <a:accent6>
        <a:srgbClr val="D9C9EC"/>
      </a:accent6>
      <a:hlink>
        <a:srgbClr val="6715B8"/>
      </a:hlink>
      <a:folHlink>
        <a:srgbClr val="520F96"/>
      </a:folHlink>
    </a:clrScheme>
    <a:fontScheme name="NACR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Sokoban - jeu et resolution algorithmique</dc:title>
  <dc:subject>Projet Java ESIEA PASS 2026-2027</dc:subject>
  <dc:creator>kudasai</dc:creator>
  <cp:lastModifiedBy>kudasai</cp:lastModifiedBy>
  <cp:revision>1</cp:revision>
  <dcterms:created xsi:type="dcterms:W3CDTF">2026-10-30T10:57:05Z</dcterms:created>
  <dcterms:modified xsi:type="dcterms:W3CDTF">2026-10-30T10:57:05Z</dcterms:modified>
</cp:coreProperties>
</file>